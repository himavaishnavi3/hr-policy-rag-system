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Open Sauce" charset="1" panose="00000500000000000000"/>
      <p:regular r:id="rId22"/>
    </p:embeddedFont>
    <p:embeddedFont>
      <p:font typeface="Open Sauce Bold" charset="1" panose="00000800000000000000"/>
      <p:regular r:id="rId23"/>
    </p:embeddedFont>
    <p:embeddedFont>
      <p:font typeface="Open Sauce Semi-Bold" charset="1" panose="00000700000000000000"/>
      <p:regular r:id="rId24"/>
    </p:embeddedFont>
    <p:embeddedFont>
      <p:font typeface="Open Sauce Medium" charset="1" panose="000006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769744" y="3630829"/>
            <a:ext cx="9389500" cy="3880489"/>
          </a:xfrm>
          <a:prstGeom prst="rect">
            <a:avLst/>
          </a:prstGeom>
        </p:spPr>
        <p:txBody>
          <a:bodyPr anchor="t" rtlCol="false" tIns="0" lIns="0" bIns="0" rIns="0">
            <a:spAutoFit/>
          </a:bodyPr>
          <a:lstStyle/>
          <a:p>
            <a:pPr algn="l">
              <a:lnSpc>
                <a:spcPts val="15120"/>
              </a:lnSpc>
            </a:pPr>
            <a:r>
              <a:rPr lang="en-US" sz="14000" spc="-826">
                <a:solidFill>
                  <a:srgbClr val="185079"/>
                </a:solidFill>
                <a:latin typeface="Open Sauce"/>
                <a:ea typeface="Open Sauce"/>
                <a:cs typeface="Open Sauce"/>
                <a:sym typeface="Open Sauce"/>
              </a:rPr>
              <a:t>HR RAG AS</a:t>
            </a:r>
            <a:r>
              <a:rPr lang="en-US" sz="14000" spc="-826">
                <a:solidFill>
                  <a:srgbClr val="185079"/>
                </a:solidFill>
                <a:latin typeface="Open Sauce"/>
                <a:ea typeface="Open Sauce"/>
                <a:cs typeface="Open Sauce"/>
                <a:sym typeface="Open Sauce"/>
              </a:rPr>
              <a:t>SISTANT</a:t>
            </a:r>
          </a:p>
        </p:txBody>
      </p:sp>
      <p:sp>
        <p:nvSpPr>
          <p:cNvPr name="Freeform 4" id="4"/>
          <p:cNvSpPr/>
          <p:nvPr/>
        </p:nvSpPr>
        <p:spPr>
          <a:xfrm flipH="false" flipV="false" rot="0">
            <a:off x="10348985" y="2215913"/>
            <a:ext cx="7939015" cy="8071087"/>
          </a:xfrm>
          <a:custGeom>
            <a:avLst/>
            <a:gdLst/>
            <a:ahLst/>
            <a:cxnLst/>
            <a:rect r="r" b="b" t="t" l="l"/>
            <a:pathLst>
              <a:path h="8071087" w="7939015">
                <a:moveTo>
                  <a:pt x="0" y="0"/>
                </a:moveTo>
                <a:lnTo>
                  <a:pt x="7939015" y="0"/>
                </a:lnTo>
                <a:lnTo>
                  <a:pt x="7939015" y="8071087"/>
                </a:lnTo>
                <a:lnTo>
                  <a:pt x="0" y="80710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952500" y="7669100"/>
            <a:ext cx="10155052" cy="493015"/>
          </a:xfrm>
          <a:prstGeom prst="rect">
            <a:avLst/>
          </a:prstGeom>
        </p:spPr>
        <p:txBody>
          <a:bodyPr anchor="t" rtlCol="false" tIns="0" lIns="0" bIns="0" rIns="0">
            <a:spAutoFit/>
          </a:bodyPr>
          <a:lstStyle/>
          <a:p>
            <a:pPr algn="l">
              <a:lnSpc>
                <a:spcPts val="3888"/>
              </a:lnSpc>
            </a:pPr>
            <a:r>
              <a:rPr lang="en-US" b="true" sz="3600" spc="-129">
                <a:solidFill>
                  <a:srgbClr val="185079"/>
                </a:solidFill>
                <a:latin typeface="Open Sauce Bold"/>
                <a:ea typeface="Open Sauce Bold"/>
                <a:cs typeface="Open Sauce Bold"/>
                <a:sym typeface="Open Sauce Bold"/>
              </a:rPr>
              <a:t>AI-PO</a:t>
            </a:r>
            <a:r>
              <a:rPr lang="en-US" b="true" sz="3600" spc="-129">
                <a:solidFill>
                  <a:srgbClr val="185079"/>
                </a:solidFill>
                <a:latin typeface="Open Sauce Bold"/>
                <a:ea typeface="Open Sauce Bold"/>
                <a:cs typeface="Open Sauce Bold"/>
                <a:sym typeface="Open Sauce Bold"/>
              </a:rPr>
              <a:t>WERED HR POLICY CHATBOT</a:t>
            </a:r>
          </a:p>
        </p:txBody>
      </p:sp>
      <p:sp>
        <p:nvSpPr>
          <p:cNvPr name="TextBox 6" id="6"/>
          <p:cNvSpPr txBox="true"/>
          <p:nvPr/>
        </p:nvSpPr>
        <p:spPr>
          <a:xfrm rot="0">
            <a:off x="1028700" y="9286875"/>
            <a:ext cx="10155052" cy="469393"/>
          </a:xfrm>
          <a:prstGeom prst="rect">
            <a:avLst/>
          </a:prstGeom>
        </p:spPr>
        <p:txBody>
          <a:bodyPr anchor="t" rtlCol="false" tIns="0" lIns="0" bIns="0" rIns="0">
            <a:spAutoFit/>
          </a:bodyPr>
          <a:lstStyle/>
          <a:p>
            <a:pPr algn="l">
              <a:lnSpc>
                <a:spcPts val="3564"/>
              </a:lnSpc>
            </a:pPr>
            <a:r>
              <a:rPr lang="en-US" b="true" sz="3300" spc="-118">
                <a:solidFill>
                  <a:srgbClr val="185079"/>
                </a:solidFill>
                <a:latin typeface="Open Sauce Bold"/>
                <a:ea typeface="Open Sauce Bold"/>
                <a:cs typeface="Open Sauce Bold"/>
                <a:sym typeface="Open Sauce Bold"/>
              </a:rPr>
              <a:t>HIMA VAISHNAVI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Freeform 3" id="3"/>
          <p:cNvSpPr/>
          <p:nvPr/>
        </p:nvSpPr>
        <p:spPr>
          <a:xfrm flipH="false" flipV="false" rot="0">
            <a:off x="-8153289" y="493643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4" id="4"/>
          <p:cNvSpPr/>
          <p:nvPr/>
        </p:nvSpPr>
        <p:spPr>
          <a:xfrm flipH="false" flipV="false" rot="0">
            <a:off x="11275201" y="-772630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
        <p:nvSpPr>
          <p:cNvPr name="Freeform 5" id="5"/>
          <p:cNvSpPr/>
          <p:nvPr/>
        </p:nvSpPr>
        <p:spPr>
          <a:xfrm flipH="false" flipV="false" rot="0">
            <a:off x="13182590" y="3299407"/>
            <a:ext cx="4076710" cy="5946685"/>
          </a:xfrm>
          <a:custGeom>
            <a:avLst/>
            <a:gdLst/>
            <a:ahLst/>
            <a:cxnLst/>
            <a:rect r="r" b="b" t="t" l="l"/>
            <a:pathLst>
              <a:path h="5946685" w="4076710">
                <a:moveTo>
                  <a:pt x="0" y="0"/>
                </a:moveTo>
                <a:lnTo>
                  <a:pt x="4076710" y="0"/>
                </a:lnTo>
                <a:lnTo>
                  <a:pt x="4076710" y="5946685"/>
                </a:lnTo>
                <a:lnTo>
                  <a:pt x="0" y="59466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238250" y="1939822"/>
            <a:ext cx="8099685" cy="1110996"/>
          </a:xfrm>
          <a:prstGeom prst="rect">
            <a:avLst/>
          </a:prstGeom>
        </p:spPr>
        <p:txBody>
          <a:bodyPr anchor="t" rtlCol="false" tIns="0" lIns="0" bIns="0" rIns="0">
            <a:spAutoFit/>
          </a:bodyPr>
          <a:lstStyle/>
          <a:p>
            <a:pPr algn="ctr" marL="0" indent="0" lvl="0">
              <a:lnSpc>
                <a:spcPts val="8531"/>
              </a:lnSpc>
              <a:spcBef>
                <a:spcPct val="0"/>
              </a:spcBef>
            </a:pPr>
            <a:r>
              <a:rPr lang="en-US" b="true" sz="7899" spc="-466">
                <a:solidFill>
                  <a:srgbClr val="185079"/>
                </a:solidFill>
                <a:latin typeface="Open Sauce Semi-Bold"/>
                <a:ea typeface="Open Sauce Semi-Bold"/>
                <a:cs typeface="Open Sauce Semi-Bold"/>
                <a:sym typeface="Open Sauce Semi-Bold"/>
              </a:rPr>
              <a:t>IN</a:t>
            </a:r>
            <a:r>
              <a:rPr lang="en-US" b="true" sz="7899" spc="-466" strike="noStrike" u="none">
                <a:solidFill>
                  <a:srgbClr val="185079"/>
                </a:solidFill>
                <a:latin typeface="Open Sauce Semi-Bold"/>
                <a:ea typeface="Open Sauce Semi-Bold"/>
                <a:cs typeface="Open Sauce Semi-Bold"/>
                <a:sym typeface="Open Sauce Semi-Bold"/>
              </a:rPr>
              <a:t>T</a:t>
            </a:r>
            <a:r>
              <a:rPr lang="en-US" b="true" sz="7899" spc="-466" strike="noStrike" u="none">
                <a:solidFill>
                  <a:srgbClr val="185079"/>
                </a:solidFill>
                <a:latin typeface="Open Sauce Semi-Bold"/>
                <a:ea typeface="Open Sauce Semi-Bold"/>
                <a:cs typeface="Open Sauce Semi-Bold"/>
                <a:sym typeface="Open Sauce Semi-Bold"/>
              </a:rPr>
              <a:t>R</a:t>
            </a:r>
            <a:r>
              <a:rPr lang="en-US" b="true" sz="7899" spc="-466" strike="noStrike" u="none">
                <a:solidFill>
                  <a:srgbClr val="185079"/>
                </a:solidFill>
                <a:latin typeface="Open Sauce Semi-Bold"/>
                <a:ea typeface="Open Sauce Semi-Bold"/>
                <a:cs typeface="Open Sauce Semi-Bold"/>
                <a:sym typeface="Open Sauce Semi-Bold"/>
              </a:rPr>
              <a:t>ODUCT</a:t>
            </a:r>
            <a:r>
              <a:rPr lang="en-US" b="true" sz="7899" spc="-466" strike="noStrike" u="none">
                <a:solidFill>
                  <a:srgbClr val="185079"/>
                </a:solidFill>
                <a:latin typeface="Open Sauce Semi-Bold"/>
                <a:ea typeface="Open Sauce Semi-Bold"/>
                <a:cs typeface="Open Sauce Semi-Bold"/>
                <a:sym typeface="Open Sauce Semi-Bold"/>
              </a:rPr>
              <a:t>IO</a:t>
            </a:r>
            <a:r>
              <a:rPr lang="en-US" b="true" sz="7899" spc="-466" strike="noStrike" u="none">
                <a:solidFill>
                  <a:srgbClr val="185079"/>
                </a:solidFill>
                <a:latin typeface="Open Sauce Semi-Bold"/>
                <a:ea typeface="Open Sauce Semi-Bold"/>
                <a:cs typeface="Open Sauce Semi-Bold"/>
                <a:sym typeface="Open Sauce Semi-Bold"/>
              </a:rPr>
              <a:t>N</a:t>
            </a:r>
          </a:p>
        </p:txBody>
      </p:sp>
      <p:sp>
        <p:nvSpPr>
          <p:cNvPr name="TextBox 7" id="7"/>
          <p:cNvSpPr txBox="true"/>
          <p:nvPr/>
        </p:nvSpPr>
        <p:spPr>
          <a:xfrm rot="0">
            <a:off x="1028700" y="3261307"/>
            <a:ext cx="8771936" cy="5175250"/>
          </a:xfrm>
          <a:prstGeom prst="rect">
            <a:avLst/>
          </a:prstGeom>
        </p:spPr>
        <p:txBody>
          <a:bodyPr anchor="t" rtlCol="false" tIns="0" lIns="0" bIns="0" rIns="0">
            <a:spAutoFit/>
          </a:bodyPr>
          <a:lstStyle/>
          <a:p>
            <a:pPr algn="just" marL="431799" indent="-215899" lvl="1">
              <a:lnSpc>
                <a:spcPts val="3199"/>
              </a:lnSpc>
              <a:buFont typeface="Arial"/>
              <a:buChar char="•"/>
            </a:pPr>
            <a:r>
              <a:rPr lang="en-US" b="true" sz="1999">
                <a:solidFill>
                  <a:srgbClr val="185079"/>
                </a:solidFill>
                <a:latin typeface="Open Sauce Bold"/>
                <a:ea typeface="Open Sauce Bold"/>
                <a:cs typeface="Open Sauce Bold"/>
                <a:sym typeface="Open Sauce Bold"/>
              </a:rPr>
              <a:t>In modern </a:t>
            </a:r>
            <a:r>
              <a:rPr lang="en-US" b="true" sz="1999" u="none">
                <a:solidFill>
                  <a:srgbClr val="185079"/>
                </a:solidFill>
                <a:latin typeface="Open Sauce Bold"/>
                <a:ea typeface="Open Sauce Bold"/>
                <a:cs typeface="Open Sauce Bold"/>
                <a:sym typeface="Open Sauce Bold"/>
              </a:rPr>
              <a:t>organizations, employees frequently require quick access to HR-related information such as leave policies, payroll details, work-from-home rules, reimbursement procedures, and grievance policies.</a:t>
            </a:r>
          </a:p>
          <a:p>
            <a:pPr algn="just">
              <a:lnSpc>
                <a:spcPts val="3199"/>
              </a:lnSpc>
            </a:pPr>
          </a:p>
          <a:p>
            <a:pPr algn="just" marL="431799" indent="-215899" lvl="1">
              <a:lnSpc>
                <a:spcPts val="3199"/>
              </a:lnSpc>
              <a:buFont typeface="Arial"/>
              <a:buChar char="•"/>
            </a:pPr>
            <a:r>
              <a:rPr lang="en-US" b="true" sz="1999" u="none">
                <a:solidFill>
                  <a:srgbClr val="185079"/>
                </a:solidFill>
                <a:latin typeface="Open Sauce Bold"/>
                <a:ea typeface="Open Sauce Bold"/>
                <a:cs typeface="Open Sauce Bold"/>
                <a:sym typeface="Open Sauce Bold"/>
              </a:rPr>
              <a:t>However, traditional HR systems often rely on lengthy documents or manual HR support, making the process slow and inefficient.</a:t>
            </a:r>
          </a:p>
          <a:p>
            <a:pPr algn="just">
              <a:lnSpc>
                <a:spcPts val="3199"/>
              </a:lnSpc>
            </a:pPr>
          </a:p>
          <a:p>
            <a:pPr algn="just" marL="431799" indent="-215899" lvl="1">
              <a:lnSpc>
                <a:spcPts val="3199"/>
              </a:lnSpc>
              <a:buFont typeface="Arial"/>
              <a:buChar char="•"/>
            </a:pPr>
            <a:r>
              <a:rPr lang="en-US" b="true" sz="1999" u="none">
                <a:solidFill>
                  <a:srgbClr val="185079"/>
                </a:solidFill>
                <a:latin typeface="Open Sauce Bold"/>
                <a:ea typeface="Open Sauce Bold"/>
                <a:cs typeface="Open Sauce Bold"/>
                <a:sym typeface="Open Sauce Bold"/>
              </a:rPr>
              <a:t>To address this challenge, the HR RAG Assistant was developed as an AI-powered chatbot capable of understanding employee queries, retrieving relevant HR policies, and generating intelligent, context-aware responses instantly.</a:t>
            </a:r>
          </a:p>
          <a:p>
            <a:pPr algn="l" marL="0" indent="0" lvl="0">
              <a:lnSpc>
                <a:spcPts val="319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409700" y="2409511"/>
            <a:ext cx="7395245" cy="2193497"/>
          </a:xfrm>
          <a:prstGeom prst="rect">
            <a:avLst/>
          </a:prstGeom>
        </p:spPr>
        <p:txBody>
          <a:bodyPr anchor="t" rtlCol="false" tIns="0" lIns="0" bIns="0" rIns="0">
            <a:spAutoFit/>
          </a:bodyPr>
          <a:lstStyle/>
          <a:p>
            <a:pPr algn="l"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P</a:t>
            </a:r>
            <a:r>
              <a:rPr lang="en-US" b="true" sz="7917" spc="-467" strike="noStrike" u="none">
                <a:solidFill>
                  <a:srgbClr val="185079"/>
                </a:solidFill>
                <a:latin typeface="Open Sauce Semi-Bold"/>
                <a:ea typeface="Open Sauce Semi-Bold"/>
                <a:cs typeface="Open Sauce Semi-Bold"/>
                <a:sym typeface="Open Sauce Semi-Bold"/>
              </a:rPr>
              <a:t>ROBLE</a:t>
            </a:r>
            <a:r>
              <a:rPr lang="en-US" b="true" sz="7917" spc="-467" strike="noStrike" u="none">
                <a:solidFill>
                  <a:srgbClr val="185079"/>
                </a:solidFill>
                <a:latin typeface="Open Sauce Semi-Bold"/>
                <a:ea typeface="Open Sauce Semi-Bold"/>
                <a:cs typeface="Open Sauce Semi-Bold"/>
                <a:sym typeface="Open Sauce Semi-Bold"/>
              </a:rPr>
              <a:t>M</a:t>
            </a:r>
            <a:r>
              <a:rPr lang="en-US" b="true" sz="7917" spc="-467" strike="noStrike" u="none">
                <a:solidFill>
                  <a:srgbClr val="185079"/>
                </a:solidFill>
                <a:latin typeface="Open Sauce Semi-Bold"/>
                <a:ea typeface="Open Sauce Semi-Bold"/>
                <a:cs typeface="Open Sauce Semi-Bold"/>
                <a:sym typeface="Open Sauce Semi-Bold"/>
              </a:rPr>
              <a:t> </a:t>
            </a:r>
            <a:r>
              <a:rPr lang="en-US" b="true" sz="7917" spc="-467" strike="noStrike" u="none">
                <a:solidFill>
                  <a:srgbClr val="185079"/>
                </a:solidFill>
                <a:latin typeface="Open Sauce Semi-Bold"/>
                <a:ea typeface="Open Sauce Semi-Bold"/>
                <a:cs typeface="Open Sauce Semi-Bold"/>
                <a:sym typeface="Open Sauce Semi-Bold"/>
              </a:rPr>
              <a:t>STA</a:t>
            </a:r>
            <a:r>
              <a:rPr lang="en-US" b="true" sz="7917" spc="-467" strike="noStrike" u="none">
                <a:solidFill>
                  <a:srgbClr val="185079"/>
                </a:solidFill>
                <a:latin typeface="Open Sauce Semi-Bold"/>
                <a:ea typeface="Open Sauce Semi-Bold"/>
                <a:cs typeface="Open Sauce Semi-Bold"/>
                <a:sym typeface="Open Sauce Semi-Bold"/>
              </a:rPr>
              <a:t>T</a:t>
            </a:r>
            <a:r>
              <a:rPr lang="en-US" b="true" sz="7917" spc="-467" strike="noStrike" u="none">
                <a:solidFill>
                  <a:srgbClr val="185079"/>
                </a:solidFill>
                <a:latin typeface="Open Sauce Semi-Bold"/>
                <a:ea typeface="Open Sauce Semi-Bold"/>
                <a:cs typeface="Open Sauce Semi-Bold"/>
                <a:sym typeface="Open Sauce Semi-Bold"/>
              </a:rPr>
              <a:t>EME</a:t>
            </a:r>
            <a:r>
              <a:rPr lang="en-US" b="true" sz="7917" spc="-467" strike="noStrike" u="none">
                <a:solidFill>
                  <a:srgbClr val="185079"/>
                </a:solidFill>
                <a:latin typeface="Open Sauce Semi-Bold"/>
                <a:ea typeface="Open Sauce Semi-Bold"/>
                <a:cs typeface="Open Sauce Semi-Bold"/>
                <a:sym typeface="Open Sauce Semi-Bold"/>
              </a:rPr>
              <a:t>NT</a:t>
            </a:r>
          </a:p>
        </p:txBody>
      </p:sp>
      <p:sp>
        <p:nvSpPr>
          <p:cNvPr name="TextBox 4" id="4"/>
          <p:cNvSpPr txBox="true"/>
          <p:nvPr/>
        </p:nvSpPr>
        <p:spPr>
          <a:xfrm rot="0">
            <a:off x="1409700" y="5179986"/>
            <a:ext cx="7395245" cy="1963604"/>
          </a:xfrm>
          <a:prstGeom prst="rect">
            <a:avLst/>
          </a:prstGeom>
        </p:spPr>
        <p:txBody>
          <a:bodyPr anchor="t" rtlCol="false" tIns="0" lIns="0" bIns="0" rIns="0">
            <a:spAutoFit/>
          </a:bodyPr>
          <a:lstStyle/>
          <a:p>
            <a:pPr algn="l" marL="0" indent="0" lvl="0">
              <a:lnSpc>
                <a:spcPts val="2636"/>
              </a:lnSpc>
              <a:spcBef>
                <a:spcPct val="0"/>
              </a:spcBef>
            </a:pPr>
            <a:r>
              <a:rPr lang="en-US" b="true" sz="1883">
                <a:solidFill>
                  <a:srgbClr val="185079"/>
                </a:solidFill>
                <a:latin typeface="Open Sauce Bold"/>
                <a:ea typeface="Open Sauce Bold"/>
                <a:cs typeface="Open Sauce Bold"/>
                <a:sym typeface="Open Sauce Bold"/>
              </a:rPr>
              <a:t>E</a:t>
            </a:r>
            <a:r>
              <a:rPr lang="en-US" b="true" sz="1883" strike="noStrike" u="none">
                <a:solidFill>
                  <a:srgbClr val="185079"/>
                </a:solidFill>
                <a:latin typeface="Open Sauce Bold"/>
                <a:ea typeface="Open Sauce Bold"/>
                <a:cs typeface="Open Sauce Bold"/>
                <a:sym typeface="Open Sauce Bold"/>
              </a:rPr>
              <a:t>mployees of</a:t>
            </a:r>
            <a:r>
              <a:rPr lang="en-US" b="true" sz="1883" strike="noStrike" u="none">
                <a:solidFill>
                  <a:srgbClr val="185079"/>
                </a:solidFill>
                <a:latin typeface="Open Sauce Bold"/>
                <a:ea typeface="Open Sauce Bold"/>
                <a:cs typeface="Open Sauce Bold"/>
                <a:sym typeface="Open Sauce Bold"/>
              </a:rPr>
              <a:t>t</a:t>
            </a:r>
            <a:r>
              <a:rPr lang="en-US" b="true" sz="1883" strike="noStrike" u="none">
                <a:solidFill>
                  <a:srgbClr val="185079"/>
                </a:solidFill>
                <a:latin typeface="Open Sauce Bold"/>
                <a:ea typeface="Open Sauce Bold"/>
                <a:cs typeface="Open Sauce Bold"/>
                <a:sym typeface="Open Sauce Bold"/>
              </a:rPr>
              <a:t>en face difficult</a:t>
            </a:r>
            <a:r>
              <a:rPr lang="en-US" b="true" sz="1883" strike="noStrike" u="none">
                <a:solidFill>
                  <a:srgbClr val="185079"/>
                </a:solidFill>
                <a:latin typeface="Open Sauce Bold"/>
                <a:ea typeface="Open Sauce Bold"/>
                <a:cs typeface="Open Sauce Bold"/>
                <a:sym typeface="Open Sauce Bold"/>
              </a:rPr>
              <a:t>y</a:t>
            </a:r>
            <a:r>
              <a:rPr lang="en-US" b="true" sz="1883" strike="noStrike" u="none">
                <a:solidFill>
                  <a:srgbClr val="185079"/>
                </a:solidFill>
                <a:latin typeface="Open Sauce Bold"/>
                <a:ea typeface="Open Sauce Bold"/>
                <a:cs typeface="Open Sauce Bold"/>
                <a:sym typeface="Open Sauce Bold"/>
              </a:rPr>
              <a:t> finding accurate HR policy information quickly</a:t>
            </a:r>
            <a:r>
              <a:rPr lang="en-US" b="true" sz="1883" strike="noStrike" u="none">
                <a:solidFill>
                  <a:srgbClr val="185079"/>
                </a:solidFill>
                <a:latin typeface="Open Sauce Bold"/>
                <a:ea typeface="Open Sauce Bold"/>
                <a:cs typeface="Open Sauce Bold"/>
                <a:sym typeface="Open Sauce Bold"/>
              </a:rPr>
              <a:t> because</a:t>
            </a:r>
            <a:r>
              <a:rPr lang="en-US" b="true" sz="1883" strike="noStrike" u="none">
                <a:solidFill>
                  <a:srgbClr val="185079"/>
                </a:solidFill>
                <a:latin typeface="Open Sauce Bold"/>
                <a:ea typeface="Open Sauce Bold"/>
                <a:cs typeface="Open Sauce Bold"/>
                <a:sym typeface="Open Sauce Bold"/>
              </a:rPr>
              <a:t> traditional HR systems rely on lengthy documents</a:t>
            </a:r>
            <a:r>
              <a:rPr lang="en-US" b="true" sz="1883" strike="noStrike" u="none">
                <a:solidFill>
                  <a:srgbClr val="185079"/>
                </a:solidFill>
                <a:latin typeface="Open Sauce Bold"/>
                <a:ea typeface="Open Sauce Bold"/>
                <a:cs typeface="Open Sauce Bold"/>
                <a:sym typeface="Open Sauce Bold"/>
              </a:rPr>
              <a:t> and</a:t>
            </a:r>
            <a:r>
              <a:rPr lang="en-US" b="true" sz="1883" strike="noStrike" u="none">
                <a:solidFill>
                  <a:srgbClr val="185079"/>
                </a:solidFill>
                <a:latin typeface="Open Sauce Bold"/>
                <a:ea typeface="Open Sauce Bold"/>
                <a:cs typeface="Open Sauce Bold"/>
                <a:sym typeface="Open Sauce Bold"/>
              </a:rPr>
              <a:t> man</a:t>
            </a:r>
            <a:r>
              <a:rPr lang="en-US" b="true" sz="1883" strike="noStrike" u="none">
                <a:solidFill>
                  <a:srgbClr val="185079"/>
                </a:solidFill>
                <a:latin typeface="Open Sauce Bold"/>
                <a:ea typeface="Open Sauce Bold"/>
                <a:cs typeface="Open Sauce Bold"/>
                <a:sym typeface="Open Sauce Bold"/>
              </a:rPr>
              <a:t>ual</a:t>
            </a:r>
            <a:r>
              <a:rPr lang="en-US" b="true" sz="1883" strike="noStrike" u="none">
                <a:solidFill>
                  <a:srgbClr val="185079"/>
                </a:solidFill>
                <a:latin typeface="Open Sauce Bold"/>
                <a:ea typeface="Open Sauce Bold"/>
                <a:cs typeface="Open Sauce Bold"/>
                <a:sym typeface="Open Sauce Bold"/>
              </a:rPr>
              <a:t> support</a:t>
            </a:r>
            <a:r>
              <a:rPr lang="en-US" b="true" sz="1883" strike="noStrike" u="none">
                <a:solidFill>
                  <a:srgbClr val="185079"/>
                </a:solidFill>
                <a:latin typeface="Open Sauce Bold"/>
                <a:ea typeface="Open Sauce Bold"/>
                <a:cs typeface="Open Sauce Bold"/>
                <a:sym typeface="Open Sauce Bold"/>
              </a:rPr>
              <a:t>. T</a:t>
            </a:r>
            <a:r>
              <a:rPr lang="en-US" b="true" sz="1883" strike="noStrike" u="none">
                <a:solidFill>
                  <a:srgbClr val="185079"/>
                </a:solidFill>
                <a:latin typeface="Open Sauce Bold"/>
                <a:ea typeface="Open Sauce Bold"/>
                <a:cs typeface="Open Sauce Bold"/>
                <a:sym typeface="Open Sauce Bold"/>
              </a:rPr>
              <a:t>h</a:t>
            </a:r>
            <a:r>
              <a:rPr lang="en-US" b="true" sz="1883" strike="noStrike" u="none">
                <a:solidFill>
                  <a:srgbClr val="185079"/>
                </a:solidFill>
                <a:latin typeface="Open Sauce Bold"/>
                <a:ea typeface="Open Sauce Bold"/>
                <a:cs typeface="Open Sauce Bold"/>
                <a:sym typeface="Open Sauce Bold"/>
              </a:rPr>
              <a:t>is</a:t>
            </a:r>
            <a:r>
              <a:rPr lang="en-US" b="true" sz="1883" strike="noStrike" u="none">
                <a:solidFill>
                  <a:srgbClr val="185079"/>
                </a:solidFill>
                <a:latin typeface="Open Sauce Bold"/>
                <a:ea typeface="Open Sauce Bold"/>
                <a:cs typeface="Open Sauce Bold"/>
                <a:sym typeface="Open Sauce Bold"/>
              </a:rPr>
              <a:t> process is time-consuming and </a:t>
            </a:r>
            <a:r>
              <a:rPr lang="en-US" b="true" sz="1883" strike="noStrike" u="none">
                <a:solidFill>
                  <a:srgbClr val="185079"/>
                </a:solidFill>
                <a:latin typeface="Open Sauce Bold"/>
                <a:ea typeface="Open Sauce Bold"/>
                <a:cs typeface="Open Sauce Bold"/>
                <a:sym typeface="Open Sauce Bold"/>
              </a:rPr>
              <a:t>l</a:t>
            </a:r>
            <a:r>
              <a:rPr lang="en-US" b="true" sz="1883" strike="noStrike" u="none">
                <a:solidFill>
                  <a:srgbClr val="185079"/>
                </a:solidFill>
                <a:latin typeface="Open Sauce Bold"/>
                <a:ea typeface="Open Sauce Bold"/>
                <a:cs typeface="Open Sauce Bold"/>
                <a:sym typeface="Open Sauce Bold"/>
              </a:rPr>
              <a:t>e</a:t>
            </a:r>
            <a:r>
              <a:rPr lang="en-US" b="true" sz="1883" strike="noStrike" u="none">
                <a:solidFill>
                  <a:srgbClr val="185079"/>
                </a:solidFill>
                <a:latin typeface="Open Sauce Bold"/>
                <a:ea typeface="Open Sauce Bold"/>
                <a:cs typeface="Open Sauce Bold"/>
                <a:sym typeface="Open Sauce Bold"/>
              </a:rPr>
              <a:t>ad</a:t>
            </a:r>
            <a:r>
              <a:rPr lang="en-US" b="true" sz="1883" strike="noStrike" u="none">
                <a:solidFill>
                  <a:srgbClr val="185079"/>
                </a:solidFill>
                <a:latin typeface="Open Sauce Bold"/>
                <a:ea typeface="Open Sauce Bold"/>
                <a:cs typeface="Open Sauce Bold"/>
                <a:sym typeface="Open Sauce Bold"/>
              </a:rPr>
              <a:t>s to delays in resolving em</a:t>
            </a:r>
            <a:r>
              <a:rPr lang="en-US" b="true" sz="1883" strike="noStrike" u="none">
                <a:solidFill>
                  <a:srgbClr val="185079"/>
                </a:solidFill>
                <a:latin typeface="Open Sauce Bold"/>
                <a:ea typeface="Open Sauce Bold"/>
                <a:cs typeface="Open Sauce Bold"/>
                <a:sym typeface="Open Sauce Bold"/>
              </a:rPr>
              <a:t>pl</a:t>
            </a:r>
            <a:r>
              <a:rPr lang="en-US" b="true" sz="1883" strike="noStrike" u="none">
                <a:solidFill>
                  <a:srgbClr val="185079"/>
                </a:solidFill>
                <a:latin typeface="Open Sauce Bold"/>
                <a:ea typeface="Open Sauce Bold"/>
                <a:cs typeface="Open Sauce Bold"/>
                <a:sym typeface="Open Sauce Bold"/>
              </a:rPr>
              <a:t>oyee queries. At th</a:t>
            </a:r>
            <a:r>
              <a:rPr lang="en-US" b="true" sz="1883" strike="noStrike" u="none">
                <a:solidFill>
                  <a:srgbClr val="185079"/>
                </a:solidFill>
                <a:latin typeface="Open Sauce Bold"/>
                <a:ea typeface="Open Sauce Bold"/>
                <a:cs typeface="Open Sauce Bold"/>
                <a:sym typeface="Open Sauce Bold"/>
              </a:rPr>
              <a:t>e same t</a:t>
            </a:r>
            <a:r>
              <a:rPr lang="en-US" b="true" sz="1883" strike="noStrike" u="none">
                <a:solidFill>
                  <a:srgbClr val="185079"/>
                </a:solidFill>
                <a:latin typeface="Open Sauce Bold"/>
                <a:ea typeface="Open Sauce Bold"/>
                <a:cs typeface="Open Sauce Bold"/>
                <a:sym typeface="Open Sauce Bold"/>
              </a:rPr>
              <a:t>ime</a:t>
            </a:r>
            <a:r>
              <a:rPr lang="en-US" b="true" sz="1883" strike="noStrike" u="none">
                <a:solidFill>
                  <a:srgbClr val="185079"/>
                </a:solidFill>
                <a:latin typeface="Open Sauce Bold"/>
                <a:ea typeface="Open Sauce Bold"/>
                <a:cs typeface="Open Sauce Bold"/>
                <a:sym typeface="Open Sauce Bold"/>
              </a:rPr>
              <a:t>,</a:t>
            </a:r>
            <a:r>
              <a:rPr lang="en-US" b="true" sz="1883" strike="noStrike" u="none">
                <a:solidFill>
                  <a:srgbClr val="185079"/>
                </a:solidFill>
                <a:latin typeface="Open Sauce Bold"/>
                <a:ea typeface="Open Sauce Bold"/>
                <a:cs typeface="Open Sauce Bold"/>
                <a:sym typeface="Open Sauce Bold"/>
              </a:rPr>
              <a:t> HR teams spend a lot of time answering repetitive questions, reduc</a:t>
            </a:r>
            <a:r>
              <a:rPr lang="en-US" b="true" sz="1883" strike="noStrike" u="none">
                <a:solidFill>
                  <a:srgbClr val="185079"/>
                </a:solidFill>
                <a:latin typeface="Open Sauce Bold"/>
                <a:ea typeface="Open Sauce Bold"/>
                <a:cs typeface="Open Sauce Bold"/>
                <a:sym typeface="Open Sauce Bold"/>
              </a:rPr>
              <a:t>ing</a:t>
            </a:r>
            <a:r>
              <a:rPr lang="en-US" b="true" sz="1883" strike="noStrike" u="none">
                <a:solidFill>
                  <a:srgbClr val="185079"/>
                </a:solidFill>
                <a:latin typeface="Open Sauce Bold"/>
                <a:ea typeface="Open Sauce Bold"/>
                <a:cs typeface="Open Sauce Bold"/>
                <a:sym typeface="Open Sauce Bold"/>
              </a:rPr>
              <a:t> o</a:t>
            </a:r>
            <a:r>
              <a:rPr lang="en-US" b="true" sz="1883" strike="noStrike" u="none">
                <a:solidFill>
                  <a:srgbClr val="185079"/>
                </a:solidFill>
                <a:latin typeface="Open Sauce Bold"/>
                <a:ea typeface="Open Sauce Bold"/>
                <a:cs typeface="Open Sauce Bold"/>
                <a:sym typeface="Open Sauce Bold"/>
              </a:rPr>
              <a:t>v</a:t>
            </a:r>
            <a:r>
              <a:rPr lang="en-US" b="true" sz="1883" strike="noStrike" u="none">
                <a:solidFill>
                  <a:srgbClr val="185079"/>
                </a:solidFill>
                <a:latin typeface="Open Sauce Bold"/>
                <a:ea typeface="Open Sauce Bold"/>
                <a:cs typeface="Open Sauce Bold"/>
                <a:sym typeface="Open Sauce Bold"/>
              </a:rPr>
              <a:t>erall efficiency.</a:t>
            </a:r>
          </a:p>
        </p:txBody>
      </p:sp>
      <p:grpSp>
        <p:nvGrpSpPr>
          <p:cNvPr name="Group 5" id="5"/>
          <p:cNvGrpSpPr/>
          <p:nvPr/>
        </p:nvGrpSpPr>
        <p:grpSpPr>
          <a:xfrm rot="0">
            <a:off x="10064205" y="1492778"/>
            <a:ext cx="1385652" cy="138565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95BFD1"/>
            </a:solidFill>
            <a:ln cap="rnd">
              <a:noFill/>
              <a:prstDash val="solid"/>
              <a:round/>
            </a:ln>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8" id="8"/>
          <p:cNvGrpSpPr/>
          <p:nvPr/>
        </p:nvGrpSpPr>
        <p:grpSpPr>
          <a:xfrm rot="0">
            <a:off x="11660562" y="1059888"/>
            <a:ext cx="5842648" cy="2466982"/>
            <a:chOff x="0" y="0"/>
            <a:chExt cx="1990420" cy="840429"/>
          </a:xfrm>
        </p:grpSpPr>
        <p:sp>
          <p:nvSpPr>
            <p:cNvPr name="Freeform 9" id="9"/>
            <p:cNvSpPr/>
            <p:nvPr/>
          </p:nvSpPr>
          <p:spPr>
            <a:xfrm flipH="false" flipV="false" rot="0">
              <a:off x="0" y="0"/>
              <a:ext cx="1990420" cy="840429"/>
            </a:xfrm>
            <a:custGeom>
              <a:avLst/>
              <a:gdLst/>
              <a:ahLst/>
              <a:cxnLst/>
              <a:rect r="r" b="b" t="t" l="l"/>
              <a:pathLst>
                <a:path h="840429" w="1990420">
                  <a:moveTo>
                    <a:pt x="27826" y="0"/>
                  </a:moveTo>
                  <a:lnTo>
                    <a:pt x="1962594" y="0"/>
                  </a:lnTo>
                  <a:cubicBezTo>
                    <a:pt x="1977962" y="0"/>
                    <a:pt x="1990420" y="12458"/>
                    <a:pt x="1990420" y="27826"/>
                  </a:cubicBezTo>
                  <a:lnTo>
                    <a:pt x="1990420" y="812602"/>
                  </a:lnTo>
                  <a:cubicBezTo>
                    <a:pt x="1990420" y="819983"/>
                    <a:pt x="1987489" y="827060"/>
                    <a:pt x="1982270" y="832279"/>
                  </a:cubicBezTo>
                  <a:cubicBezTo>
                    <a:pt x="1977052" y="837497"/>
                    <a:pt x="1969974" y="840429"/>
                    <a:pt x="1962594" y="840429"/>
                  </a:cubicBezTo>
                  <a:lnTo>
                    <a:pt x="27826" y="840429"/>
                  </a:lnTo>
                  <a:cubicBezTo>
                    <a:pt x="20446" y="840429"/>
                    <a:pt x="13369" y="837497"/>
                    <a:pt x="8150" y="832279"/>
                  </a:cubicBezTo>
                  <a:cubicBezTo>
                    <a:pt x="2932" y="827060"/>
                    <a:pt x="0" y="819983"/>
                    <a:pt x="0" y="812602"/>
                  </a:cubicBezTo>
                  <a:lnTo>
                    <a:pt x="0" y="27826"/>
                  </a:lnTo>
                  <a:cubicBezTo>
                    <a:pt x="0" y="20446"/>
                    <a:pt x="2932" y="13369"/>
                    <a:pt x="8150" y="8150"/>
                  </a:cubicBezTo>
                  <a:cubicBezTo>
                    <a:pt x="13369" y="2932"/>
                    <a:pt x="20446" y="0"/>
                    <a:pt x="27826" y="0"/>
                  </a:cubicBezTo>
                  <a:close/>
                </a:path>
              </a:pathLst>
            </a:custGeom>
            <a:solidFill>
              <a:srgbClr val="95BFD1"/>
            </a:solidFill>
            <a:ln cap="rnd">
              <a:noFill/>
              <a:prstDash val="solid"/>
              <a:round/>
            </a:ln>
          </p:spPr>
        </p:sp>
        <p:sp>
          <p:nvSpPr>
            <p:cNvPr name="TextBox 10" id="10"/>
            <p:cNvSpPr txBox="true"/>
            <p:nvPr/>
          </p:nvSpPr>
          <p:spPr>
            <a:xfrm>
              <a:off x="0" y="0"/>
              <a:ext cx="1990420" cy="840429"/>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11" id="11"/>
          <p:cNvSpPr txBox="true"/>
          <p:nvPr/>
        </p:nvSpPr>
        <p:spPr>
          <a:xfrm rot="0">
            <a:off x="11762395" y="1243580"/>
            <a:ext cx="5090313" cy="403145"/>
          </a:xfrm>
          <a:prstGeom prst="rect">
            <a:avLst/>
          </a:prstGeom>
        </p:spPr>
        <p:txBody>
          <a:bodyPr anchor="t" rtlCol="false" tIns="0" lIns="0" bIns="0" rIns="0">
            <a:spAutoFit/>
          </a:bodyPr>
          <a:lstStyle/>
          <a:p>
            <a:pPr algn="l" marL="0" indent="0" lvl="0">
              <a:lnSpc>
                <a:spcPts val="3487"/>
              </a:lnSpc>
            </a:pPr>
            <a:r>
              <a:rPr lang="en-US" b="true" sz="2051" spc="-4">
                <a:solidFill>
                  <a:srgbClr val="FBF6F1"/>
                </a:solidFill>
                <a:latin typeface="Open Sauce Bold"/>
                <a:ea typeface="Open Sauce Bold"/>
                <a:cs typeface="Open Sauce Bold"/>
                <a:sym typeface="Open Sauce Bold"/>
              </a:rPr>
              <a:t>D</a:t>
            </a:r>
            <a:r>
              <a:rPr lang="en-US" b="true" sz="2051" spc="-4" u="none">
                <a:solidFill>
                  <a:srgbClr val="FBF6F1"/>
                </a:solidFill>
                <a:latin typeface="Open Sauce Bold"/>
                <a:ea typeface="Open Sauce Bold"/>
                <a:cs typeface="Open Sauce Bold"/>
                <a:sym typeface="Open Sauce Bold"/>
              </a:rPr>
              <a:t>ifficulty Accessing HR Information</a:t>
            </a:r>
          </a:p>
        </p:txBody>
      </p:sp>
      <p:sp>
        <p:nvSpPr>
          <p:cNvPr name="TextBox 12" id="12"/>
          <p:cNvSpPr txBox="true"/>
          <p:nvPr/>
        </p:nvSpPr>
        <p:spPr>
          <a:xfrm rot="0">
            <a:off x="12036730" y="4125409"/>
            <a:ext cx="5090313" cy="403145"/>
          </a:xfrm>
          <a:prstGeom prst="rect">
            <a:avLst/>
          </a:prstGeom>
        </p:spPr>
        <p:txBody>
          <a:bodyPr anchor="t" rtlCol="false" tIns="0" lIns="0" bIns="0" rIns="0">
            <a:spAutoFit/>
          </a:bodyPr>
          <a:lstStyle/>
          <a:p>
            <a:pPr algn="l" marL="0" indent="0" lvl="0">
              <a:lnSpc>
                <a:spcPts val="3487"/>
              </a:lnSpc>
            </a:pPr>
            <a:r>
              <a:rPr lang="en-US" b="true" sz="2051" spc="-4">
                <a:solidFill>
                  <a:srgbClr val="FBF6F1"/>
                </a:solidFill>
                <a:latin typeface="Open Sauce Bold"/>
                <a:ea typeface="Open Sauce Bold"/>
                <a:cs typeface="Open Sauce Bold"/>
                <a:sym typeface="Open Sauce Bold"/>
              </a:rPr>
              <a:t>D</a:t>
            </a:r>
            <a:r>
              <a:rPr lang="en-US" b="true" sz="2051" spc="-4" u="none">
                <a:solidFill>
                  <a:srgbClr val="FBF6F1"/>
                </a:solidFill>
                <a:latin typeface="Open Sauce Bold"/>
                <a:ea typeface="Open Sauce Bold"/>
                <a:cs typeface="Open Sauce Bold"/>
                <a:sym typeface="Open Sauce Bold"/>
              </a:rPr>
              <a:t>ifficulty Accessing HR Information</a:t>
            </a:r>
          </a:p>
        </p:txBody>
      </p:sp>
      <p:sp>
        <p:nvSpPr>
          <p:cNvPr name="TextBox 13" id="13"/>
          <p:cNvSpPr txBox="true"/>
          <p:nvPr/>
        </p:nvSpPr>
        <p:spPr>
          <a:xfrm rot="0">
            <a:off x="11772192" y="1665836"/>
            <a:ext cx="5619388" cy="1742994"/>
          </a:xfrm>
          <a:prstGeom prst="rect">
            <a:avLst/>
          </a:prstGeom>
        </p:spPr>
        <p:txBody>
          <a:bodyPr anchor="t" rtlCol="false" tIns="0" lIns="0" bIns="0" rIns="0">
            <a:spAutoFit/>
          </a:bodyPr>
          <a:lstStyle/>
          <a:p>
            <a:pPr algn="l" marL="0" indent="0" lvl="0">
              <a:lnSpc>
                <a:spcPts val="2807"/>
              </a:lnSpc>
            </a:pPr>
            <a:r>
              <a:rPr lang="en-US" sz="1651" spc="-3">
                <a:solidFill>
                  <a:srgbClr val="FBF6F1"/>
                </a:solidFill>
                <a:latin typeface="Open Sauce"/>
                <a:ea typeface="Open Sauce"/>
                <a:cs typeface="Open Sauce"/>
                <a:sym typeface="Open Sauce"/>
              </a:rPr>
              <a:t>Employees often find it d</a:t>
            </a:r>
            <a:r>
              <a:rPr lang="en-US" sz="1651" spc="-3" u="none">
                <a:solidFill>
                  <a:srgbClr val="FBF6F1"/>
                </a:solidFill>
                <a:latin typeface="Open Sauce"/>
                <a:ea typeface="Open Sauce"/>
                <a:cs typeface="Open Sauce"/>
                <a:sym typeface="Open Sauce"/>
              </a:rPr>
              <a:t>ifficult to locate important HR policies because the information is stored in lengthy documents and scattered resources. Searching manually for relevant details takes time and reduces productivity.</a:t>
            </a:r>
          </a:p>
        </p:txBody>
      </p:sp>
      <p:sp>
        <p:nvSpPr>
          <p:cNvPr name="TextBox 14" id="14"/>
          <p:cNvSpPr txBox="true"/>
          <p:nvPr/>
        </p:nvSpPr>
        <p:spPr>
          <a:xfrm rot="0">
            <a:off x="10103022" y="1751561"/>
            <a:ext cx="1308018" cy="886555"/>
          </a:xfrm>
          <a:prstGeom prst="rect">
            <a:avLst/>
          </a:prstGeom>
        </p:spPr>
        <p:txBody>
          <a:bodyPr anchor="t" rtlCol="false" tIns="0" lIns="0" bIns="0" rIns="0">
            <a:spAutoFit/>
          </a:bodyPr>
          <a:lstStyle/>
          <a:p>
            <a:pPr algn="ctr">
              <a:lnSpc>
                <a:spcPts val="6980"/>
              </a:lnSpc>
            </a:pPr>
            <a:r>
              <a:rPr lang="en-US" b="true" sz="5817">
                <a:solidFill>
                  <a:srgbClr val="FBF6F1"/>
                </a:solidFill>
                <a:latin typeface="Open Sauce Medium"/>
                <a:ea typeface="Open Sauce Medium"/>
                <a:cs typeface="Open Sauce Medium"/>
                <a:sym typeface="Open Sauce Medium"/>
              </a:rPr>
              <a:t>01</a:t>
            </a:r>
          </a:p>
        </p:txBody>
      </p:sp>
      <p:grpSp>
        <p:nvGrpSpPr>
          <p:cNvPr name="Group 15" id="15"/>
          <p:cNvGrpSpPr/>
          <p:nvPr/>
        </p:nvGrpSpPr>
        <p:grpSpPr>
          <a:xfrm rot="0">
            <a:off x="10064205" y="4449060"/>
            <a:ext cx="1385652" cy="1385652"/>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4E97BB">
                <a:alpha val="84706"/>
              </a:srgbClr>
            </a:solidFill>
            <a:ln cap="rnd">
              <a:noFill/>
              <a:prstDash val="solid"/>
              <a:round/>
            </a:ln>
          </p:spPr>
        </p:sp>
        <p:sp>
          <p:nvSpPr>
            <p:cNvPr name="TextBox 17" id="17"/>
            <p:cNvSpPr txBox="true"/>
            <p:nvPr/>
          </p:nvSpPr>
          <p:spPr>
            <a:xfrm>
              <a:off x="76200" y="76200"/>
              <a:ext cx="660400" cy="660400"/>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18" id="18"/>
          <p:cNvGrpSpPr/>
          <p:nvPr/>
        </p:nvGrpSpPr>
        <p:grpSpPr>
          <a:xfrm rot="0">
            <a:off x="11660562" y="4016170"/>
            <a:ext cx="5842648" cy="2251432"/>
            <a:chOff x="0" y="0"/>
            <a:chExt cx="1990420" cy="766998"/>
          </a:xfrm>
        </p:grpSpPr>
        <p:sp>
          <p:nvSpPr>
            <p:cNvPr name="Freeform 19" id="19"/>
            <p:cNvSpPr/>
            <p:nvPr/>
          </p:nvSpPr>
          <p:spPr>
            <a:xfrm flipH="false" flipV="false" rot="0">
              <a:off x="0" y="0"/>
              <a:ext cx="1990420" cy="766998"/>
            </a:xfrm>
            <a:custGeom>
              <a:avLst/>
              <a:gdLst/>
              <a:ahLst/>
              <a:cxnLst/>
              <a:rect r="r" b="b" t="t" l="l"/>
              <a:pathLst>
                <a:path h="766998" w="1990420">
                  <a:moveTo>
                    <a:pt x="27826" y="0"/>
                  </a:moveTo>
                  <a:lnTo>
                    <a:pt x="1962594" y="0"/>
                  </a:lnTo>
                  <a:cubicBezTo>
                    <a:pt x="1977962" y="0"/>
                    <a:pt x="1990420" y="12458"/>
                    <a:pt x="1990420" y="27826"/>
                  </a:cubicBezTo>
                  <a:lnTo>
                    <a:pt x="1990420" y="739171"/>
                  </a:lnTo>
                  <a:cubicBezTo>
                    <a:pt x="1990420" y="746551"/>
                    <a:pt x="1987489" y="753629"/>
                    <a:pt x="1982270" y="758847"/>
                  </a:cubicBezTo>
                  <a:cubicBezTo>
                    <a:pt x="1977052" y="764066"/>
                    <a:pt x="1969974" y="766998"/>
                    <a:pt x="1962594" y="766998"/>
                  </a:cubicBezTo>
                  <a:lnTo>
                    <a:pt x="27826" y="766998"/>
                  </a:lnTo>
                  <a:cubicBezTo>
                    <a:pt x="12458" y="766998"/>
                    <a:pt x="0" y="754539"/>
                    <a:pt x="0" y="739171"/>
                  </a:cubicBezTo>
                  <a:lnTo>
                    <a:pt x="0" y="27826"/>
                  </a:lnTo>
                  <a:cubicBezTo>
                    <a:pt x="0" y="20446"/>
                    <a:pt x="2932" y="13369"/>
                    <a:pt x="8150" y="8150"/>
                  </a:cubicBezTo>
                  <a:cubicBezTo>
                    <a:pt x="13369" y="2932"/>
                    <a:pt x="20446" y="0"/>
                    <a:pt x="27826" y="0"/>
                  </a:cubicBezTo>
                  <a:close/>
                </a:path>
              </a:pathLst>
            </a:custGeom>
            <a:solidFill>
              <a:srgbClr val="4E97BB">
                <a:alpha val="84706"/>
              </a:srgbClr>
            </a:solidFill>
            <a:ln cap="rnd">
              <a:noFill/>
              <a:prstDash val="solid"/>
              <a:round/>
            </a:ln>
          </p:spPr>
        </p:sp>
        <p:sp>
          <p:nvSpPr>
            <p:cNvPr name="TextBox 20" id="20"/>
            <p:cNvSpPr txBox="true"/>
            <p:nvPr/>
          </p:nvSpPr>
          <p:spPr>
            <a:xfrm>
              <a:off x="0" y="0"/>
              <a:ext cx="1990420" cy="766998"/>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21" id="21"/>
          <p:cNvSpPr txBox="true"/>
          <p:nvPr/>
        </p:nvSpPr>
        <p:spPr>
          <a:xfrm rot="0">
            <a:off x="11864227" y="4631582"/>
            <a:ext cx="5527354" cy="1311194"/>
          </a:xfrm>
          <a:prstGeom prst="rect">
            <a:avLst/>
          </a:prstGeom>
        </p:spPr>
        <p:txBody>
          <a:bodyPr anchor="t" rtlCol="false" tIns="0" lIns="0" bIns="0" rIns="0">
            <a:spAutoFit/>
          </a:bodyPr>
          <a:lstStyle/>
          <a:p>
            <a:pPr algn="l" marL="0" indent="0" lvl="0">
              <a:lnSpc>
                <a:spcPts val="2637"/>
              </a:lnSpc>
            </a:pPr>
            <a:r>
              <a:rPr lang="en-US" sz="1551" spc="-3">
                <a:solidFill>
                  <a:srgbClr val="FBF6F1"/>
                </a:solidFill>
                <a:latin typeface="Open Sauce"/>
                <a:ea typeface="Open Sauce"/>
                <a:cs typeface="Open Sauce"/>
                <a:sym typeface="Open Sauce"/>
              </a:rPr>
              <a:t>HR</a:t>
            </a:r>
            <a:r>
              <a:rPr lang="en-US" sz="1551" spc="-3" u="none">
                <a:solidFill>
                  <a:srgbClr val="FBF6F1"/>
                </a:solidFill>
                <a:latin typeface="Open Sauce"/>
                <a:ea typeface="Open Sauce"/>
                <a:cs typeface="Open Sauce"/>
                <a:sym typeface="Open Sauce"/>
              </a:rPr>
              <a:t> departments frequently handle repeated employee queries related to leave policies, payroll, attendance, and company rules. Answering the same questions multiple times increases workload and consumes valuable time.</a:t>
            </a:r>
          </a:p>
        </p:txBody>
      </p:sp>
      <p:sp>
        <p:nvSpPr>
          <p:cNvPr name="TextBox 22" id="22"/>
          <p:cNvSpPr txBox="true"/>
          <p:nvPr/>
        </p:nvSpPr>
        <p:spPr>
          <a:xfrm rot="0">
            <a:off x="10082675" y="4700223"/>
            <a:ext cx="1308018" cy="886555"/>
          </a:xfrm>
          <a:prstGeom prst="rect">
            <a:avLst/>
          </a:prstGeom>
        </p:spPr>
        <p:txBody>
          <a:bodyPr anchor="t" rtlCol="false" tIns="0" lIns="0" bIns="0" rIns="0">
            <a:spAutoFit/>
          </a:bodyPr>
          <a:lstStyle/>
          <a:p>
            <a:pPr algn="ctr">
              <a:lnSpc>
                <a:spcPts val="6980"/>
              </a:lnSpc>
            </a:pPr>
            <a:r>
              <a:rPr lang="en-US" b="true" sz="5817">
                <a:solidFill>
                  <a:srgbClr val="FBF6F1"/>
                </a:solidFill>
                <a:latin typeface="Open Sauce Medium"/>
                <a:ea typeface="Open Sauce Medium"/>
                <a:cs typeface="Open Sauce Medium"/>
                <a:sym typeface="Open Sauce Medium"/>
              </a:rPr>
              <a:t>02</a:t>
            </a:r>
          </a:p>
        </p:txBody>
      </p:sp>
      <p:grpSp>
        <p:nvGrpSpPr>
          <p:cNvPr name="Group 23" id="23"/>
          <p:cNvGrpSpPr/>
          <p:nvPr/>
        </p:nvGrpSpPr>
        <p:grpSpPr>
          <a:xfrm rot="0">
            <a:off x="10103022" y="7395818"/>
            <a:ext cx="1385652" cy="1385652"/>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3885AB"/>
            </a:solidFill>
            <a:ln cap="rnd">
              <a:noFill/>
              <a:prstDash val="solid"/>
              <a:round/>
            </a:ln>
          </p:spPr>
        </p:sp>
        <p:sp>
          <p:nvSpPr>
            <p:cNvPr name="TextBox 25" id="25"/>
            <p:cNvSpPr txBox="true"/>
            <p:nvPr/>
          </p:nvSpPr>
          <p:spPr>
            <a:xfrm>
              <a:off x="76200" y="76200"/>
              <a:ext cx="660400" cy="660400"/>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26" id="26"/>
          <p:cNvGrpSpPr/>
          <p:nvPr/>
        </p:nvGrpSpPr>
        <p:grpSpPr>
          <a:xfrm rot="0">
            <a:off x="11699380" y="6962928"/>
            <a:ext cx="5803831" cy="2492298"/>
            <a:chOff x="0" y="0"/>
            <a:chExt cx="1977196" cy="849054"/>
          </a:xfrm>
        </p:grpSpPr>
        <p:sp>
          <p:nvSpPr>
            <p:cNvPr name="Freeform 27" id="27"/>
            <p:cNvSpPr/>
            <p:nvPr/>
          </p:nvSpPr>
          <p:spPr>
            <a:xfrm flipH="false" flipV="false" rot="0">
              <a:off x="0" y="0"/>
              <a:ext cx="1977196" cy="849054"/>
            </a:xfrm>
            <a:custGeom>
              <a:avLst/>
              <a:gdLst/>
              <a:ahLst/>
              <a:cxnLst/>
              <a:rect r="r" b="b" t="t" l="l"/>
              <a:pathLst>
                <a:path h="849054" w="1977196">
                  <a:moveTo>
                    <a:pt x="28013" y="0"/>
                  </a:moveTo>
                  <a:lnTo>
                    <a:pt x="1949184" y="0"/>
                  </a:lnTo>
                  <a:cubicBezTo>
                    <a:pt x="1956613" y="0"/>
                    <a:pt x="1963738" y="2951"/>
                    <a:pt x="1968992" y="8205"/>
                  </a:cubicBezTo>
                  <a:cubicBezTo>
                    <a:pt x="1974245" y="13458"/>
                    <a:pt x="1977196" y="20583"/>
                    <a:pt x="1977196" y="28013"/>
                  </a:cubicBezTo>
                  <a:lnTo>
                    <a:pt x="1977196" y="821041"/>
                  </a:lnTo>
                  <a:cubicBezTo>
                    <a:pt x="1977196" y="836512"/>
                    <a:pt x="1964655" y="849054"/>
                    <a:pt x="1949184" y="849054"/>
                  </a:cubicBezTo>
                  <a:lnTo>
                    <a:pt x="28013" y="849054"/>
                  </a:lnTo>
                  <a:cubicBezTo>
                    <a:pt x="12542" y="849054"/>
                    <a:pt x="0" y="836512"/>
                    <a:pt x="0" y="821041"/>
                  </a:cubicBezTo>
                  <a:lnTo>
                    <a:pt x="0" y="28013"/>
                  </a:lnTo>
                  <a:cubicBezTo>
                    <a:pt x="0" y="12542"/>
                    <a:pt x="12542" y="0"/>
                    <a:pt x="28013" y="0"/>
                  </a:cubicBezTo>
                  <a:close/>
                </a:path>
              </a:pathLst>
            </a:custGeom>
            <a:solidFill>
              <a:srgbClr val="3885AB"/>
            </a:solidFill>
            <a:ln cap="rnd">
              <a:noFill/>
              <a:prstDash val="solid"/>
              <a:round/>
            </a:ln>
          </p:spPr>
        </p:sp>
        <p:sp>
          <p:nvSpPr>
            <p:cNvPr name="TextBox 28" id="28"/>
            <p:cNvSpPr txBox="true"/>
            <p:nvPr/>
          </p:nvSpPr>
          <p:spPr>
            <a:xfrm>
              <a:off x="0" y="0"/>
              <a:ext cx="1977196" cy="849054"/>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29" id="29"/>
          <p:cNvSpPr txBox="true"/>
          <p:nvPr/>
        </p:nvSpPr>
        <p:spPr>
          <a:xfrm rot="0">
            <a:off x="11959198" y="7846230"/>
            <a:ext cx="5167844" cy="1266028"/>
          </a:xfrm>
          <a:prstGeom prst="rect">
            <a:avLst/>
          </a:prstGeom>
        </p:spPr>
        <p:txBody>
          <a:bodyPr anchor="t" rtlCol="false" tIns="0" lIns="0" bIns="0" rIns="0">
            <a:spAutoFit/>
          </a:bodyPr>
          <a:lstStyle/>
          <a:p>
            <a:pPr algn="l" marL="0" indent="0" lvl="0">
              <a:lnSpc>
                <a:spcPts val="2571"/>
              </a:lnSpc>
            </a:pPr>
            <a:r>
              <a:rPr lang="en-US" sz="1512" spc="-3">
                <a:solidFill>
                  <a:srgbClr val="FBF6F1"/>
                </a:solidFill>
                <a:latin typeface="Open Sauce"/>
                <a:ea typeface="Open Sauce"/>
                <a:cs typeface="Open Sauce"/>
                <a:sym typeface="Open Sauce"/>
              </a:rPr>
              <a:t>T</a:t>
            </a:r>
            <a:r>
              <a:rPr lang="en-US" sz="1512" spc="-3" u="none">
                <a:solidFill>
                  <a:srgbClr val="FBF6F1"/>
                </a:solidFill>
                <a:latin typeface="Open Sauce"/>
                <a:ea typeface="Open Sauce"/>
                <a:cs typeface="Open Sauce"/>
                <a:sym typeface="Open Sauce"/>
              </a:rPr>
              <a:t>raditional search systems are unable to understand the actual intent behind employee queries. As a result, users may receive irrelevant or inaccurate information instead of precise and context-aware responses.</a:t>
            </a:r>
          </a:p>
        </p:txBody>
      </p:sp>
      <p:sp>
        <p:nvSpPr>
          <p:cNvPr name="TextBox 30" id="30"/>
          <p:cNvSpPr txBox="true"/>
          <p:nvPr/>
        </p:nvSpPr>
        <p:spPr>
          <a:xfrm rot="0">
            <a:off x="10141840" y="7654601"/>
            <a:ext cx="1308018" cy="886555"/>
          </a:xfrm>
          <a:prstGeom prst="rect">
            <a:avLst/>
          </a:prstGeom>
        </p:spPr>
        <p:txBody>
          <a:bodyPr anchor="t" rtlCol="false" tIns="0" lIns="0" bIns="0" rIns="0">
            <a:spAutoFit/>
          </a:bodyPr>
          <a:lstStyle/>
          <a:p>
            <a:pPr algn="ctr">
              <a:lnSpc>
                <a:spcPts val="6980"/>
              </a:lnSpc>
            </a:pPr>
            <a:r>
              <a:rPr lang="en-US" b="true" sz="5817">
                <a:solidFill>
                  <a:srgbClr val="FBF6F1"/>
                </a:solidFill>
                <a:latin typeface="Open Sauce Medium"/>
                <a:ea typeface="Open Sauce Medium"/>
                <a:cs typeface="Open Sauce Medium"/>
                <a:sym typeface="Open Sauce Medium"/>
              </a:rPr>
              <a:t>03</a:t>
            </a:r>
          </a:p>
        </p:txBody>
      </p:sp>
      <p:sp>
        <p:nvSpPr>
          <p:cNvPr name="TextBox 31" id="31"/>
          <p:cNvSpPr txBox="true"/>
          <p:nvPr/>
        </p:nvSpPr>
        <p:spPr>
          <a:xfrm rot="0">
            <a:off x="11864227" y="4199863"/>
            <a:ext cx="5090313" cy="403145"/>
          </a:xfrm>
          <a:prstGeom prst="rect">
            <a:avLst/>
          </a:prstGeom>
        </p:spPr>
        <p:txBody>
          <a:bodyPr anchor="t" rtlCol="false" tIns="0" lIns="0" bIns="0" rIns="0">
            <a:spAutoFit/>
          </a:bodyPr>
          <a:lstStyle/>
          <a:p>
            <a:pPr algn="l" marL="0" indent="0" lvl="0">
              <a:lnSpc>
                <a:spcPts val="3487"/>
              </a:lnSpc>
            </a:pPr>
            <a:r>
              <a:rPr lang="en-US" b="true" sz="2051" spc="-4">
                <a:solidFill>
                  <a:srgbClr val="FBF6F1"/>
                </a:solidFill>
                <a:latin typeface="Open Sauce Bold"/>
                <a:ea typeface="Open Sauce Bold"/>
                <a:cs typeface="Open Sauce Bold"/>
                <a:sym typeface="Open Sauce Bold"/>
              </a:rPr>
              <a:t>Repet</a:t>
            </a:r>
            <a:r>
              <a:rPr lang="en-US" b="true" sz="2051" spc="-4" u="none">
                <a:solidFill>
                  <a:srgbClr val="FBF6F1"/>
                </a:solidFill>
                <a:latin typeface="Open Sauce Bold"/>
                <a:ea typeface="Open Sauce Bold"/>
                <a:cs typeface="Open Sauce Bold"/>
                <a:sym typeface="Open Sauce Bold"/>
              </a:rPr>
              <a:t>itive Workload for HR Teams</a:t>
            </a:r>
          </a:p>
        </p:txBody>
      </p:sp>
      <p:sp>
        <p:nvSpPr>
          <p:cNvPr name="TextBox 32" id="32"/>
          <p:cNvSpPr txBox="true"/>
          <p:nvPr/>
        </p:nvSpPr>
        <p:spPr>
          <a:xfrm rot="0">
            <a:off x="11986166" y="7300568"/>
            <a:ext cx="5090313" cy="403145"/>
          </a:xfrm>
          <a:prstGeom prst="rect">
            <a:avLst/>
          </a:prstGeom>
        </p:spPr>
        <p:txBody>
          <a:bodyPr anchor="t" rtlCol="false" tIns="0" lIns="0" bIns="0" rIns="0">
            <a:spAutoFit/>
          </a:bodyPr>
          <a:lstStyle/>
          <a:p>
            <a:pPr algn="l" marL="0" indent="0" lvl="0">
              <a:lnSpc>
                <a:spcPts val="3487"/>
              </a:lnSpc>
            </a:pPr>
            <a:r>
              <a:rPr lang="en-US" b="true" sz="2051" spc="-4">
                <a:solidFill>
                  <a:srgbClr val="FBF6F1"/>
                </a:solidFill>
                <a:latin typeface="Open Sauce Bold"/>
                <a:ea typeface="Open Sauce Bold"/>
                <a:cs typeface="Open Sauce Bold"/>
                <a:sym typeface="Open Sauce Bold"/>
              </a:rPr>
              <a:t>Lack of Intell</a:t>
            </a:r>
            <a:r>
              <a:rPr lang="en-US" b="true" sz="2051" spc="-4" u="none">
                <a:solidFill>
                  <a:srgbClr val="FBF6F1"/>
                </a:solidFill>
                <a:latin typeface="Open Sauce Bold"/>
                <a:ea typeface="Open Sauce Bold"/>
                <a:cs typeface="Open Sauce Bold"/>
                <a:sym typeface="Open Sauce Bold"/>
              </a:rPr>
              <a:t>igent Search Support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grpSp>
        <p:nvGrpSpPr>
          <p:cNvPr name="Group 3" id="3"/>
          <p:cNvGrpSpPr/>
          <p:nvPr/>
        </p:nvGrpSpPr>
        <p:grpSpPr>
          <a:xfrm rot="0">
            <a:off x="775837" y="757775"/>
            <a:ext cx="16736327" cy="8771450"/>
            <a:chOff x="0" y="0"/>
            <a:chExt cx="4407921" cy="2310176"/>
          </a:xfrm>
        </p:grpSpPr>
        <p:sp>
          <p:nvSpPr>
            <p:cNvPr name="Freeform 4" id="4"/>
            <p:cNvSpPr/>
            <p:nvPr/>
          </p:nvSpPr>
          <p:spPr>
            <a:xfrm flipH="false" flipV="false" rot="0">
              <a:off x="0" y="0"/>
              <a:ext cx="4407921" cy="2310176"/>
            </a:xfrm>
            <a:custGeom>
              <a:avLst/>
              <a:gdLst/>
              <a:ahLst/>
              <a:cxnLst/>
              <a:rect r="r" b="b" t="t" l="l"/>
              <a:pathLst>
                <a:path h="2310176" w="4407921">
                  <a:moveTo>
                    <a:pt x="16190" y="0"/>
                  </a:moveTo>
                  <a:lnTo>
                    <a:pt x="4391731" y="0"/>
                  </a:lnTo>
                  <a:cubicBezTo>
                    <a:pt x="4400672" y="0"/>
                    <a:pt x="4407921" y="7249"/>
                    <a:pt x="4407921" y="16190"/>
                  </a:cubicBezTo>
                  <a:lnTo>
                    <a:pt x="4407921" y="2293986"/>
                  </a:lnTo>
                  <a:cubicBezTo>
                    <a:pt x="4407921" y="2302927"/>
                    <a:pt x="4400672" y="2310176"/>
                    <a:pt x="4391731" y="2310176"/>
                  </a:cubicBezTo>
                  <a:lnTo>
                    <a:pt x="16190" y="2310176"/>
                  </a:lnTo>
                  <a:cubicBezTo>
                    <a:pt x="7249" y="2310176"/>
                    <a:pt x="0" y="2302927"/>
                    <a:pt x="0" y="2293986"/>
                  </a:cubicBezTo>
                  <a:lnTo>
                    <a:pt x="0" y="16190"/>
                  </a:lnTo>
                  <a:cubicBezTo>
                    <a:pt x="0" y="7249"/>
                    <a:pt x="7249" y="0"/>
                    <a:pt x="16190" y="0"/>
                  </a:cubicBezTo>
                  <a:close/>
                </a:path>
              </a:pathLst>
            </a:custGeom>
            <a:solidFill>
              <a:srgbClr val="BBD6E1"/>
            </a:solidFill>
          </p:spPr>
        </p:sp>
        <p:sp>
          <p:nvSpPr>
            <p:cNvPr name="TextBox 5" id="5"/>
            <p:cNvSpPr txBox="true"/>
            <p:nvPr/>
          </p:nvSpPr>
          <p:spPr>
            <a:xfrm>
              <a:off x="0" y="-38100"/>
              <a:ext cx="4407921" cy="2348276"/>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flipV="true">
            <a:off x="10070739" y="757775"/>
            <a:ext cx="0" cy="8771450"/>
          </a:xfrm>
          <a:prstGeom prst="line">
            <a:avLst/>
          </a:prstGeom>
          <a:ln cap="flat" w="38100">
            <a:solidFill>
              <a:srgbClr val="185079"/>
            </a:solidFill>
            <a:prstDash val="solid"/>
            <a:headEnd type="none" len="sm" w="sm"/>
            <a:tailEnd type="none" len="sm" w="sm"/>
          </a:ln>
        </p:spPr>
      </p:sp>
      <p:grpSp>
        <p:nvGrpSpPr>
          <p:cNvPr name="Group 7" id="7"/>
          <p:cNvGrpSpPr/>
          <p:nvPr/>
        </p:nvGrpSpPr>
        <p:grpSpPr>
          <a:xfrm rot="0">
            <a:off x="9979541" y="1980473"/>
            <a:ext cx="182395" cy="18239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5079"/>
            </a:solidFill>
          </p:spPr>
        </p:sp>
        <p:sp>
          <p:nvSpPr>
            <p:cNvPr name="TextBox 9" id="9"/>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sp>
        <p:nvSpPr>
          <p:cNvPr name="TextBox 10" id="10"/>
          <p:cNvSpPr txBox="true"/>
          <p:nvPr/>
        </p:nvSpPr>
        <p:spPr>
          <a:xfrm rot="0">
            <a:off x="11005331" y="2518932"/>
            <a:ext cx="6011532" cy="1533940"/>
          </a:xfrm>
          <a:prstGeom prst="rect">
            <a:avLst/>
          </a:prstGeom>
        </p:spPr>
        <p:txBody>
          <a:bodyPr anchor="t" rtlCol="false" tIns="0" lIns="0" bIns="0" rIns="0">
            <a:spAutoFit/>
          </a:bodyPr>
          <a:lstStyle/>
          <a:p>
            <a:pPr algn="just" marL="0" indent="0" lvl="0">
              <a:lnSpc>
                <a:spcPts val="2077"/>
              </a:lnSpc>
            </a:pPr>
            <a:r>
              <a:rPr lang="en-US" b="true" sz="1483" spc="89">
                <a:solidFill>
                  <a:srgbClr val="185079"/>
                </a:solidFill>
                <a:latin typeface="Open Sauce Medium"/>
                <a:ea typeface="Open Sauce Medium"/>
                <a:cs typeface="Open Sauce Medium"/>
                <a:sym typeface="Open Sauce Medium"/>
              </a:rPr>
              <a:t>Th</a:t>
            </a:r>
            <a:r>
              <a:rPr lang="en-US" b="true" sz="1483" spc="89" u="none">
                <a:solidFill>
                  <a:srgbClr val="185079"/>
                </a:solidFill>
                <a:latin typeface="Open Sauce Medium"/>
                <a:ea typeface="Open Sauce Medium"/>
                <a:cs typeface="Open Sauce Medium"/>
                <a:sym typeface="Open Sauce Medium"/>
              </a:rPr>
              <a:t>e HR RAG Assistant acts as an intelligent virtual HR assistant that helps employees access HR-related information quickly and easily. Users can ask questions in a conversational format, and the chatbot provides instant responses related to leave policies, payroll, attendance, work-from-home guidelines, and other HR topics.</a:t>
            </a:r>
          </a:p>
        </p:txBody>
      </p:sp>
      <p:sp>
        <p:nvSpPr>
          <p:cNvPr name="TextBox 11" id="11"/>
          <p:cNvSpPr txBox="true"/>
          <p:nvPr/>
        </p:nvSpPr>
        <p:spPr>
          <a:xfrm rot="0">
            <a:off x="11043431" y="4952854"/>
            <a:ext cx="6011532" cy="1276858"/>
          </a:xfrm>
          <a:prstGeom prst="rect">
            <a:avLst/>
          </a:prstGeom>
        </p:spPr>
        <p:txBody>
          <a:bodyPr anchor="t" rtlCol="false" tIns="0" lIns="0" bIns="0" rIns="0">
            <a:spAutoFit/>
          </a:bodyPr>
          <a:lstStyle/>
          <a:p>
            <a:pPr algn="just" marL="0" indent="0" lvl="0">
              <a:lnSpc>
                <a:spcPts val="2071"/>
              </a:lnSpc>
            </a:pPr>
            <a:r>
              <a:rPr lang="en-US" b="true" sz="1479" spc="88">
                <a:solidFill>
                  <a:srgbClr val="185079"/>
                </a:solidFill>
                <a:latin typeface="Open Sauce Medium"/>
                <a:ea typeface="Open Sauce Medium"/>
                <a:cs typeface="Open Sauce Medium"/>
                <a:sym typeface="Open Sauce Medium"/>
              </a:rPr>
              <a:t>The syst</a:t>
            </a:r>
            <a:r>
              <a:rPr lang="en-US" b="true" sz="1479" spc="88" u="none">
                <a:solidFill>
                  <a:srgbClr val="185079"/>
                </a:solidFill>
                <a:latin typeface="Open Sauce Medium"/>
                <a:ea typeface="Open Sauce Medium"/>
                <a:cs typeface="Open Sauce Medium"/>
                <a:sym typeface="Open Sauce Medium"/>
              </a:rPr>
              <a:t>em uses advanced retrieval techniques and FAISS vector search to efficiently search through HR policy documents and retrieve the most relevant information within seconds. Instead of manually browsing lengthy documents, </a:t>
            </a:r>
          </a:p>
        </p:txBody>
      </p:sp>
      <p:sp>
        <p:nvSpPr>
          <p:cNvPr name="TextBox 12" id="12"/>
          <p:cNvSpPr txBox="true"/>
          <p:nvPr/>
        </p:nvSpPr>
        <p:spPr>
          <a:xfrm rot="0">
            <a:off x="11053536" y="7205565"/>
            <a:ext cx="6275230" cy="1534033"/>
          </a:xfrm>
          <a:prstGeom prst="rect">
            <a:avLst/>
          </a:prstGeom>
        </p:spPr>
        <p:txBody>
          <a:bodyPr anchor="t" rtlCol="false" tIns="0" lIns="0" bIns="0" rIns="0">
            <a:spAutoFit/>
          </a:bodyPr>
          <a:lstStyle/>
          <a:p>
            <a:pPr algn="just" marL="0" indent="0" lvl="0">
              <a:lnSpc>
                <a:spcPts val="2071"/>
              </a:lnSpc>
            </a:pPr>
            <a:r>
              <a:rPr lang="en-US" b="true" sz="1479" spc="88">
                <a:solidFill>
                  <a:srgbClr val="185079"/>
                </a:solidFill>
                <a:latin typeface="Open Sauce Medium"/>
                <a:ea typeface="Open Sauce Medium"/>
                <a:cs typeface="Open Sauce Medium"/>
                <a:sym typeface="Open Sauce Medium"/>
              </a:rPr>
              <a:t>Unlike traditi</a:t>
            </a:r>
            <a:r>
              <a:rPr lang="en-US" b="true" sz="1479" spc="88" u="none">
                <a:solidFill>
                  <a:srgbClr val="185079"/>
                </a:solidFill>
                <a:latin typeface="Open Sauce Medium"/>
                <a:ea typeface="Open Sauce Medium"/>
                <a:cs typeface="Open Sauce Medium"/>
                <a:sym typeface="Open Sauce Medium"/>
              </a:rPr>
              <a:t>onal search systems that rely only on keywords, the HR RAG Assistant understands the intent and context behind employee queries. It analyzes the user’s question and generates accurate, meaningful, and relevant responses based on the retrieved HR policy information, ensuring better accuracy and user satisfaction.</a:t>
            </a:r>
          </a:p>
        </p:txBody>
      </p:sp>
      <p:grpSp>
        <p:nvGrpSpPr>
          <p:cNvPr name="Group 13" id="13"/>
          <p:cNvGrpSpPr/>
          <p:nvPr/>
        </p:nvGrpSpPr>
        <p:grpSpPr>
          <a:xfrm rot="0">
            <a:off x="9979541" y="4433499"/>
            <a:ext cx="182395" cy="18239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5079"/>
            </a:solidFill>
          </p:spPr>
        </p:sp>
        <p:sp>
          <p:nvSpPr>
            <p:cNvPr name="TextBox 15" id="15"/>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16" id="16"/>
          <p:cNvGrpSpPr/>
          <p:nvPr/>
        </p:nvGrpSpPr>
        <p:grpSpPr>
          <a:xfrm rot="0">
            <a:off x="9979541" y="6890075"/>
            <a:ext cx="182395" cy="18239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5079"/>
            </a:solidFill>
          </p:spPr>
        </p:sp>
        <p:sp>
          <p:nvSpPr>
            <p:cNvPr name="TextBox 18" id="18"/>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sp>
        <p:nvSpPr>
          <p:cNvPr name="TextBox 19" id="19"/>
          <p:cNvSpPr txBox="true"/>
          <p:nvPr/>
        </p:nvSpPr>
        <p:spPr>
          <a:xfrm rot="0">
            <a:off x="2076264" y="2725480"/>
            <a:ext cx="6737800" cy="2193497"/>
          </a:xfrm>
          <a:prstGeom prst="rect">
            <a:avLst/>
          </a:prstGeom>
        </p:spPr>
        <p:txBody>
          <a:bodyPr anchor="t" rtlCol="false" tIns="0" lIns="0" bIns="0" rIns="0">
            <a:spAutoFit/>
          </a:bodyPr>
          <a:lstStyle/>
          <a:p>
            <a:pPr algn="l"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OU</a:t>
            </a:r>
            <a:r>
              <a:rPr lang="en-US" b="true" sz="7917" spc="-467" strike="noStrike" u="none">
                <a:solidFill>
                  <a:srgbClr val="185079"/>
                </a:solidFill>
                <a:latin typeface="Open Sauce Semi-Bold"/>
                <a:ea typeface="Open Sauce Semi-Bold"/>
                <a:cs typeface="Open Sauce Semi-Bold"/>
                <a:sym typeface="Open Sauce Semi-Bold"/>
              </a:rPr>
              <a:t>R SOLUT</a:t>
            </a:r>
            <a:r>
              <a:rPr lang="en-US" b="true" sz="7917" spc="-467" strike="noStrike" u="none">
                <a:solidFill>
                  <a:srgbClr val="185079"/>
                </a:solidFill>
                <a:latin typeface="Open Sauce Semi-Bold"/>
                <a:ea typeface="Open Sauce Semi-Bold"/>
                <a:cs typeface="Open Sauce Semi-Bold"/>
                <a:sym typeface="Open Sauce Semi-Bold"/>
              </a:rPr>
              <a:t>IO</a:t>
            </a:r>
            <a:r>
              <a:rPr lang="en-US" b="true" sz="7917" spc="-467" strike="noStrike" u="none">
                <a:solidFill>
                  <a:srgbClr val="185079"/>
                </a:solidFill>
                <a:latin typeface="Open Sauce Semi-Bold"/>
                <a:ea typeface="Open Sauce Semi-Bold"/>
                <a:cs typeface="Open Sauce Semi-Bold"/>
                <a:sym typeface="Open Sauce Semi-Bold"/>
              </a:rPr>
              <a:t>N</a:t>
            </a:r>
          </a:p>
        </p:txBody>
      </p:sp>
      <p:sp>
        <p:nvSpPr>
          <p:cNvPr name="TextBox 20" id="20"/>
          <p:cNvSpPr txBox="true"/>
          <p:nvPr/>
        </p:nvSpPr>
        <p:spPr>
          <a:xfrm rot="0">
            <a:off x="2076264" y="5149790"/>
            <a:ext cx="7067736" cy="1878330"/>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185079"/>
                </a:solidFill>
                <a:latin typeface="Open Sauce Bold"/>
                <a:ea typeface="Open Sauce Bold"/>
                <a:cs typeface="Open Sauce Bold"/>
                <a:sym typeface="Open Sauce Bold"/>
              </a:rPr>
              <a:t>T</a:t>
            </a:r>
            <a:r>
              <a:rPr lang="en-US" b="true" sz="1800" strike="noStrike" u="none">
                <a:solidFill>
                  <a:srgbClr val="185079"/>
                </a:solidFill>
                <a:latin typeface="Open Sauce Bold"/>
                <a:ea typeface="Open Sauce Bold"/>
                <a:cs typeface="Open Sauce Bold"/>
                <a:sym typeface="Open Sauce Bold"/>
              </a:rPr>
              <a:t>o o</a:t>
            </a:r>
            <a:r>
              <a:rPr lang="en-US" b="true" sz="1800" strike="noStrike" u="none">
                <a:solidFill>
                  <a:srgbClr val="185079"/>
                </a:solidFill>
                <a:latin typeface="Open Sauce Bold"/>
                <a:ea typeface="Open Sauce Bold"/>
                <a:cs typeface="Open Sauce Bold"/>
                <a:sym typeface="Open Sauce Bold"/>
              </a:rPr>
              <a:t>verc</a:t>
            </a:r>
            <a:r>
              <a:rPr lang="en-US" b="true" sz="1800" strike="noStrike" u="none">
                <a:solidFill>
                  <a:srgbClr val="185079"/>
                </a:solidFill>
                <a:latin typeface="Open Sauce Bold"/>
                <a:ea typeface="Open Sauce Bold"/>
                <a:cs typeface="Open Sauce Bold"/>
                <a:sym typeface="Open Sauce Bold"/>
              </a:rPr>
              <a:t>o</a:t>
            </a:r>
            <a:r>
              <a:rPr lang="en-US" b="true" sz="1800" strike="noStrike" u="none">
                <a:solidFill>
                  <a:srgbClr val="185079"/>
                </a:solidFill>
                <a:latin typeface="Open Sauce Bold"/>
                <a:ea typeface="Open Sauce Bold"/>
                <a:cs typeface="Open Sauce Bold"/>
                <a:sym typeface="Open Sauce Bold"/>
              </a:rPr>
              <a:t>me</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the</a:t>
            </a:r>
            <a:r>
              <a:rPr lang="en-US" b="true" sz="1800" strike="noStrike" u="none">
                <a:solidFill>
                  <a:srgbClr val="185079"/>
                </a:solidFill>
                <a:latin typeface="Open Sauce Bold"/>
                <a:ea typeface="Open Sauce Bold"/>
                <a:cs typeface="Open Sauce Bold"/>
                <a:sym typeface="Open Sauce Bold"/>
              </a:rPr>
              <a:t>s</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ch</a:t>
            </a:r>
            <a:r>
              <a:rPr lang="en-US" b="true" sz="1800" strike="noStrike" u="none">
                <a:solidFill>
                  <a:srgbClr val="185079"/>
                </a:solidFill>
                <a:latin typeface="Open Sauce Bold"/>
                <a:ea typeface="Open Sauce Bold"/>
                <a:cs typeface="Open Sauce Bold"/>
                <a:sym typeface="Open Sauce Bold"/>
              </a:rPr>
              <a:t>a</a:t>
            </a:r>
            <a:r>
              <a:rPr lang="en-US" b="true" sz="1800" strike="noStrike" u="none">
                <a:solidFill>
                  <a:srgbClr val="185079"/>
                </a:solidFill>
                <a:latin typeface="Open Sauce Bold"/>
                <a:ea typeface="Open Sauce Bold"/>
                <a:cs typeface="Open Sauce Bold"/>
                <a:sym typeface="Open Sauce Bold"/>
              </a:rPr>
              <a:t>lleng</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s</a:t>
            </a:r>
            <a:r>
              <a:rPr lang="en-US" b="true" sz="1800" strike="noStrike" u="none">
                <a:solidFill>
                  <a:srgbClr val="185079"/>
                </a:solidFill>
                <a:latin typeface="Open Sauce Bold"/>
                <a:ea typeface="Open Sauce Bold"/>
                <a:cs typeface="Open Sauce Bold"/>
                <a:sym typeface="Open Sauce Bold"/>
              </a:rPr>
              <a:t>, t</a:t>
            </a:r>
            <a:r>
              <a:rPr lang="en-US" b="true" sz="1800" strike="noStrike" u="none">
                <a:solidFill>
                  <a:srgbClr val="185079"/>
                </a:solidFill>
                <a:latin typeface="Open Sauce Bold"/>
                <a:ea typeface="Open Sauce Bold"/>
                <a:cs typeface="Open Sauce Bold"/>
                <a:sym typeface="Open Sauce Bold"/>
              </a:rPr>
              <a:t>h</a:t>
            </a:r>
            <a:r>
              <a:rPr lang="en-US" b="true" sz="1800" strike="noStrike" u="none">
                <a:solidFill>
                  <a:srgbClr val="185079"/>
                </a:solidFill>
                <a:latin typeface="Open Sauce Bold"/>
                <a:ea typeface="Open Sauce Bold"/>
                <a:cs typeface="Open Sauce Bold"/>
                <a:sym typeface="Open Sauce Bold"/>
              </a:rPr>
              <a:t>e </a:t>
            </a:r>
            <a:r>
              <a:rPr lang="en-US" b="true" sz="1800" strike="noStrike" u="none">
                <a:solidFill>
                  <a:srgbClr val="185079"/>
                </a:solidFill>
                <a:latin typeface="Open Sauce Bold"/>
                <a:ea typeface="Open Sauce Bold"/>
                <a:cs typeface="Open Sauce Bold"/>
                <a:sym typeface="Open Sauce Bold"/>
              </a:rPr>
              <a:t>HR RAG Ass</a:t>
            </a:r>
            <a:r>
              <a:rPr lang="en-US" b="true" sz="1800" strike="noStrike" u="none">
                <a:solidFill>
                  <a:srgbClr val="185079"/>
                </a:solidFill>
                <a:latin typeface="Open Sauce Bold"/>
                <a:ea typeface="Open Sauce Bold"/>
                <a:cs typeface="Open Sauce Bold"/>
                <a:sym typeface="Open Sauce Bold"/>
              </a:rPr>
              <a:t>is</a:t>
            </a:r>
            <a:r>
              <a:rPr lang="en-US" b="true" sz="1800" strike="noStrike" u="none">
                <a:solidFill>
                  <a:srgbClr val="185079"/>
                </a:solidFill>
                <a:latin typeface="Open Sauce Bold"/>
                <a:ea typeface="Open Sauce Bold"/>
                <a:cs typeface="Open Sauce Bold"/>
                <a:sym typeface="Open Sauce Bold"/>
              </a:rPr>
              <a:t>ta</a:t>
            </a:r>
            <a:r>
              <a:rPr lang="en-US" b="true" sz="1800" strike="noStrike" u="none">
                <a:solidFill>
                  <a:srgbClr val="185079"/>
                </a:solidFill>
                <a:latin typeface="Open Sauce Bold"/>
                <a:ea typeface="Open Sauce Bold"/>
                <a:cs typeface="Open Sauce Bold"/>
                <a:sym typeface="Open Sauce Bold"/>
              </a:rPr>
              <a:t>nt </a:t>
            </a:r>
            <a:r>
              <a:rPr lang="en-US" b="true" sz="1800" strike="noStrike" u="none">
                <a:solidFill>
                  <a:srgbClr val="185079"/>
                </a:solidFill>
                <a:latin typeface="Open Sauce Bold"/>
                <a:ea typeface="Open Sauce Bold"/>
                <a:cs typeface="Open Sauce Bold"/>
                <a:sym typeface="Open Sauce Bold"/>
              </a:rPr>
              <a:t>wa</a:t>
            </a:r>
            <a:r>
              <a:rPr lang="en-US" b="true" sz="1800" strike="noStrike" u="none">
                <a:solidFill>
                  <a:srgbClr val="185079"/>
                </a:solidFill>
                <a:latin typeface="Open Sauce Bold"/>
                <a:ea typeface="Open Sauce Bold"/>
                <a:cs typeface="Open Sauce Bold"/>
                <a:sym typeface="Open Sauce Bold"/>
              </a:rPr>
              <a:t>s de</a:t>
            </a:r>
            <a:r>
              <a:rPr lang="en-US" b="true" sz="1800" strike="noStrike" u="none">
                <a:solidFill>
                  <a:srgbClr val="185079"/>
                </a:solidFill>
                <a:latin typeface="Open Sauce Bold"/>
                <a:ea typeface="Open Sauce Bold"/>
                <a:cs typeface="Open Sauce Bold"/>
                <a:sym typeface="Open Sauce Bold"/>
              </a:rPr>
              <a:t>vel</a:t>
            </a:r>
            <a:r>
              <a:rPr lang="en-US" b="true" sz="1800" strike="noStrike" u="none">
                <a:solidFill>
                  <a:srgbClr val="185079"/>
                </a:solidFill>
                <a:latin typeface="Open Sauce Bold"/>
                <a:ea typeface="Open Sauce Bold"/>
                <a:cs typeface="Open Sauce Bold"/>
                <a:sym typeface="Open Sauce Bold"/>
              </a:rPr>
              <a:t>o</a:t>
            </a:r>
            <a:r>
              <a:rPr lang="en-US" b="true" sz="1800" strike="noStrike" u="none">
                <a:solidFill>
                  <a:srgbClr val="185079"/>
                </a:solidFill>
                <a:latin typeface="Open Sauce Bold"/>
                <a:ea typeface="Open Sauce Bold"/>
                <a:cs typeface="Open Sauce Bold"/>
                <a:sym typeface="Open Sauce Bold"/>
              </a:rPr>
              <a:t>pe</a:t>
            </a:r>
            <a:r>
              <a:rPr lang="en-US" b="true" sz="1800" strike="noStrike" u="none">
                <a:solidFill>
                  <a:srgbClr val="185079"/>
                </a:solidFill>
                <a:latin typeface="Open Sauce Bold"/>
                <a:ea typeface="Open Sauce Bold"/>
                <a:cs typeface="Open Sauce Bold"/>
                <a:sym typeface="Open Sauce Bold"/>
              </a:rPr>
              <a:t>d </a:t>
            </a:r>
            <a:r>
              <a:rPr lang="en-US" b="true" sz="1800" strike="noStrike" u="none">
                <a:solidFill>
                  <a:srgbClr val="185079"/>
                </a:solidFill>
                <a:latin typeface="Open Sauce Bold"/>
                <a:ea typeface="Open Sauce Bold"/>
                <a:cs typeface="Open Sauce Bold"/>
                <a:sym typeface="Open Sauce Bold"/>
              </a:rPr>
              <a:t>as an AI-</a:t>
            </a:r>
            <a:r>
              <a:rPr lang="en-US" b="true" sz="1800" strike="noStrike" u="none">
                <a:solidFill>
                  <a:srgbClr val="185079"/>
                </a:solidFill>
                <a:latin typeface="Open Sauce Bold"/>
                <a:ea typeface="Open Sauce Bold"/>
                <a:cs typeface="Open Sauce Bold"/>
                <a:sym typeface="Open Sauce Bold"/>
              </a:rPr>
              <a:t>po</a:t>
            </a:r>
            <a:r>
              <a:rPr lang="en-US" b="true" sz="1800" strike="noStrike" u="none">
                <a:solidFill>
                  <a:srgbClr val="185079"/>
                </a:solidFill>
                <a:latin typeface="Open Sauce Bold"/>
                <a:ea typeface="Open Sauce Bold"/>
                <a:cs typeface="Open Sauce Bold"/>
                <a:sym typeface="Open Sauce Bold"/>
              </a:rPr>
              <a:t>we</a:t>
            </a:r>
            <a:r>
              <a:rPr lang="en-US" b="true" sz="1800" strike="noStrike" u="none">
                <a:solidFill>
                  <a:srgbClr val="185079"/>
                </a:solidFill>
                <a:latin typeface="Open Sauce Bold"/>
                <a:ea typeface="Open Sauce Bold"/>
                <a:cs typeface="Open Sauce Bold"/>
                <a:sym typeface="Open Sauce Bold"/>
              </a:rPr>
              <a:t>r</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d </a:t>
            </a:r>
            <a:r>
              <a:rPr lang="en-US" b="true" sz="1800" strike="noStrike" u="none">
                <a:solidFill>
                  <a:srgbClr val="185079"/>
                </a:solidFill>
                <a:latin typeface="Open Sauce Bold"/>
                <a:ea typeface="Open Sauce Bold"/>
                <a:cs typeface="Open Sauce Bold"/>
                <a:sym typeface="Open Sauce Bold"/>
              </a:rPr>
              <a:t>cha</a:t>
            </a:r>
            <a:r>
              <a:rPr lang="en-US" b="true" sz="1800" strike="noStrike" u="none">
                <a:solidFill>
                  <a:srgbClr val="185079"/>
                </a:solidFill>
                <a:latin typeface="Open Sauce Bold"/>
                <a:ea typeface="Open Sauce Bold"/>
                <a:cs typeface="Open Sauce Bold"/>
                <a:sym typeface="Open Sauce Bold"/>
              </a:rPr>
              <a:t>tbo</a:t>
            </a:r>
            <a:r>
              <a:rPr lang="en-US" b="true" sz="1800" strike="noStrike" u="none">
                <a:solidFill>
                  <a:srgbClr val="185079"/>
                </a:solidFill>
                <a:latin typeface="Open Sauce Bold"/>
                <a:ea typeface="Open Sauce Bold"/>
                <a:cs typeface="Open Sauce Bold"/>
                <a:sym typeface="Open Sauce Bold"/>
              </a:rPr>
              <a:t>t</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sys</a:t>
            </a:r>
            <a:r>
              <a:rPr lang="en-US" b="true" sz="1800" strike="noStrike" u="none">
                <a:solidFill>
                  <a:srgbClr val="185079"/>
                </a:solidFill>
                <a:latin typeface="Open Sauce Bold"/>
                <a:ea typeface="Open Sauce Bold"/>
                <a:cs typeface="Open Sauce Bold"/>
                <a:sym typeface="Open Sauce Bold"/>
              </a:rPr>
              <a:t>tem </a:t>
            </a:r>
            <a:r>
              <a:rPr lang="en-US" b="true" sz="1800" strike="noStrike" u="none">
                <a:solidFill>
                  <a:srgbClr val="185079"/>
                </a:solidFill>
                <a:latin typeface="Open Sauce Bold"/>
                <a:ea typeface="Open Sauce Bold"/>
                <a:cs typeface="Open Sauce Bold"/>
                <a:sym typeface="Open Sauce Bold"/>
              </a:rPr>
              <a:t>th</a:t>
            </a:r>
            <a:r>
              <a:rPr lang="en-US" b="true" sz="1800" strike="noStrike" u="none">
                <a:solidFill>
                  <a:srgbClr val="185079"/>
                </a:solidFill>
                <a:latin typeface="Open Sauce Bold"/>
                <a:ea typeface="Open Sauce Bold"/>
                <a:cs typeface="Open Sauce Bold"/>
                <a:sym typeface="Open Sauce Bold"/>
              </a:rPr>
              <a:t>at </a:t>
            </a:r>
            <a:r>
              <a:rPr lang="en-US" b="true" sz="1800" strike="noStrike" u="none">
                <a:solidFill>
                  <a:srgbClr val="185079"/>
                </a:solidFill>
                <a:latin typeface="Open Sauce Bold"/>
                <a:ea typeface="Open Sauce Bold"/>
                <a:cs typeface="Open Sauce Bold"/>
                <a:sym typeface="Open Sauce Bold"/>
              </a:rPr>
              <a:t>prov</a:t>
            </a:r>
            <a:r>
              <a:rPr lang="en-US" b="true" sz="1800" strike="noStrike" u="none">
                <a:solidFill>
                  <a:srgbClr val="185079"/>
                </a:solidFill>
                <a:latin typeface="Open Sauce Bold"/>
                <a:ea typeface="Open Sauce Bold"/>
                <a:cs typeface="Open Sauce Bold"/>
                <a:sym typeface="Open Sauce Bold"/>
              </a:rPr>
              <a:t>ides </a:t>
            </a:r>
            <a:r>
              <a:rPr lang="en-US" b="true" sz="1800" strike="noStrike" u="none">
                <a:solidFill>
                  <a:srgbClr val="185079"/>
                </a:solidFill>
                <a:latin typeface="Open Sauce Bold"/>
                <a:ea typeface="Open Sauce Bold"/>
                <a:cs typeface="Open Sauce Bold"/>
                <a:sym typeface="Open Sauce Bold"/>
              </a:rPr>
              <a:t>i</a:t>
            </a:r>
            <a:r>
              <a:rPr lang="en-US" b="true" sz="1800" strike="noStrike" u="none">
                <a:solidFill>
                  <a:srgbClr val="185079"/>
                </a:solidFill>
                <a:latin typeface="Open Sauce Bold"/>
                <a:ea typeface="Open Sauce Bold"/>
                <a:cs typeface="Open Sauce Bold"/>
                <a:sym typeface="Open Sauce Bold"/>
              </a:rPr>
              <a:t>nstan</a:t>
            </a:r>
            <a:r>
              <a:rPr lang="en-US" b="true" sz="1800" strike="noStrike" u="none">
                <a:solidFill>
                  <a:srgbClr val="185079"/>
                </a:solidFill>
                <a:latin typeface="Open Sauce Bold"/>
                <a:ea typeface="Open Sauce Bold"/>
                <a:cs typeface="Open Sauce Bold"/>
                <a:sym typeface="Open Sauce Bold"/>
              </a:rPr>
              <a:t>t</a:t>
            </a:r>
            <a:r>
              <a:rPr lang="en-US" b="true" sz="1800" strike="noStrike" u="none">
                <a:solidFill>
                  <a:srgbClr val="185079"/>
                </a:solidFill>
                <a:latin typeface="Open Sauce Bold"/>
                <a:ea typeface="Open Sauce Bold"/>
                <a:cs typeface="Open Sauce Bold"/>
                <a:sym typeface="Open Sauce Bold"/>
              </a:rPr>
              <a:t> a</a:t>
            </a:r>
            <a:r>
              <a:rPr lang="en-US" b="true" sz="1800" strike="noStrike" u="none">
                <a:solidFill>
                  <a:srgbClr val="185079"/>
                </a:solidFill>
                <a:latin typeface="Open Sauce Bold"/>
                <a:ea typeface="Open Sauce Bold"/>
                <a:cs typeface="Open Sauce Bold"/>
                <a:sym typeface="Open Sauce Bold"/>
              </a:rPr>
              <a:t>nd</a:t>
            </a:r>
            <a:r>
              <a:rPr lang="en-US" b="true" sz="1800" strike="noStrike" u="none">
                <a:solidFill>
                  <a:srgbClr val="185079"/>
                </a:solidFill>
                <a:latin typeface="Open Sauce Bold"/>
                <a:ea typeface="Open Sauce Bold"/>
                <a:cs typeface="Open Sauce Bold"/>
                <a:sym typeface="Open Sauce Bold"/>
              </a:rPr>
              <a:t> int</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l</a:t>
            </a:r>
            <a:r>
              <a:rPr lang="en-US" b="true" sz="1800" strike="noStrike" u="none">
                <a:solidFill>
                  <a:srgbClr val="185079"/>
                </a:solidFill>
                <a:latin typeface="Open Sauce Bold"/>
                <a:ea typeface="Open Sauce Bold"/>
                <a:cs typeface="Open Sauce Bold"/>
                <a:sym typeface="Open Sauce Bold"/>
              </a:rPr>
              <a:t>l</a:t>
            </a:r>
            <a:r>
              <a:rPr lang="en-US" b="true" sz="1800" strike="noStrike" u="none">
                <a:solidFill>
                  <a:srgbClr val="185079"/>
                </a:solidFill>
                <a:latin typeface="Open Sauce Bold"/>
                <a:ea typeface="Open Sauce Bold"/>
                <a:cs typeface="Open Sauce Bold"/>
                <a:sym typeface="Open Sauce Bold"/>
              </a:rPr>
              <a:t>i</a:t>
            </a:r>
            <a:r>
              <a:rPr lang="en-US" b="true" sz="1800" strike="noStrike" u="none">
                <a:solidFill>
                  <a:srgbClr val="185079"/>
                </a:solidFill>
                <a:latin typeface="Open Sauce Bold"/>
                <a:ea typeface="Open Sauce Bold"/>
                <a:cs typeface="Open Sauce Bold"/>
                <a:sym typeface="Open Sauce Bold"/>
              </a:rPr>
              <a:t>g</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nt</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HR</a:t>
            </a:r>
            <a:r>
              <a:rPr lang="en-US" b="true" sz="1800" strike="noStrike" u="none">
                <a:solidFill>
                  <a:srgbClr val="185079"/>
                </a:solidFill>
                <a:latin typeface="Open Sauce Bold"/>
                <a:ea typeface="Open Sauce Bold"/>
                <a:cs typeface="Open Sauce Bold"/>
                <a:sym typeface="Open Sauce Bold"/>
              </a:rPr>
              <a:t> su</a:t>
            </a:r>
            <a:r>
              <a:rPr lang="en-US" b="true" sz="1800" strike="noStrike" u="none">
                <a:solidFill>
                  <a:srgbClr val="185079"/>
                </a:solidFill>
                <a:latin typeface="Open Sauce Bold"/>
                <a:ea typeface="Open Sauce Bold"/>
                <a:cs typeface="Open Sauce Bold"/>
                <a:sym typeface="Open Sauce Bold"/>
              </a:rPr>
              <a:t>ppor</a:t>
            </a:r>
            <a:r>
              <a:rPr lang="en-US" b="true" sz="1800" strike="noStrike" u="none">
                <a:solidFill>
                  <a:srgbClr val="185079"/>
                </a:solidFill>
                <a:latin typeface="Open Sauce Bold"/>
                <a:ea typeface="Open Sauce Bold"/>
                <a:cs typeface="Open Sauce Bold"/>
                <a:sym typeface="Open Sauce Bold"/>
              </a:rPr>
              <a:t>t. </a:t>
            </a:r>
            <a:r>
              <a:rPr lang="en-US" b="true" sz="1800" strike="noStrike" u="none">
                <a:solidFill>
                  <a:srgbClr val="185079"/>
                </a:solidFill>
                <a:latin typeface="Open Sauce Bold"/>
                <a:ea typeface="Open Sauce Bold"/>
                <a:cs typeface="Open Sauce Bold"/>
                <a:sym typeface="Open Sauce Bold"/>
              </a:rPr>
              <a:t>The sys</a:t>
            </a:r>
            <a:r>
              <a:rPr lang="en-US" b="true" sz="1800" strike="noStrike" u="none">
                <a:solidFill>
                  <a:srgbClr val="185079"/>
                </a:solidFill>
                <a:latin typeface="Open Sauce Bold"/>
                <a:ea typeface="Open Sauce Bold"/>
                <a:cs typeface="Open Sauce Bold"/>
                <a:sym typeface="Open Sauce Bold"/>
              </a:rPr>
              <a:t>te</a:t>
            </a:r>
            <a:r>
              <a:rPr lang="en-US" b="true" sz="1800" strike="noStrike" u="none">
                <a:solidFill>
                  <a:srgbClr val="185079"/>
                </a:solidFill>
                <a:latin typeface="Open Sauce Bold"/>
                <a:ea typeface="Open Sauce Bold"/>
                <a:cs typeface="Open Sauce Bold"/>
                <a:sym typeface="Open Sauce Bold"/>
              </a:rPr>
              <a:t>m</a:t>
            </a:r>
            <a:r>
              <a:rPr lang="en-US" b="true" sz="1800" strike="noStrike" u="none">
                <a:solidFill>
                  <a:srgbClr val="185079"/>
                </a:solidFill>
                <a:latin typeface="Open Sauce Bold"/>
                <a:ea typeface="Open Sauce Bold"/>
                <a:cs typeface="Open Sauce Bold"/>
                <a:sym typeface="Open Sauce Bold"/>
              </a:rPr>
              <a:t> u</a:t>
            </a:r>
            <a:r>
              <a:rPr lang="en-US" b="true" sz="1800" strike="noStrike" u="none">
                <a:solidFill>
                  <a:srgbClr val="185079"/>
                </a:solidFill>
                <a:latin typeface="Open Sauce Bold"/>
                <a:ea typeface="Open Sauce Bold"/>
                <a:cs typeface="Open Sauce Bold"/>
                <a:sym typeface="Open Sauce Bold"/>
              </a:rPr>
              <a:t>s</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s</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Ret</a:t>
            </a:r>
            <a:r>
              <a:rPr lang="en-US" b="true" sz="1800" strike="noStrike" u="none">
                <a:solidFill>
                  <a:srgbClr val="185079"/>
                </a:solidFill>
                <a:latin typeface="Open Sauce Bold"/>
                <a:ea typeface="Open Sauce Bold"/>
                <a:cs typeface="Open Sauce Bold"/>
                <a:sym typeface="Open Sauce Bold"/>
              </a:rPr>
              <a:t>ri</a:t>
            </a:r>
            <a:r>
              <a:rPr lang="en-US" b="true" sz="1800" strike="noStrike" u="none">
                <a:solidFill>
                  <a:srgbClr val="185079"/>
                </a:solidFill>
                <a:latin typeface="Open Sauce Bold"/>
                <a:ea typeface="Open Sauce Bold"/>
                <a:cs typeface="Open Sauce Bold"/>
                <a:sym typeface="Open Sauce Bold"/>
              </a:rPr>
              <a:t>eval-Augme</a:t>
            </a:r>
            <a:r>
              <a:rPr lang="en-US" b="true" sz="1800" strike="noStrike" u="none">
                <a:solidFill>
                  <a:srgbClr val="185079"/>
                </a:solidFill>
                <a:latin typeface="Open Sauce Bold"/>
                <a:ea typeface="Open Sauce Bold"/>
                <a:cs typeface="Open Sauce Bold"/>
                <a:sym typeface="Open Sauce Bold"/>
              </a:rPr>
              <a:t>n</a:t>
            </a:r>
            <a:r>
              <a:rPr lang="en-US" b="true" sz="1800" strike="noStrike" u="none">
                <a:solidFill>
                  <a:srgbClr val="185079"/>
                </a:solidFill>
                <a:latin typeface="Open Sauce Bold"/>
                <a:ea typeface="Open Sauce Bold"/>
                <a:cs typeface="Open Sauce Bold"/>
                <a:sym typeface="Open Sauce Bold"/>
              </a:rPr>
              <a:t>t</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d G</a:t>
            </a:r>
            <a:r>
              <a:rPr lang="en-US" b="true" sz="1800" strike="noStrike" u="none">
                <a:solidFill>
                  <a:srgbClr val="185079"/>
                </a:solidFill>
                <a:latin typeface="Open Sauce Bold"/>
                <a:ea typeface="Open Sauce Bold"/>
                <a:cs typeface="Open Sauce Bold"/>
                <a:sym typeface="Open Sauce Bold"/>
              </a:rPr>
              <a:t>ener</a:t>
            </a:r>
            <a:r>
              <a:rPr lang="en-US" b="true" sz="1800" strike="noStrike" u="none">
                <a:solidFill>
                  <a:srgbClr val="185079"/>
                </a:solidFill>
                <a:latin typeface="Open Sauce Bold"/>
                <a:ea typeface="Open Sauce Bold"/>
                <a:cs typeface="Open Sauce Bold"/>
                <a:sym typeface="Open Sauce Bold"/>
              </a:rPr>
              <a:t>a</a:t>
            </a:r>
            <a:r>
              <a:rPr lang="en-US" b="true" sz="1800" strike="noStrike" u="none">
                <a:solidFill>
                  <a:srgbClr val="185079"/>
                </a:solidFill>
                <a:latin typeface="Open Sauce Bold"/>
                <a:ea typeface="Open Sauce Bold"/>
                <a:cs typeface="Open Sauce Bold"/>
                <a:sym typeface="Open Sauce Bold"/>
              </a:rPr>
              <a:t>ti</a:t>
            </a:r>
            <a:r>
              <a:rPr lang="en-US" b="true" sz="1800" strike="noStrike" u="none">
                <a:solidFill>
                  <a:srgbClr val="185079"/>
                </a:solidFill>
                <a:latin typeface="Open Sauce Bold"/>
                <a:ea typeface="Open Sauce Bold"/>
                <a:cs typeface="Open Sauce Bold"/>
                <a:sym typeface="Open Sauce Bold"/>
              </a:rPr>
              <a:t>o</a:t>
            </a:r>
            <a:r>
              <a:rPr lang="en-US" b="true" sz="1800" strike="noStrike" u="none">
                <a:solidFill>
                  <a:srgbClr val="185079"/>
                </a:solidFill>
                <a:latin typeface="Open Sauce Bold"/>
                <a:ea typeface="Open Sauce Bold"/>
                <a:cs typeface="Open Sauce Bold"/>
                <a:sym typeface="Open Sauce Bold"/>
              </a:rPr>
              <a:t>n </a:t>
            </a:r>
            <a:r>
              <a:rPr lang="en-US" b="true" sz="1800" strike="noStrike" u="none">
                <a:solidFill>
                  <a:srgbClr val="185079"/>
                </a:solidFill>
                <a:latin typeface="Open Sauce Bold"/>
                <a:ea typeface="Open Sauce Bold"/>
                <a:cs typeface="Open Sauce Bold"/>
                <a:sym typeface="Open Sauce Bold"/>
              </a:rPr>
              <a:t>(RAG) t</a:t>
            </a:r>
            <a:r>
              <a:rPr lang="en-US" b="true" sz="1800" strike="noStrike" u="none">
                <a:solidFill>
                  <a:srgbClr val="185079"/>
                </a:solidFill>
                <a:latin typeface="Open Sauce Bold"/>
                <a:ea typeface="Open Sauce Bold"/>
                <a:cs typeface="Open Sauce Bold"/>
                <a:sym typeface="Open Sauce Bold"/>
              </a:rPr>
              <a:t>o</a:t>
            </a:r>
            <a:r>
              <a:rPr lang="en-US" b="true" sz="1800" strike="noStrike" u="none">
                <a:solidFill>
                  <a:srgbClr val="185079"/>
                </a:solidFill>
                <a:latin typeface="Open Sauce Bold"/>
                <a:ea typeface="Open Sauce Bold"/>
                <a:cs typeface="Open Sauce Bold"/>
                <a:sym typeface="Open Sauce Bold"/>
              </a:rPr>
              <a:t> re</a:t>
            </a:r>
            <a:r>
              <a:rPr lang="en-US" b="true" sz="1800" strike="noStrike" u="none">
                <a:solidFill>
                  <a:srgbClr val="185079"/>
                </a:solidFill>
                <a:latin typeface="Open Sauce Bold"/>
                <a:ea typeface="Open Sauce Bold"/>
                <a:cs typeface="Open Sauce Bold"/>
                <a:sym typeface="Open Sauce Bold"/>
              </a:rPr>
              <a:t>t</a:t>
            </a:r>
            <a:r>
              <a:rPr lang="en-US" b="true" sz="1800" strike="noStrike" u="none">
                <a:solidFill>
                  <a:srgbClr val="185079"/>
                </a:solidFill>
                <a:latin typeface="Open Sauce Bold"/>
                <a:ea typeface="Open Sauce Bold"/>
                <a:cs typeface="Open Sauce Bold"/>
                <a:sym typeface="Open Sauce Bold"/>
              </a:rPr>
              <a:t>ri</a:t>
            </a:r>
            <a:r>
              <a:rPr lang="en-US" b="true" sz="1800" strike="noStrike" u="none">
                <a:solidFill>
                  <a:srgbClr val="185079"/>
                </a:solidFill>
                <a:latin typeface="Open Sauce Bold"/>
                <a:ea typeface="Open Sauce Bold"/>
                <a:cs typeface="Open Sauce Bold"/>
                <a:sym typeface="Open Sauce Bold"/>
              </a:rPr>
              <a:t>eve </a:t>
            </a:r>
            <a:r>
              <a:rPr lang="en-US" b="true" sz="1800" strike="noStrike" u="none">
                <a:solidFill>
                  <a:srgbClr val="185079"/>
                </a:solidFill>
                <a:latin typeface="Open Sauce Bold"/>
                <a:ea typeface="Open Sauce Bold"/>
                <a:cs typeface="Open Sauce Bold"/>
                <a:sym typeface="Open Sauce Bold"/>
              </a:rPr>
              <a:t>r</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l</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vant</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HR</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p</a:t>
            </a:r>
            <a:r>
              <a:rPr lang="en-US" b="true" sz="1800" strike="noStrike" u="none">
                <a:solidFill>
                  <a:srgbClr val="185079"/>
                </a:solidFill>
                <a:latin typeface="Open Sauce Bold"/>
                <a:ea typeface="Open Sauce Bold"/>
                <a:cs typeface="Open Sauce Bold"/>
                <a:sym typeface="Open Sauce Bold"/>
              </a:rPr>
              <a:t>ol</a:t>
            </a:r>
            <a:r>
              <a:rPr lang="en-US" b="true" sz="1800" strike="noStrike" u="none">
                <a:solidFill>
                  <a:srgbClr val="185079"/>
                </a:solidFill>
                <a:latin typeface="Open Sauce Bold"/>
                <a:ea typeface="Open Sauce Bold"/>
                <a:cs typeface="Open Sauce Bold"/>
                <a:sym typeface="Open Sauce Bold"/>
              </a:rPr>
              <a:t>icy</a:t>
            </a:r>
            <a:r>
              <a:rPr lang="en-US" b="true" sz="1800" strike="noStrike" u="none">
                <a:solidFill>
                  <a:srgbClr val="185079"/>
                </a:solidFill>
                <a:latin typeface="Open Sauce Bold"/>
                <a:ea typeface="Open Sauce Bold"/>
                <a:cs typeface="Open Sauce Bold"/>
                <a:sym typeface="Open Sauce Bold"/>
              </a:rPr>
              <a:t> i</a:t>
            </a:r>
            <a:r>
              <a:rPr lang="en-US" b="true" sz="1800" strike="noStrike" u="none">
                <a:solidFill>
                  <a:srgbClr val="185079"/>
                </a:solidFill>
                <a:latin typeface="Open Sauce Bold"/>
                <a:ea typeface="Open Sauce Bold"/>
                <a:cs typeface="Open Sauce Bold"/>
                <a:sym typeface="Open Sauce Bold"/>
              </a:rPr>
              <a:t>nform</a:t>
            </a:r>
            <a:r>
              <a:rPr lang="en-US" b="true" sz="1800" strike="noStrike" u="none">
                <a:solidFill>
                  <a:srgbClr val="185079"/>
                </a:solidFill>
                <a:latin typeface="Open Sauce Bold"/>
                <a:ea typeface="Open Sauce Bold"/>
                <a:cs typeface="Open Sauce Bold"/>
                <a:sym typeface="Open Sauce Bold"/>
              </a:rPr>
              <a:t>at</a:t>
            </a:r>
            <a:r>
              <a:rPr lang="en-US" b="true" sz="1800" strike="noStrike" u="none">
                <a:solidFill>
                  <a:srgbClr val="185079"/>
                </a:solidFill>
                <a:latin typeface="Open Sauce Bold"/>
                <a:ea typeface="Open Sauce Bold"/>
                <a:cs typeface="Open Sauce Bold"/>
                <a:sym typeface="Open Sauce Bold"/>
              </a:rPr>
              <a:t>io</a:t>
            </a:r>
            <a:r>
              <a:rPr lang="en-US" b="true" sz="1800" strike="noStrike" u="none">
                <a:solidFill>
                  <a:srgbClr val="185079"/>
                </a:solidFill>
                <a:latin typeface="Open Sauce Bold"/>
                <a:ea typeface="Open Sauce Bold"/>
                <a:cs typeface="Open Sauce Bold"/>
                <a:sym typeface="Open Sauce Bold"/>
              </a:rPr>
              <a:t>n a</a:t>
            </a:r>
            <a:r>
              <a:rPr lang="en-US" b="true" sz="1800" strike="noStrike" u="none">
                <a:solidFill>
                  <a:srgbClr val="185079"/>
                </a:solidFill>
                <a:latin typeface="Open Sauce Bold"/>
                <a:ea typeface="Open Sauce Bold"/>
                <a:cs typeface="Open Sauce Bold"/>
                <a:sym typeface="Open Sauce Bold"/>
              </a:rPr>
              <a:t>nd</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g</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n</a:t>
            </a:r>
            <a:r>
              <a:rPr lang="en-US" b="true" sz="1800" strike="noStrike" u="none">
                <a:solidFill>
                  <a:srgbClr val="185079"/>
                </a:solidFill>
                <a:latin typeface="Open Sauce Bold"/>
                <a:ea typeface="Open Sauce Bold"/>
                <a:cs typeface="Open Sauce Bold"/>
                <a:sym typeface="Open Sauce Bold"/>
              </a:rPr>
              <a:t>er</a:t>
            </a:r>
            <a:r>
              <a:rPr lang="en-US" b="true" sz="1800" strike="noStrike" u="none">
                <a:solidFill>
                  <a:srgbClr val="185079"/>
                </a:solidFill>
                <a:latin typeface="Open Sauce Bold"/>
                <a:ea typeface="Open Sauce Bold"/>
                <a:cs typeface="Open Sauce Bold"/>
                <a:sym typeface="Open Sauce Bold"/>
              </a:rPr>
              <a:t>a</a:t>
            </a:r>
            <a:r>
              <a:rPr lang="en-US" b="true" sz="1800" strike="noStrike" u="none">
                <a:solidFill>
                  <a:srgbClr val="185079"/>
                </a:solidFill>
                <a:latin typeface="Open Sauce Bold"/>
                <a:ea typeface="Open Sauce Bold"/>
                <a:cs typeface="Open Sauce Bold"/>
                <a:sym typeface="Open Sauce Bold"/>
              </a:rPr>
              <a:t>t</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 accu</a:t>
            </a:r>
            <a:r>
              <a:rPr lang="en-US" b="true" sz="1800" strike="noStrike" u="none">
                <a:solidFill>
                  <a:srgbClr val="185079"/>
                </a:solidFill>
                <a:latin typeface="Open Sauce Bold"/>
                <a:ea typeface="Open Sauce Bold"/>
                <a:cs typeface="Open Sauce Bold"/>
                <a:sym typeface="Open Sauce Bold"/>
              </a:rPr>
              <a:t>r</a:t>
            </a:r>
            <a:r>
              <a:rPr lang="en-US" b="true" sz="1800" strike="noStrike" u="none">
                <a:solidFill>
                  <a:srgbClr val="185079"/>
                </a:solidFill>
                <a:latin typeface="Open Sauce Bold"/>
                <a:ea typeface="Open Sauce Bold"/>
                <a:cs typeface="Open Sauce Bold"/>
                <a:sym typeface="Open Sauce Bold"/>
              </a:rPr>
              <a:t>ate, </a:t>
            </a:r>
            <a:r>
              <a:rPr lang="en-US" b="true" sz="1800" strike="noStrike" u="none">
                <a:solidFill>
                  <a:srgbClr val="185079"/>
                </a:solidFill>
                <a:latin typeface="Open Sauce Bold"/>
                <a:ea typeface="Open Sauce Bold"/>
                <a:cs typeface="Open Sauce Bold"/>
                <a:sym typeface="Open Sauce Bold"/>
              </a:rPr>
              <a:t>co</a:t>
            </a:r>
            <a:r>
              <a:rPr lang="en-US" b="true" sz="1800" strike="noStrike" u="none">
                <a:solidFill>
                  <a:srgbClr val="185079"/>
                </a:solidFill>
                <a:latin typeface="Open Sauce Bold"/>
                <a:ea typeface="Open Sauce Bold"/>
                <a:cs typeface="Open Sauce Bold"/>
                <a:sym typeface="Open Sauce Bold"/>
              </a:rPr>
              <a:t>nt</a:t>
            </a:r>
            <a:r>
              <a:rPr lang="en-US" b="true" sz="1800" strike="noStrike" u="none">
                <a:solidFill>
                  <a:srgbClr val="185079"/>
                </a:solidFill>
                <a:latin typeface="Open Sauce Bold"/>
                <a:ea typeface="Open Sauce Bold"/>
                <a:cs typeface="Open Sauce Bold"/>
                <a:sym typeface="Open Sauce Bold"/>
              </a:rPr>
              <a:t>ext-</a:t>
            </a:r>
            <a:r>
              <a:rPr lang="en-US" b="true" sz="1800" strike="noStrike" u="none">
                <a:solidFill>
                  <a:srgbClr val="185079"/>
                </a:solidFill>
                <a:latin typeface="Open Sauce Bold"/>
                <a:ea typeface="Open Sauce Bold"/>
                <a:cs typeface="Open Sauce Bold"/>
                <a:sym typeface="Open Sauce Bold"/>
              </a:rPr>
              <a:t>a</a:t>
            </a:r>
            <a:r>
              <a:rPr lang="en-US" b="true" sz="1800" strike="noStrike" u="none">
                <a:solidFill>
                  <a:srgbClr val="185079"/>
                </a:solidFill>
                <a:latin typeface="Open Sauce Bold"/>
                <a:ea typeface="Open Sauce Bold"/>
                <a:cs typeface="Open Sauce Bold"/>
                <a:sym typeface="Open Sauce Bold"/>
              </a:rPr>
              <a:t>w</a:t>
            </a:r>
            <a:r>
              <a:rPr lang="en-US" b="true" sz="1800" strike="noStrike" u="none">
                <a:solidFill>
                  <a:srgbClr val="185079"/>
                </a:solidFill>
                <a:latin typeface="Open Sauce Bold"/>
                <a:ea typeface="Open Sauce Bold"/>
                <a:cs typeface="Open Sauce Bold"/>
                <a:sym typeface="Open Sauce Bold"/>
              </a:rPr>
              <a:t>a</a:t>
            </a:r>
            <a:r>
              <a:rPr lang="en-US" b="true" sz="1800" strike="noStrike" u="none">
                <a:solidFill>
                  <a:srgbClr val="185079"/>
                </a:solidFill>
                <a:latin typeface="Open Sauce Bold"/>
                <a:ea typeface="Open Sauce Bold"/>
                <a:cs typeface="Open Sauce Bold"/>
                <a:sym typeface="Open Sauce Bold"/>
              </a:rPr>
              <a:t>re</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r</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spon</a:t>
            </a:r>
            <a:r>
              <a:rPr lang="en-US" b="true" sz="1800" strike="noStrike" u="none">
                <a:solidFill>
                  <a:srgbClr val="185079"/>
                </a:solidFill>
                <a:latin typeface="Open Sauce Bold"/>
                <a:ea typeface="Open Sauce Bold"/>
                <a:cs typeface="Open Sauce Bold"/>
                <a:sym typeface="Open Sauce Bold"/>
              </a:rPr>
              <a:t>se</a:t>
            </a:r>
            <a:r>
              <a:rPr lang="en-US" b="true" sz="1800" strike="noStrike" u="none">
                <a:solidFill>
                  <a:srgbClr val="185079"/>
                </a:solidFill>
                <a:latin typeface="Open Sauce Bold"/>
                <a:ea typeface="Open Sauce Bold"/>
                <a:cs typeface="Open Sauce Bold"/>
                <a:sym typeface="Open Sauce Bold"/>
              </a:rPr>
              <a:t>s</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f</a:t>
            </a:r>
            <a:r>
              <a:rPr lang="en-US" b="true" sz="1800" strike="noStrike" u="none">
                <a:solidFill>
                  <a:srgbClr val="185079"/>
                </a:solidFill>
                <a:latin typeface="Open Sauce Bold"/>
                <a:ea typeface="Open Sauce Bold"/>
                <a:cs typeface="Open Sauce Bold"/>
                <a:sym typeface="Open Sauce Bold"/>
              </a:rPr>
              <a:t>o</a:t>
            </a:r>
            <a:r>
              <a:rPr lang="en-US" b="true" sz="1800" strike="noStrike" u="none">
                <a:solidFill>
                  <a:srgbClr val="185079"/>
                </a:solidFill>
                <a:latin typeface="Open Sauce Bold"/>
                <a:ea typeface="Open Sauce Bold"/>
                <a:cs typeface="Open Sauce Bold"/>
                <a:sym typeface="Open Sauce Bold"/>
              </a:rPr>
              <a:t>r</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m</a:t>
            </a:r>
            <a:r>
              <a:rPr lang="en-US" b="true" sz="1800" strike="noStrike" u="none">
                <a:solidFill>
                  <a:srgbClr val="185079"/>
                </a:solidFill>
                <a:latin typeface="Open Sauce Bold"/>
                <a:ea typeface="Open Sauce Bold"/>
                <a:cs typeface="Open Sauce Bold"/>
                <a:sym typeface="Open Sauce Bold"/>
              </a:rPr>
              <a:t>ployee</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quer</a:t>
            </a:r>
            <a:r>
              <a:rPr lang="en-US" b="true" sz="1800" strike="noStrike" u="none">
                <a:solidFill>
                  <a:srgbClr val="185079"/>
                </a:solidFill>
                <a:latin typeface="Open Sauce Bold"/>
                <a:ea typeface="Open Sauce Bold"/>
                <a:cs typeface="Open Sauce Bold"/>
                <a:sym typeface="Open Sauce Bold"/>
              </a:rPr>
              <a:t>ies.</a:t>
            </a:r>
          </a:p>
        </p:txBody>
      </p:sp>
      <p:grpSp>
        <p:nvGrpSpPr>
          <p:cNvPr name="Group 21" id="21"/>
          <p:cNvGrpSpPr/>
          <p:nvPr/>
        </p:nvGrpSpPr>
        <p:grpSpPr>
          <a:xfrm rot="0">
            <a:off x="10378289" y="1795923"/>
            <a:ext cx="6007801" cy="547557"/>
            <a:chOff x="0" y="0"/>
            <a:chExt cx="8010401" cy="730076"/>
          </a:xfrm>
        </p:grpSpPr>
        <p:sp>
          <p:nvSpPr>
            <p:cNvPr name="TextBox 22" id="22"/>
            <p:cNvSpPr txBox="true"/>
            <p:nvPr/>
          </p:nvSpPr>
          <p:spPr>
            <a:xfrm rot="0">
              <a:off x="0" y="0"/>
              <a:ext cx="1064656" cy="730076"/>
            </a:xfrm>
            <a:prstGeom prst="rect">
              <a:avLst/>
            </a:prstGeom>
          </p:spPr>
          <p:txBody>
            <a:bodyPr anchor="t" rtlCol="false" tIns="0" lIns="0" bIns="0" rIns="0">
              <a:spAutoFit/>
            </a:bodyPr>
            <a:lstStyle/>
            <a:p>
              <a:pPr algn="ctr">
                <a:lnSpc>
                  <a:spcPts val="4339"/>
                </a:lnSpc>
              </a:pPr>
              <a:r>
                <a:rPr lang="en-US" b="true" sz="3647" spc="98">
                  <a:solidFill>
                    <a:srgbClr val="185079"/>
                  </a:solidFill>
                  <a:latin typeface="Open Sauce Bold"/>
                  <a:ea typeface="Open Sauce Bold"/>
                  <a:cs typeface="Open Sauce Bold"/>
                  <a:sym typeface="Open Sauce Bold"/>
                </a:rPr>
                <a:t>01</a:t>
              </a:r>
            </a:p>
          </p:txBody>
        </p:sp>
        <p:sp>
          <p:nvSpPr>
            <p:cNvPr name="TextBox 23" id="23"/>
            <p:cNvSpPr txBox="true"/>
            <p:nvPr/>
          </p:nvSpPr>
          <p:spPr>
            <a:xfrm rot="0">
              <a:off x="894581" y="108963"/>
              <a:ext cx="7115820" cy="486749"/>
            </a:xfrm>
            <a:prstGeom prst="rect">
              <a:avLst/>
            </a:prstGeom>
          </p:spPr>
          <p:txBody>
            <a:bodyPr anchor="t" rtlCol="false" tIns="0" lIns="0" bIns="0" rIns="0">
              <a:spAutoFit/>
            </a:bodyPr>
            <a:lstStyle/>
            <a:p>
              <a:pPr algn="ctr">
                <a:lnSpc>
                  <a:spcPts val="2915"/>
                </a:lnSpc>
              </a:pPr>
              <a:r>
                <a:rPr lang="en-US" b="true" sz="2450" spc="66">
                  <a:solidFill>
                    <a:srgbClr val="185079"/>
                  </a:solidFill>
                  <a:latin typeface="Open Sauce Bold"/>
                  <a:ea typeface="Open Sauce Bold"/>
                  <a:cs typeface="Open Sauce Bold"/>
                  <a:sym typeface="Open Sauce Bold"/>
                </a:rPr>
                <a:t>INTELLIGENT HR CHATBOT</a:t>
              </a:r>
            </a:p>
          </p:txBody>
        </p:sp>
      </p:grpSp>
      <p:grpSp>
        <p:nvGrpSpPr>
          <p:cNvPr name="Group 24" id="24"/>
          <p:cNvGrpSpPr/>
          <p:nvPr/>
        </p:nvGrpSpPr>
        <p:grpSpPr>
          <a:xfrm rot="0">
            <a:off x="10378289" y="4243372"/>
            <a:ext cx="5333133" cy="547557"/>
            <a:chOff x="0" y="0"/>
            <a:chExt cx="7110844" cy="730076"/>
          </a:xfrm>
        </p:grpSpPr>
        <p:sp>
          <p:nvSpPr>
            <p:cNvPr name="TextBox 25" id="25"/>
            <p:cNvSpPr txBox="true"/>
            <p:nvPr/>
          </p:nvSpPr>
          <p:spPr>
            <a:xfrm rot="0">
              <a:off x="0" y="0"/>
              <a:ext cx="1173760" cy="730076"/>
            </a:xfrm>
            <a:prstGeom prst="rect">
              <a:avLst/>
            </a:prstGeom>
          </p:spPr>
          <p:txBody>
            <a:bodyPr anchor="t" rtlCol="false" tIns="0" lIns="0" bIns="0" rIns="0">
              <a:spAutoFit/>
            </a:bodyPr>
            <a:lstStyle/>
            <a:p>
              <a:pPr algn="ctr">
                <a:lnSpc>
                  <a:spcPts val="4339"/>
                </a:lnSpc>
              </a:pPr>
              <a:r>
                <a:rPr lang="en-US" b="true" sz="3647" spc="98">
                  <a:solidFill>
                    <a:srgbClr val="185079"/>
                  </a:solidFill>
                  <a:latin typeface="Open Sauce Bold"/>
                  <a:ea typeface="Open Sauce Bold"/>
                  <a:cs typeface="Open Sauce Bold"/>
                  <a:sym typeface="Open Sauce Bold"/>
                </a:rPr>
                <a:t>02</a:t>
              </a:r>
            </a:p>
          </p:txBody>
        </p:sp>
        <p:sp>
          <p:nvSpPr>
            <p:cNvPr name="TextBox 26" id="26"/>
            <p:cNvSpPr txBox="true"/>
            <p:nvPr/>
          </p:nvSpPr>
          <p:spPr>
            <a:xfrm rot="0">
              <a:off x="1641586" y="154500"/>
              <a:ext cx="5469259" cy="486749"/>
            </a:xfrm>
            <a:prstGeom prst="rect">
              <a:avLst/>
            </a:prstGeom>
          </p:spPr>
          <p:txBody>
            <a:bodyPr anchor="t" rtlCol="false" tIns="0" lIns="0" bIns="0" rIns="0">
              <a:spAutoFit/>
            </a:bodyPr>
            <a:lstStyle/>
            <a:p>
              <a:pPr algn="ctr">
                <a:lnSpc>
                  <a:spcPts val="2915"/>
                </a:lnSpc>
              </a:pPr>
              <a:r>
                <a:rPr lang="en-US" b="true" sz="2450" spc="66">
                  <a:solidFill>
                    <a:srgbClr val="185079"/>
                  </a:solidFill>
                  <a:latin typeface="Open Sauce Bold"/>
                  <a:ea typeface="Open Sauce Bold"/>
                  <a:cs typeface="Open Sauce Bold"/>
                  <a:sym typeface="Open Sauce Bold"/>
                </a:rPr>
                <a:t>FAST POLICY RETRIEVAL</a:t>
              </a:r>
            </a:p>
          </p:txBody>
        </p:sp>
      </p:grpSp>
      <p:grpSp>
        <p:nvGrpSpPr>
          <p:cNvPr name="Group 27" id="27"/>
          <p:cNvGrpSpPr/>
          <p:nvPr/>
        </p:nvGrpSpPr>
        <p:grpSpPr>
          <a:xfrm rot="0">
            <a:off x="10378289" y="6616163"/>
            <a:ext cx="6034894" cy="547557"/>
            <a:chOff x="0" y="0"/>
            <a:chExt cx="8046525" cy="730076"/>
          </a:xfrm>
        </p:grpSpPr>
        <p:sp>
          <p:nvSpPr>
            <p:cNvPr name="TextBox 28" id="28"/>
            <p:cNvSpPr txBox="true"/>
            <p:nvPr/>
          </p:nvSpPr>
          <p:spPr>
            <a:xfrm rot="0">
              <a:off x="0" y="0"/>
              <a:ext cx="1278860" cy="730076"/>
            </a:xfrm>
            <a:prstGeom prst="rect">
              <a:avLst/>
            </a:prstGeom>
          </p:spPr>
          <p:txBody>
            <a:bodyPr anchor="t" rtlCol="false" tIns="0" lIns="0" bIns="0" rIns="0">
              <a:spAutoFit/>
            </a:bodyPr>
            <a:lstStyle/>
            <a:p>
              <a:pPr algn="ctr">
                <a:lnSpc>
                  <a:spcPts val="4339"/>
                </a:lnSpc>
              </a:pPr>
              <a:r>
                <a:rPr lang="en-US" b="true" sz="3647" spc="98">
                  <a:solidFill>
                    <a:srgbClr val="185079"/>
                  </a:solidFill>
                  <a:latin typeface="Open Sauce Bold"/>
                  <a:ea typeface="Open Sauce Bold"/>
                  <a:cs typeface="Open Sauce Bold"/>
                  <a:sym typeface="Open Sauce Bold"/>
                </a:rPr>
                <a:t>03</a:t>
              </a:r>
            </a:p>
          </p:txBody>
        </p:sp>
        <p:sp>
          <p:nvSpPr>
            <p:cNvPr name="TextBox 29" id="29"/>
            <p:cNvSpPr txBox="true"/>
            <p:nvPr/>
          </p:nvSpPr>
          <p:spPr>
            <a:xfrm rot="0">
              <a:off x="1100781" y="121666"/>
              <a:ext cx="6945744" cy="486744"/>
            </a:xfrm>
            <a:prstGeom prst="rect">
              <a:avLst/>
            </a:prstGeom>
          </p:spPr>
          <p:txBody>
            <a:bodyPr anchor="t" rtlCol="false" tIns="0" lIns="0" bIns="0" rIns="0">
              <a:spAutoFit/>
            </a:bodyPr>
            <a:lstStyle/>
            <a:p>
              <a:pPr algn="r">
                <a:lnSpc>
                  <a:spcPts val="2911"/>
                </a:lnSpc>
              </a:pPr>
              <a:r>
                <a:rPr lang="en-US" b="true" sz="2447" spc="66">
                  <a:solidFill>
                    <a:srgbClr val="185079"/>
                  </a:solidFill>
                  <a:latin typeface="Open Sauce Bold"/>
                  <a:ea typeface="Open Sauce Bold"/>
                  <a:cs typeface="Open Sauce Bold"/>
                  <a:sym typeface="Open Sauce Bold"/>
                </a:rPr>
                <a:t>CONTEXT-AWARE RESPONSES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590489" y="2725480"/>
            <a:ext cx="6737800" cy="2193497"/>
          </a:xfrm>
          <a:prstGeom prst="rect">
            <a:avLst/>
          </a:prstGeom>
        </p:spPr>
        <p:txBody>
          <a:bodyPr anchor="t" rtlCol="false" tIns="0" lIns="0" bIns="0" rIns="0">
            <a:spAutoFit/>
          </a:bodyPr>
          <a:lstStyle/>
          <a:p>
            <a:pPr algn="l"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TA</a:t>
            </a:r>
            <a:r>
              <a:rPr lang="en-US" b="true" sz="7917" spc="-467" strike="noStrike" u="none">
                <a:solidFill>
                  <a:srgbClr val="185079"/>
                </a:solidFill>
                <a:latin typeface="Open Sauce Semi-Bold"/>
                <a:ea typeface="Open Sauce Semi-Bold"/>
                <a:cs typeface="Open Sauce Semi-Bold"/>
                <a:sym typeface="Open Sauce Semi-Bold"/>
              </a:rPr>
              <a:t>RGET AUDI</a:t>
            </a:r>
            <a:r>
              <a:rPr lang="en-US" b="true" sz="7917" spc="-467" strike="noStrike" u="none">
                <a:solidFill>
                  <a:srgbClr val="185079"/>
                </a:solidFill>
                <a:latin typeface="Open Sauce Semi-Bold"/>
                <a:ea typeface="Open Sauce Semi-Bold"/>
                <a:cs typeface="Open Sauce Semi-Bold"/>
                <a:sym typeface="Open Sauce Semi-Bold"/>
              </a:rPr>
              <a:t>E</a:t>
            </a:r>
            <a:r>
              <a:rPr lang="en-US" b="true" sz="7917" spc="-467" strike="noStrike" u="none">
                <a:solidFill>
                  <a:srgbClr val="185079"/>
                </a:solidFill>
                <a:latin typeface="Open Sauce Semi-Bold"/>
                <a:ea typeface="Open Sauce Semi-Bold"/>
                <a:cs typeface="Open Sauce Semi-Bold"/>
                <a:sym typeface="Open Sauce Semi-Bold"/>
              </a:rPr>
              <a:t>NCE</a:t>
            </a:r>
          </a:p>
        </p:txBody>
      </p:sp>
      <p:sp>
        <p:nvSpPr>
          <p:cNvPr name="TextBox 4" id="4"/>
          <p:cNvSpPr txBox="true"/>
          <p:nvPr/>
        </p:nvSpPr>
        <p:spPr>
          <a:xfrm rot="0">
            <a:off x="1590489" y="5149790"/>
            <a:ext cx="6248586" cy="2506980"/>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185079"/>
                </a:solidFill>
                <a:latin typeface="Open Sauce Bold"/>
                <a:ea typeface="Open Sauce Bold"/>
                <a:cs typeface="Open Sauce Bold"/>
                <a:sym typeface="Open Sauce Bold"/>
              </a:rPr>
              <a:t>Th</a:t>
            </a:r>
            <a:r>
              <a:rPr lang="en-US" b="true" sz="1800" strike="noStrike" u="none">
                <a:solidFill>
                  <a:srgbClr val="185079"/>
                </a:solidFill>
                <a:latin typeface="Open Sauce Bold"/>
                <a:ea typeface="Open Sauce Bold"/>
                <a:cs typeface="Open Sauce Bold"/>
                <a:sym typeface="Open Sauce Bold"/>
              </a:rPr>
              <a:t>e </a:t>
            </a:r>
            <a:r>
              <a:rPr lang="en-US" b="true" sz="1800" strike="noStrike" u="none">
                <a:solidFill>
                  <a:srgbClr val="185079"/>
                </a:solidFill>
                <a:latin typeface="Open Sauce Bold"/>
                <a:ea typeface="Open Sauce Bold"/>
                <a:cs typeface="Open Sauce Bold"/>
                <a:sym typeface="Open Sauce Bold"/>
              </a:rPr>
              <a:t>HR</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RAG</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As</a:t>
            </a:r>
            <a:r>
              <a:rPr lang="en-US" b="true" sz="1800" strike="noStrike" u="none">
                <a:solidFill>
                  <a:srgbClr val="185079"/>
                </a:solidFill>
                <a:latin typeface="Open Sauce Bold"/>
                <a:ea typeface="Open Sauce Bold"/>
                <a:cs typeface="Open Sauce Bold"/>
                <a:sym typeface="Open Sauce Bold"/>
              </a:rPr>
              <a:t>si</a:t>
            </a:r>
            <a:r>
              <a:rPr lang="en-US" b="true" sz="1800" strike="noStrike" u="none">
                <a:solidFill>
                  <a:srgbClr val="185079"/>
                </a:solidFill>
                <a:latin typeface="Open Sauce Bold"/>
                <a:ea typeface="Open Sauce Bold"/>
                <a:cs typeface="Open Sauce Bold"/>
                <a:sym typeface="Open Sauce Bold"/>
              </a:rPr>
              <a:t>s</a:t>
            </a:r>
            <a:r>
              <a:rPr lang="en-US" b="true" sz="1800" strike="noStrike" u="none">
                <a:solidFill>
                  <a:srgbClr val="185079"/>
                </a:solidFill>
                <a:latin typeface="Open Sauce Bold"/>
                <a:ea typeface="Open Sauce Bold"/>
                <a:cs typeface="Open Sauce Bold"/>
                <a:sym typeface="Open Sauce Bold"/>
              </a:rPr>
              <a:t>tant is </a:t>
            </a:r>
            <a:r>
              <a:rPr lang="en-US" b="true" sz="1800" strike="noStrike" u="none">
                <a:solidFill>
                  <a:srgbClr val="185079"/>
                </a:solidFill>
                <a:latin typeface="Open Sauce Bold"/>
                <a:ea typeface="Open Sauce Bold"/>
                <a:cs typeface="Open Sauce Bold"/>
                <a:sym typeface="Open Sauce Bold"/>
              </a:rPr>
              <a:t>d</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s</a:t>
            </a:r>
            <a:r>
              <a:rPr lang="en-US" b="true" sz="1800" strike="noStrike" u="none">
                <a:solidFill>
                  <a:srgbClr val="185079"/>
                </a:solidFill>
                <a:latin typeface="Open Sauce Bold"/>
                <a:ea typeface="Open Sauce Bold"/>
                <a:cs typeface="Open Sauce Bold"/>
                <a:sym typeface="Open Sauce Bold"/>
              </a:rPr>
              <a:t>i</a:t>
            </a:r>
            <a:r>
              <a:rPr lang="en-US" b="true" sz="1800" strike="noStrike" u="none">
                <a:solidFill>
                  <a:srgbClr val="185079"/>
                </a:solidFill>
                <a:latin typeface="Open Sauce Bold"/>
                <a:ea typeface="Open Sauce Bold"/>
                <a:cs typeface="Open Sauce Bold"/>
                <a:sym typeface="Open Sauce Bold"/>
              </a:rPr>
              <a:t>gn</a:t>
            </a:r>
            <a:r>
              <a:rPr lang="en-US" b="true" sz="1800" strike="noStrike" u="none">
                <a:solidFill>
                  <a:srgbClr val="185079"/>
                </a:solidFill>
                <a:latin typeface="Open Sauce Bold"/>
                <a:ea typeface="Open Sauce Bold"/>
                <a:cs typeface="Open Sauce Bold"/>
                <a:sym typeface="Open Sauce Bold"/>
              </a:rPr>
              <a:t>ed </a:t>
            </a:r>
            <a:r>
              <a:rPr lang="en-US" b="true" sz="1800" strike="noStrike" u="none">
                <a:solidFill>
                  <a:srgbClr val="185079"/>
                </a:solidFill>
                <a:latin typeface="Open Sauce Bold"/>
                <a:ea typeface="Open Sauce Bold"/>
                <a:cs typeface="Open Sauce Bold"/>
                <a:sym typeface="Open Sauce Bold"/>
              </a:rPr>
              <a:t>f</a:t>
            </a:r>
            <a:r>
              <a:rPr lang="en-US" b="true" sz="1800" strike="noStrike" u="none">
                <a:solidFill>
                  <a:srgbClr val="185079"/>
                </a:solidFill>
                <a:latin typeface="Open Sauce Bold"/>
                <a:ea typeface="Open Sauce Bold"/>
                <a:cs typeface="Open Sauce Bold"/>
                <a:sym typeface="Open Sauce Bold"/>
              </a:rPr>
              <a:t>o</a:t>
            </a:r>
            <a:r>
              <a:rPr lang="en-US" b="true" sz="1800" strike="noStrike" u="none">
                <a:solidFill>
                  <a:srgbClr val="185079"/>
                </a:solidFill>
                <a:latin typeface="Open Sauce Bold"/>
                <a:ea typeface="Open Sauce Bold"/>
                <a:cs typeface="Open Sauce Bold"/>
                <a:sym typeface="Open Sauce Bold"/>
              </a:rPr>
              <a:t>r</a:t>
            </a:r>
            <a:r>
              <a:rPr lang="en-US" b="true" sz="1800" strike="noStrike" u="none">
                <a:solidFill>
                  <a:srgbClr val="185079"/>
                </a:solidFill>
                <a:latin typeface="Open Sauce Bold"/>
                <a:ea typeface="Open Sauce Bold"/>
                <a:cs typeface="Open Sauce Bold"/>
                <a:sym typeface="Open Sauce Bold"/>
              </a:rPr>
              <a:t> emplo</a:t>
            </a:r>
            <a:r>
              <a:rPr lang="en-US" b="true" sz="1800" strike="noStrike" u="none">
                <a:solidFill>
                  <a:srgbClr val="185079"/>
                </a:solidFill>
                <a:latin typeface="Open Sauce Bold"/>
                <a:ea typeface="Open Sauce Bold"/>
                <a:cs typeface="Open Sauce Bold"/>
                <a:sym typeface="Open Sauce Bold"/>
              </a:rPr>
              <a:t>y</a:t>
            </a:r>
            <a:r>
              <a:rPr lang="en-US" b="true" sz="1800" strike="noStrike" u="none">
                <a:solidFill>
                  <a:srgbClr val="185079"/>
                </a:solidFill>
                <a:latin typeface="Open Sauce Bold"/>
                <a:ea typeface="Open Sauce Bold"/>
                <a:cs typeface="Open Sauce Bold"/>
                <a:sym typeface="Open Sauce Bold"/>
              </a:rPr>
              <a:t>ee</a:t>
            </a:r>
            <a:r>
              <a:rPr lang="en-US" b="true" sz="1800" strike="noStrike" u="none">
                <a:solidFill>
                  <a:srgbClr val="185079"/>
                </a:solidFill>
                <a:latin typeface="Open Sauce Bold"/>
                <a:ea typeface="Open Sauce Bold"/>
                <a:cs typeface="Open Sauce Bold"/>
                <a:sym typeface="Open Sauce Bold"/>
              </a:rPr>
              <a:t>s,</a:t>
            </a:r>
          </a:p>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HR</a:t>
            </a:r>
            <a:r>
              <a:rPr lang="en-US" b="true" sz="1800" strike="noStrike" u="none">
                <a:solidFill>
                  <a:srgbClr val="185079"/>
                </a:solidFill>
                <a:latin typeface="Open Sauce Bold"/>
                <a:ea typeface="Open Sauce Bold"/>
                <a:cs typeface="Open Sauce Bold"/>
                <a:sym typeface="Open Sauce Bold"/>
              </a:rPr>
              <a:t> d</a:t>
            </a:r>
            <a:r>
              <a:rPr lang="en-US" b="true" sz="1800" strike="noStrike" u="none">
                <a:solidFill>
                  <a:srgbClr val="185079"/>
                </a:solidFill>
                <a:latin typeface="Open Sauce Bold"/>
                <a:ea typeface="Open Sauce Bold"/>
                <a:cs typeface="Open Sauce Bold"/>
                <a:sym typeface="Open Sauce Bold"/>
              </a:rPr>
              <a:t>epa</a:t>
            </a:r>
            <a:r>
              <a:rPr lang="en-US" b="true" sz="1800" strike="noStrike" u="none">
                <a:solidFill>
                  <a:srgbClr val="185079"/>
                </a:solidFill>
                <a:latin typeface="Open Sauce Bold"/>
                <a:ea typeface="Open Sauce Bold"/>
                <a:cs typeface="Open Sauce Bold"/>
                <a:sym typeface="Open Sauce Bold"/>
              </a:rPr>
              <a:t>r</a:t>
            </a:r>
            <a:r>
              <a:rPr lang="en-US" b="true" sz="1800" strike="noStrike" u="none">
                <a:solidFill>
                  <a:srgbClr val="185079"/>
                </a:solidFill>
                <a:latin typeface="Open Sauce Bold"/>
                <a:ea typeface="Open Sauce Bold"/>
                <a:cs typeface="Open Sauce Bold"/>
                <a:sym typeface="Open Sauce Bold"/>
              </a:rPr>
              <a:t>tm</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nts,</a:t>
            </a:r>
            <a:r>
              <a:rPr lang="en-US" b="true" sz="1800" strike="noStrike" u="none">
                <a:solidFill>
                  <a:srgbClr val="185079"/>
                </a:solidFill>
                <a:latin typeface="Open Sauce Bold"/>
                <a:ea typeface="Open Sauce Bold"/>
                <a:cs typeface="Open Sauce Bold"/>
                <a:sym typeface="Open Sauce Bold"/>
              </a:rPr>
              <a:t> mana</a:t>
            </a:r>
            <a:r>
              <a:rPr lang="en-US" b="true" sz="1800" strike="noStrike" u="none">
                <a:solidFill>
                  <a:srgbClr val="185079"/>
                </a:solidFill>
                <a:latin typeface="Open Sauce Bold"/>
                <a:ea typeface="Open Sauce Bold"/>
                <a:cs typeface="Open Sauce Bold"/>
                <a:sym typeface="Open Sauce Bold"/>
              </a:rPr>
              <a:t>gers,</a:t>
            </a:r>
            <a:r>
              <a:rPr lang="en-US" b="true" sz="1800" strike="noStrike" u="none">
                <a:solidFill>
                  <a:srgbClr val="185079"/>
                </a:solidFill>
                <a:latin typeface="Open Sauce Bold"/>
                <a:ea typeface="Open Sauce Bold"/>
                <a:cs typeface="Open Sauce Bold"/>
                <a:sym typeface="Open Sauce Bold"/>
              </a:rPr>
              <a:t> and </a:t>
            </a:r>
            <a:r>
              <a:rPr lang="en-US" b="true" sz="1800" strike="noStrike" u="none">
                <a:solidFill>
                  <a:srgbClr val="185079"/>
                </a:solidFill>
                <a:latin typeface="Open Sauce Bold"/>
                <a:ea typeface="Open Sauce Bold"/>
                <a:cs typeface="Open Sauce Bold"/>
                <a:sym typeface="Open Sauce Bold"/>
              </a:rPr>
              <a:t>re</a:t>
            </a:r>
            <a:r>
              <a:rPr lang="en-US" b="true" sz="1800" strike="noStrike" u="none">
                <a:solidFill>
                  <a:srgbClr val="185079"/>
                </a:solidFill>
                <a:latin typeface="Open Sauce Bold"/>
                <a:ea typeface="Open Sauce Bold"/>
                <a:cs typeface="Open Sauce Bold"/>
                <a:sym typeface="Open Sauce Bold"/>
              </a:rPr>
              <a:t>m</a:t>
            </a:r>
            <a:r>
              <a:rPr lang="en-US" b="true" sz="1800" strike="noStrike" u="none">
                <a:solidFill>
                  <a:srgbClr val="185079"/>
                </a:solidFill>
                <a:latin typeface="Open Sauce Bold"/>
                <a:ea typeface="Open Sauce Bold"/>
                <a:cs typeface="Open Sauce Bold"/>
                <a:sym typeface="Open Sauce Bold"/>
              </a:rPr>
              <a:t>ote</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work</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rs</a:t>
            </a:r>
          </a:p>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who</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re</a:t>
            </a:r>
            <a:r>
              <a:rPr lang="en-US" b="true" sz="1800" strike="noStrike" u="none">
                <a:solidFill>
                  <a:srgbClr val="185079"/>
                </a:solidFill>
                <a:latin typeface="Open Sauce Bold"/>
                <a:ea typeface="Open Sauce Bold"/>
                <a:cs typeface="Open Sauce Bold"/>
                <a:sym typeface="Open Sauce Bold"/>
              </a:rPr>
              <a:t>quire </a:t>
            </a:r>
            <a:r>
              <a:rPr lang="en-US" b="true" sz="1800" strike="noStrike" u="none">
                <a:solidFill>
                  <a:srgbClr val="185079"/>
                </a:solidFill>
                <a:latin typeface="Open Sauce Bold"/>
                <a:ea typeface="Open Sauce Bold"/>
                <a:cs typeface="Open Sauce Bold"/>
                <a:sym typeface="Open Sauce Bold"/>
              </a:rPr>
              <a:t>q</a:t>
            </a:r>
            <a:r>
              <a:rPr lang="en-US" b="true" sz="1800" strike="noStrike" u="none">
                <a:solidFill>
                  <a:srgbClr val="185079"/>
                </a:solidFill>
                <a:latin typeface="Open Sauce Bold"/>
                <a:ea typeface="Open Sauce Bold"/>
                <a:cs typeface="Open Sauce Bold"/>
                <a:sym typeface="Open Sauce Bold"/>
              </a:rPr>
              <a:t>u</a:t>
            </a:r>
            <a:r>
              <a:rPr lang="en-US" b="true" sz="1800" strike="noStrike" u="none">
                <a:solidFill>
                  <a:srgbClr val="185079"/>
                </a:solidFill>
                <a:latin typeface="Open Sauce Bold"/>
                <a:ea typeface="Open Sauce Bold"/>
                <a:cs typeface="Open Sauce Bold"/>
                <a:sym typeface="Open Sauce Bold"/>
              </a:rPr>
              <a:t>i</a:t>
            </a:r>
            <a:r>
              <a:rPr lang="en-US" b="true" sz="1800" strike="noStrike" u="none">
                <a:solidFill>
                  <a:srgbClr val="185079"/>
                </a:solidFill>
                <a:latin typeface="Open Sauce Bold"/>
                <a:ea typeface="Open Sauce Bold"/>
                <a:cs typeface="Open Sauce Bold"/>
                <a:sym typeface="Open Sauce Bold"/>
              </a:rPr>
              <a:t>c</a:t>
            </a:r>
            <a:r>
              <a:rPr lang="en-US" b="true" sz="1800" strike="noStrike" u="none">
                <a:solidFill>
                  <a:srgbClr val="185079"/>
                </a:solidFill>
                <a:latin typeface="Open Sauce Bold"/>
                <a:ea typeface="Open Sauce Bold"/>
                <a:cs typeface="Open Sauce Bold"/>
                <a:sym typeface="Open Sauce Bold"/>
              </a:rPr>
              <a:t>k</a:t>
            </a:r>
            <a:r>
              <a:rPr lang="en-US" b="true" sz="1800" strike="noStrike" u="none">
                <a:solidFill>
                  <a:srgbClr val="185079"/>
                </a:solidFill>
                <a:latin typeface="Open Sauce Bold"/>
                <a:ea typeface="Open Sauce Bold"/>
                <a:cs typeface="Open Sauce Bold"/>
                <a:sym typeface="Open Sauce Bold"/>
              </a:rPr>
              <a:t> a</a:t>
            </a:r>
            <a:r>
              <a:rPr lang="en-US" b="true" sz="1800" strike="noStrike" u="none">
                <a:solidFill>
                  <a:srgbClr val="185079"/>
                </a:solidFill>
                <a:latin typeface="Open Sauce Bold"/>
                <a:ea typeface="Open Sauce Bold"/>
                <a:cs typeface="Open Sauce Bold"/>
                <a:sym typeface="Open Sauce Bold"/>
              </a:rPr>
              <a:t>cce</a:t>
            </a:r>
            <a:r>
              <a:rPr lang="en-US" b="true" sz="1800" strike="noStrike" u="none">
                <a:solidFill>
                  <a:srgbClr val="185079"/>
                </a:solidFill>
                <a:latin typeface="Open Sauce Bold"/>
                <a:ea typeface="Open Sauce Bold"/>
                <a:cs typeface="Open Sauce Bold"/>
                <a:sym typeface="Open Sauce Bold"/>
              </a:rPr>
              <a:t>ss t</a:t>
            </a:r>
            <a:r>
              <a:rPr lang="en-US" b="true" sz="1800" strike="noStrike" u="none">
                <a:solidFill>
                  <a:srgbClr val="185079"/>
                </a:solidFill>
                <a:latin typeface="Open Sauce Bold"/>
                <a:ea typeface="Open Sauce Bold"/>
                <a:cs typeface="Open Sauce Bold"/>
                <a:sym typeface="Open Sauce Bold"/>
              </a:rPr>
              <a:t>o</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comp</a:t>
            </a:r>
            <a:r>
              <a:rPr lang="en-US" b="true" sz="1800" strike="noStrike" u="none">
                <a:solidFill>
                  <a:srgbClr val="185079"/>
                </a:solidFill>
                <a:latin typeface="Open Sauce Bold"/>
                <a:ea typeface="Open Sauce Bold"/>
                <a:cs typeface="Open Sauce Bold"/>
                <a:sym typeface="Open Sauce Bold"/>
              </a:rPr>
              <a:t>a</a:t>
            </a:r>
            <a:r>
              <a:rPr lang="en-US" b="true" sz="1800" strike="noStrike" u="none">
                <a:solidFill>
                  <a:srgbClr val="185079"/>
                </a:solidFill>
                <a:latin typeface="Open Sauce Bold"/>
                <a:ea typeface="Open Sauce Bold"/>
                <a:cs typeface="Open Sauce Bold"/>
                <a:sym typeface="Open Sauce Bold"/>
              </a:rPr>
              <a:t>ny po</a:t>
            </a:r>
            <a:r>
              <a:rPr lang="en-US" b="true" sz="1800" strike="noStrike" u="none">
                <a:solidFill>
                  <a:srgbClr val="185079"/>
                </a:solidFill>
                <a:latin typeface="Open Sauce Bold"/>
                <a:ea typeface="Open Sauce Bold"/>
                <a:cs typeface="Open Sauce Bold"/>
                <a:sym typeface="Open Sauce Bold"/>
              </a:rPr>
              <a:t>li</a:t>
            </a:r>
            <a:r>
              <a:rPr lang="en-US" b="true" sz="1800" strike="noStrike" u="none">
                <a:solidFill>
                  <a:srgbClr val="185079"/>
                </a:solidFill>
                <a:latin typeface="Open Sauce Bold"/>
                <a:ea typeface="Open Sauce Bold"/>
                <a:cs typeface="Open Sauce Bold"/>
                <a:sym typeface="Open Sauce Bold"/>
              </a:rPr>
              <a:t>c</a:t>
            </a:r>
            <a:r>
              <a:rPr lang="en-US" b="true" sz="1800" strike="noStrike" u="none">
                <a:solidFill>
                  <a:srgbClr val="185079"/>
                </a:solidFill>
                <a:latin typeface="Open Sauce Bold"/>
                <a:ea typeface="Open Sauce Bold"/>
                <a:cs typeface="Open Sauce Bold"/>
                <a:sym typeface="Open Sauce Bold"/>
              </a:rPr>
              <a:t>ie</a:t>
            </a:r>
            <a:r>
              <a:rPr lang="en-US" b="true" sz="1800" strike="noStrike" u="none">
                <a:solidFill>
                  <a:srgbClr val="185079"/>
                </a:solidFill>
                <a:latin typeface="Open Sauce Bold"/>
                <a:ea typeface="Open Sauce Bold"/>
                <a:cs typeface="Open Sauce Bold"/>
                <a:sym typeface="Open Sauce Bold"/>
              </a:rPr>
              <a:t>s,</a:t>
            </a:r>
          </a:p>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l</a:t>
            </a:r>
            <a:r>
              <a:rPr lang="en-US" b="true" sz="1800" strike="noStrike" u="none">
                <a:solidFill>
                  <a:srgbClr val="185079"/>
                </a:solidFill>
                <a:latin typeface="Open Sauce Bold"/>
                <a:ea typeface="Open Sauce Bold"/>
                <a:cs typeface="Open Sauce Bold"/>
                <a:sym typeface="Open Sauce Bold"/>
              </a:rPr>
              <a:t>ea</a:t>
            </a:r>
            <a:r>
              <a:rPr lang="en-US" b="true" sz="1800" strike="noStrike" u="none">
                <a:solidFill>
                  <a:srgbClr val="185079"/>
                </a:solidFill>
                <a:latin typeface="Open Sauce Bold"/>
                <a:ea typeface="Open Sauce Bold"/>
                <a:cs typeface="Open Sauce Bold"/>
                <a:sym typeface="Open Sauce Bold"/>
              </a:rPr>
              <a:t>ve</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inf</a:t>
            </a:r>
            <a:r>
              <a:rPr lang="en-US" b="true" sz="1800" strike="noStrike" u="none">
                <a:solidFill>
                  <a:srgbClr val="185079"/>
                </a:solidFill>
                <a:latin typeface="Open Sauce Bold"/>
                <a:ea typeface="Open Sauce Bold"/>
                <a:cs typeface="Open Sauce Bold"/>
                <a:sym typeface="Open Sauce Bold"/>
              </a:rPr>
              <a:t>o</a:t>
            </a:r>
            <a:r>
              <a:rPr lang="en-US" b="true" sz="1800" strike="noStrike" u="none">
                <a:solidFill>
                  <a:srgbClr val="185079"/>
                </a:solidFill>
                <a:latin typeface="Open Sauce Bold"/>
                <a:ea typeface="Open Sauce Bold"/>
                <a:cs typeface="Open Sauce Bold"/>
                <a:sym typeface="Open Sauce Bold"/>
              </a:rPr>
              <a:t>r</a:t>
            </a:r>
            <a:r>
              <a:rPr lang="en-US" b="true" sz="1800" strike="noStrike" u="none">
                <a:solidFill>
                  <a:srgbClr val="185079"/>
                </a:solidFill>
                <a:latin typeface="Open Sauce Bold"/>
                <a:ea typeface="Open Sauce Bold"/>
                <a:cs typeface="Open Sauce Bold"/>
                <a:sym typeface="Open Sauce Bold"/>
              </a:rPr>
              <a:t>mati</a:t>
            </a:r>
            <a:r>
              <a:rPr lang="en-US" b="true" sz="1800" strike="noStrike" u="none">
                <a:solidFill>
                  <a:srgbClr val="185079"/>
                </a:solidFill>
                <a:latin typeface="Open Sauce Bold"/>
                <a:ea typeface="Open Sauce Bold"/>
                <a:cs typeface="Open Sauce Bold"/>
                <a:sym typeface="Open Sauce Bold"/>
              </a:rPr>
              <a:t>on,</a:t>
            </a:r>
            <a:r>
              <a:rPr lang="en-US" b="true" sz="1800" strike="noStrike" u="none">
                <a:solidFill>
                  <a:srgbClr val="185079"/>
                </a:solidFill>
                <a:latin typeface="Open Sauce Bold"/>
                <a:ea typeface="Open Sauce Bold"/>
                <a:cs typeface="Open Sauce Bold"/>
                <a:sym typeface="Open Sauce Bold"/>
              </a:rPr>
              <a:t> a</a:t>
            </a:r>
            <a:r>
              <a:rPr lang="en-US" b="true" sz="1800" strike="noStrike" u="none">
                <a:solidFill>
                  <a:srgbClr val="185079"/>
                </a:solidFill>
                <a:latin typeface="Open Sauce Bold"/>
                <a:ea typeface="Open Sauce Bold"/>
                <a:cs typeface="Open Sauce Bold"/>
                <a:sym typeface="Open Sauce Bold"/>
              </a:rPr>
              <a:t>t</a:t>
            </a:r>
            <a:r>
              <a:rPr lang="en-US" b="true" sz="1800" strike="noStrike" u="none">
                <a:solidFill>
                  <a:srgbClr val="185079"/>
                </a:solidFill>
                <a:latin typeface="Open Sauce Bold"/>
                <a:ea typeface="Open Sauce Bold"/>
                <a:cs typeface="Open Sauce Bold"/>
                <a:sym typeface="Open Sauce Bold"/>
              </a:rPr>
              <a:t>t</a:t>
            </a:r>
            <a:r>
              <a:rPr lang="en-US" b="true" sz="1800" strike="noStrike" u="none">
                <a:solidFill>
                  <a:srgbClr val="185079"/>
                </a:solidFill>
                <a:latin typeface="Open Sauce Bold"/>
                <a:ea typeface="Open Sauce Bold"/>
                <a:cs typeface="Open Sauce Bold"/>
                <a:sym typeface="Open Sauce Bold"/>
              </a:rPr>
              <a:t>endanc</a:t>
            </a:r>
            <a:r>
              <a:rPr lang="en-US" b="true" sz="1800" strike="noStrike" u="none">
                <a:solidFill>
                  <a:srgbClr val="185079"/>
                </a:solidFill>
                <a:latin typeface="Open Sauce Bold"/>
                <a:ea typeface="Open Sauce Bold"/>
                <a:cs typeface="Open Sauce Bold"/>
                <a:sym typeface="Open Sauce Bold"/>
              </a:rPr>
              <a:t>e ru</a:t>
            </a:r>
            <a:r>
              <a:rPr lang="en-US" b="true" sz="1800" strike="noStrike" u="none">
                <a:solidFill>
                  <a:srgbClr val="185079"/>
                </a:solidFill>
                <a:latin typeface="Open Sauce Bold"/>
                <a:ea typeface="Open Sauce Bold"/>
                <a:cs typeface="Open Sauce Bold"/>
                <a:sym typeface="Open Sauce Bold"/>
              </a:rPr>
              <a:t>l</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s,</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payroll</a:t>
            </a:r>
          </a:p>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d</a:t>
            </a:r>
            <a:r>
              <a:rPr lang="en-US" b="true" sz="1800" strike="noStrike" u="none">
                <a:solidFill>
                  <a:srgbClr val="185079"/>
                </a:solidFill>
                <a:latin typeface="Open Sauce Bold"/>
                <a:ea typeface="Open Sauce Bold"/>
                <a:cs typeface="Open Sauce Bold"/>
                <a:sym typeface="Open Sauce Bold"/>
              </a:rPr>
              <a:t>etai</a:t>
            </a:r>
            <a:r>
              <a:rPr lang="en-US" b="true" sz="1800" strike="noStrike" u="none">
                <a:solidFill>
                  <a:srgbClr val="185079"/>
                </a:solidFill>
                <a:latin typeface="Open Sauce Bold"/>
                <a:ea typeface="Open Sauce Bold"/>
                <a:cs typeface="Open Sauce Bold"/>
                <a:sym typeface="Open Sauce Bold"/>
              </a:rPr>
              <a:t>l</a:t>
            </a:r>
            <a:r>
              <a:rPr lang="en-US" b="true" sz="1800" strike="noStrike" u="none">
                <a:solidFill>
                  <a:srgbClr val="185079"/>
                </a:solidFill>
                <a:latin typeface="Open Sauce Bold"/>
                <a:ea typeface="Open Sauce Bold"/>
                <a:cs typeface="Open Sauce Bold"/>
                <a:sym typeface="Open Sauce Bold"/>
              </a:rPr>
              <a:t>s,</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a</a:t>
            </a:r>
            <a:r>
              <a:rPr lang="en-US" b="true" sz="1800" strike="noStrike" u="none">
                <a:solidFill>
                  <a:srgbClr val="185079"/>
                </a:solidFill>
                <a:latin typeface="Open Sauce Bold"/>
                <a:ea typeface="Open Sauce Bold"/>
                <a:cs typeface="Open Sauce Bold"/>
                <a:sym typeface="Open Sauce Bold"/>
              </a:rPr>
              <a:t>n</a:t>
            </a:r>
            <a:r>
              <a:rPr lang="en-US" b="true" sz="1800" strike="noStrike" u="none">
                <a:solidFill>
                  <a:srgbClr val="185079"/>
                </a:solidFill>
                <a:latin typeface="Open Sauce Bold"/>
                <a:ea typeface="Open Sauce Bold"/>
                <a:cs typeface="Open Sauce Bold"/>
                <a:sym typeface="Open Sauce Bold"/>
              </a:rPr>
              <a:t>d</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othe</a:t>
            </a:r>
            <a:r>
              <a:rPr lang="en-US" b="true" sz="1800" strike="noStrike" u="none">
                <a:solidFill>
                  <a:srgbClr val="185079"/>
                </a:solidFill>
                <a:latin typeface="Open Sauce Bold"/>
                <a:ea typeface="Open Sauce Bold"/>
                <a:cs typeface="Open Sauce Bold"/>
                <a:sym typeface="Open Sauce Bold"/>
              </a:rPr>
              <a:t>r</a:t>
            </a:r>
            <a:r>
              <a:rPr lang="en-US" b="true" sz="1800" strike="noStrike" u="none">
                <a:solidFill>
                  <a:srgbClr val="185079"/>
                </a:solidFill>
                <a:latin typeface="Open Sauce Bold"/>
                <a:ea typeface="Open Sauce Bold"/>
                <a:cs typeface="Open Sauce Bold"/>
                <a:sym typeface="Open Sauce Bold"/>
              </a:rPr>
              <a:t> HR-</a:t>
            </a:r>
            <a:r>
              <a:rPr lang="en-US" b="true" sz="1800" strike="noStrike" u="none">
                <a:solidFill>
                  <a:srgbClr val="185079"/>
                </a:solidFill>
                <a:latin typeface="Open Sauce Bold"/>
                <a:ea typeface="Open Sauce Bold"/>
                <a:cs typeface="Open Sauce Bold"/>
                <a:sym typeface="Open Sauce Bold"/>
              </a:rPr>
              <a:t>re</a:t>
            </a:r>
            <a:r>
              <a:rPr lang="en-US" b="true" sz="1800" strike="noStrike" u="none">
                <a:solidFill>
                  <a:srgbClr val="185079"/>
                </a:solidFill>
                <a:latin typeface="Open Sauce Bold"/>
                <a:ea typeface="Open Sauce Bold"/>
                <a:cs typeface="Open Sauce Bold"/>
                <a:sym typeface="Open Sauce Bold"/>
              </a:rPr>
              <a:t>lat</a:t>
            </a:r>
            <a:r>
              <a:rPr lang="en-US" b="true" sz="1800" strike="noStrike" u="none">
                <a:solidFill>
                  <a:srgbClr val="185079"/>
                </a:solidFill>
                <a:latin typeface="Open Sauce Bold"/>
                <a:ea typeface="Open Sauce Bold"/>
                <a:cs typeface="Open Sauce Bold"/>
                <a:sym typeface="Open Sauce Bold"/>
              </a:rPr>
              <a:t>ed in</a:t>
            </a:r>
            <a:r>
              <a:rPr lang="en-US" b="true" sz="1800" strike="noStrike" u="none">
                <a:solidFill>
                  <a:srgbClr val="185079"/>
                </a:solidFill>
                <a:latin typeface="Open Sauce Bold"/>
                <a:ea typeface="Open Sauce Bold"/>
                <a:cs typeface="Open Sauce Bold"/>
                <a:sym typeface="Open Sauce Bold"/>
              </a:rPr>
              <a:t>f</a:t>
            </a:r>
            <a:r>
              <a:rPr lang="en-US" b="true" sz="1800" strike="noStrike" u="none">
                <a:solidFill>
                  <a:srgbClr val="185079"/>
                </a:solidFill>
                <a:latin typeface="Open Sauce Bold"/>
                <a:ea typeface="Open Sauce Bold"/>
                <a:cs typeface="Open Sauce Bold"/>
                <a:sym typeface="Open Sauce Bold"/>
              </a:rPr>
              <a:t>o</a:t>
            </a:r>
            <a:r>
              <a:rPr lang="en-US" b="true" sz="1800" strike="noStrike" u="none">
                <a:solidFill>
                  <a:srgbClr val="185079"/>
                </a:solidFill>
                <a:latin typeface="Open Sauce Bold"/>
                <a:ea typeface="Open Sauce Bold"/>
                <a:cs typeface="Open Sauce Bold"/>
                <a:sym typeface="Open Sauce Bold"/>
              </a:rPr>
              <a:t>rm</a:t>
            </a:r>
            <a:r>
              <a:rPr lang="en-US" b="true" sz="1800" strike="noStrike" u="none">
                <a:solidFill>
                  <a:srgbClr val="185079"/>
                </a:solidFill>
                <a:latin typeface="Open Sauce Bold"/>
                <a:ea typeface="Open Sauce Bold"/>
                <a:cs typeface="Open Sauce Bold"/>
                <a:sym typeface="Open Sauce Bold"/>
              </a:rPr>
              <a:t>ati</a:t>
            </a:r>
            <a:r>
              <a:rPr lang="en-US" b="true" sz="1800" strike="noStrike" u="none">
                <a:solidFill>
                  <a:srgbClr val="185079"/>
                </a:solidFill>
                <a:latin typeface="Open Sauce Bold"/>
                <a:ea typeface="Open Sauce Bold"/>
                <a:cs typeface="Open Sauce Bold"/>
                <a:sym typeface="Open Sauce Bold"/>
              </a:rPr>
              <a:t>on.</a:t>
            </a:r>
          </a:p>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Th</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s</a:t>
            </a:r>
            <a:r>
              <a:rPr lang="en-US" b="true" sz="1800" strike="noStrike" u="none">
                <a:solidFill>
                  <a:srgbClr val="185079"/>
                </a:solidFill>
                <a:latin typeface="Open Sauce Bold"/>
                <a:ea typeface="Open Sauce Bold"/>
                <a:cs typeface="Open Sauce Bold"/>
                <a:sym typeface="Open Sauce Bold"/>
              </a:rPr>
              <a:t>y</a:t>
            </a:r>
            <a:r>
              <a:rPr lang="en-US" b="true" sz="1800" strike="noStrike" u="none">
                <a:solidFill>
                  <a:srgbClr val="185079"/>
                </a:solidFill>
                <a:latin typeface="Open Sauce Bold"/>
                <a:ea typeface="Open Sauce Bold"/>
                <a:cs typeface="Open Sauce Bold"/>
                <a:sym typeface="Open Sauce Bold"/>
              </a:rPr>
              <a:t>s</a:t>
            </a:r>
            <a:r>
              <a:rPr lang="en-US" b="true" sz="1800" strike="noStrike" u="none">
                <a:solidFill>
                  <a:srgbClr val="185079"/>
                </a:solidFill>
                <a:latin typeface="Open Sauce Bold"/>
                <a:ea typeface="Open Sauce Bold"/>
                <a:cs typeface="Open Sauce Bold"/>
                <a:sym typeface="Open Sauce Bold"/>
              </a:rPr>
              <a:t>t</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m</a:t>
            </a:r>
            <a:r>
              <a:rPr lang="en-US" b="true" sz="1800" strike="noStrike" u="none">
                <a:solidFill>
                  <a:srgbClr val="185079"/>
                </a:solidFill>
                <a:latin typeface="Open Sauce Bold"/>
                <a:ea typeface="Open Sauce Bold"/>
                <a:cs typeface="Open Sauce Bold"/>
                <a:sym typeface="Open Sauce Bold"/>
              </a:rPr>
              <a:t> im</a:t>
            </a:r>
            <a:r>
              <a:rPr lang="en-US" b="true" sz="1800" strike="noStrike" u="none">
                <a:solidFill>
                  <a:srgbClr val="185079"/>
                </a:solidFill>
                <a:latin typeface="Open Sauce Bold"/>
                <a:ea typeface="Open Sauce Bold"/>
                <a:cs typeface="Open Sauce Bold"/>
                <a:sym typeface="Open Sauce Bold"/>
              </a:rPr>
              <a:t>pr</a:t>
            </a:r>
            <a:r>
              <a:rPr lang="en-US" b="true" sz="1800" strike="noStrike" u="none">
                <a:solidFill>
                  <a:srgbClr val="185079"/>
                </a:solidFill>
                <a:latin typeface="Open Sauce Bold"/>
                <a:ea typeface="Open Sauce Bold"/>
                <a:cs typeface="Open Sauce Bold"/>
                <a:sym typeface="Open Sauce Bold"/>
              </a:rPr>
              <a:t>o</a:t>
            </a:r>
            <a:r>
              <a:rPr lang="en-US" b="true" sz="1800" strike="noStrike" u="none">
                <a:solidFill>
                  <a:srgbClr val="185079"/>
                </a:solidFill>
                <a:latin typeface="Open Sauce Bold"/>
                <a:ea typeface="Open Sauce Bold"/>
                <a:cs typeface="Open Sauce Bold"/>
                <a:sym typeface="Open Sauce Bold"/>
              </a:rPr>
              <a:t>v</a:t>
            </a:r>
            <a:r>
              <a:rPr lang="en-US" b="true" sz="1800" strike="noStrike" u="none">
                <a:solidFill>
                  <a:srgbClr val="185079"/>
                </a:solidFill>
                <a:latin typeface="Open Sauce Bold"/>
                <a:ea typeface="Open Sauce Bold"/>
                <a:cs typeface="Open Sauce Bold"/>
                <a:sym typeface="Open Sauce Bold"/>
              </a:rPr>
              <a:t>e</a:t>
            </a:r>
            <a:r>
              <a:rPr lang="en-US" b="true" sz="1800" strike="noStrike" u="none">
                <a:solidFill>
                  <a:srgbClr val="185079"/>
                </a:solidFill>
                <a:latin typeface="Open Sauce Bold"/>
                <a:ea typeface="Open Sauce Bold"/>
                <a:cs typeface="Open Sauce Bold"/>
                <a:sym typeface="Open Sauce Bold"/>
              </a:rPr>
              <a:t>s</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comm</a:t>
            </a:r>
            <a:r>
              <a:rPr lang="en-US" b="true" sz="1800" strike="noStrike" u="none">
                <a:solidFill>
                  <a:srgbClr val="185079"/>
                </a:solidFill>
                <a:latin typeface="Open Sauce Bold"/>
                <a:ea typeface="Open Sauce Bold"/>
                <a:cs typeface="Open Sauce Bold"/>
                <a:sym typeface="Open Sauce Bold"/>
              </a:rPr>
              <a:t>u</a:t>
            </a:r>
            <a:r>
              <a:rPr lang="en-US" b="true" sz="1800" strike="noStrike" u="none">
                <a:solidFill>
                  <a:srgbClr val="185079"/>
                </a:solidFill>
                <a:latin typeface="Open Sauce Bold"/>
                <a:ea typeface="Open Sauce Bold"/>
                <a:cs typeface="Open Sauce Bold"/>
                <a:sym typeface="Open Sauce Bold"/>
              </a:rPr>
              <a:t>n</a:t>
            </a:r>
            <a:r>
              <a:rPr lang="en-US" b="true" sz="1800" strike="noStrike" u="none">
                <a:solidFill>
                  <a:srgbClr val="185079"/>
                </a:solidFill>
                <a:latin typeface="Open Sauce Bold"/>
                <a:ea typeface="Open Sauce Bold"/>
                <a:cs typeface="Open Sauce Bold"/>
                <a:sym typeface="Open Sauce Bold"/>
              </a:rPr>
              <a:t>i</a:t>
            </a:r>
            <a:r>
              <a:rPr lang="en-US" b="true" sz="1800" strike="noStrike" u="none">
                <a:solidFill>
                  <a:srgbClr val="185079"/>
                </a:solidFill>
                <a:latin typeface="Open Sauce Bold"/>
                <a:ea typeface="Open Sauce Bold"/>
                <a:cs typeface="Open Sauce Bold"/>
                <a:sym typeface="Open Sauce Bold"/>
              </a:rPr>
              <a:t>c</a:t>
            </a:r>
            <a:r>
              <a:rPr lang="en-US" b="true" sz="1800" strike="noStrike" u="none">
                <a:solidFill>
                  <a:srgbClr val="185079"/>
                </a:solidFill>
                <a:latin typeface="Open Sauce Bold"/>
                <a:ea typeface="Open Sauce Bold"/>
                <a:cs typeface="Open Sauce Bold"/>
                <a:sym typeface="Open Sauce Bold"/>
              </a:rPr>
              <a:t>at</a:t>
            </a:r>
            <a:r>
              <a:rPr lang="en-US" b="true" sz="1800" strike="noStrike" u="none">
                <a:solidFill>
                  <a:srgbClr val="185079"/>
                </a:solidFill>
                <a:latin typeface="Open Sauce Bold"/>
                <a:ea typeface="Open Sauce Bold"/>
                <a:cs typeface="Open Sauce Bold"/>
                <a:sym typeface="Open Sauce Bold"/>
              </a:rPr>
              <a:t>io</a:t>
            </a:r>
            <a:r>
              <a:rPr lang="en-US" b="true" sz="1800" strike="noStrike" u="none">
                <a:solidFill>
                  <a:srgbClr val="185079"/>
                </a:solidFill>
                <a:latin typeface="Open Sauce Bold"/>
                <a:ea typeface="Open Sauce Bold"/>
                <a:cs typeface="Open Sauce Bold"/>
                <a:sym typeface="Open Sauce Bold"/>
              </a:rPr>
              <a:t>n</a:t>
            </a:r>
            <a:r>
              <a:rPr lang="en-US" b="true" sz="1800" strike="noStrike" u="none">
                <a:solidFill>
                  <a:srgbClr val="185079"/>
                </a:solidFill>
                <a:latin typeface="Open Sauce Bold"/>
                <a:ea typeface="Open Sauce Bold"/>
                <a:cs typeface="Open Sauce Bold"/>
                <a:sym typeface="Open Sauce Bold"/>
              </a:rPr>
              <a:t>,</a:t>
            </a:r>
            <a:r>
              <a:rPr lang="en-US" b="true" sz="1800" strike="noStrike" u="none">
                <a:solidFill>
                  <a:srgbClr val="185079"/>
                </a:solidFill>
                <a:latin typeface="Open Sauce Bold"/>
                <a:ea typeface="Open Sauce Bold"/>
                <a:cs typeface="Open Sauce Bold"/>
                <a:sym typeface="Open Sauce Bold"/>
              </a:rPr>
              <a:t> r</a:t>
            </a:r>
            <a:r>
              <a:rPr lang="en-US" b="true" sz="1800" strike="noStrike" u="none">
                <a:solidFill>
                  <a:srgbClr val="185079"/>
                </a:solidFill>
                <a:latin typeface="Open Sauce Bold"/>
                <a:ea typeface="Open Sauce Bold"/>
                <a:cs typeface="Open Sauce Bold"/>
                <a:sym typeface="Open Sauce Bold"/>
              </a:rPr>
              <a:t>ed</a:t>
            </a:r>
            <a:r>
              <a:rPr lang="en-US" b="true" sz="1800" strike="noStrike" u="none">
                <a:solidFill>
                  <a:srgbClr val="185079"/>
                </a:solidFill>
                <a:latin typeface="Open Sauce Bold"/>
                <a:ea typeface="Open Sauce Bold"/>
                <a:cs typeface="Open Sauce Bold"/>
                <a:sym typeface="Open Sauce Bold"/>
              </a:rPr>
              <a:t>uces</a:t>
            </a:r>
          </a:p>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ma</a:t>
            </a:r>
            <a:r>
              <a:rPr lang="en-US" b="true" sz="1800" strike="noStrike" u="none">
                <a:solidFill>
                  <a:srgbClr val="185079"/>
                </a:solidFill>
                <a:latin typeface="Open Sauce Bold"/>
                <a:ea typeface="Open Sauce Bold"/>
                <a:cs typeface="Open Sauce Bold"/>
                <a:sym typeface="Open Sauce Bold"/>
              </a:rPr>
              <a:t>n</a:t>
            </a:r>
            <a:r>
              <a:rPr lang="en-US" b="true" sz="1800" strike="noStrike" u="none">
                <a:solidFill>
                  <a:srgbClr val="185079"/>
                </a:solidFill>
                <a:latin typeface="Open Sauce Bold"/>
                <a:ea typeface="Open Sauce Bold"/>
                <a:cs typeface="Open Sauce Bold"/>
                <a:sym typeface="Open Sauce Bold"/>
              </a:rPr>
              <a:t>ual HR</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w</a:t>
            </a:r>
            <a:r>
              <a:rPr lang="en-US" b="true" sz="1800" strike="noStrike" u="none">
                <a:solidFill>
                  <a:srgbClr val="185079"/>
                </a:solidFill>
                <a:latin typeface="Open Sauce Bold"/>
                <a:ea typeface="Open Sauce Bold"/>
                <a:cs typeface="Open Sauce Bold"/>
                <a:sym typeface="Open Sauce Bold"/>
              </a:rPr>
              <a:t>o</a:t>
            </a:r>
            <a:r>
              <a:rPr lang="en-US" b="true" sz="1800" strike="noStrike" u="none">
                <a:solidFill>
                  <a:srgbClr val="185079"/>
                </a:solidFill>
                <a:latin typeface="Open Sauce Bold"/>
                <a:ea typeface="Open Sauce Bold"/>
                <a:cs typeface="Open Sauce Bold"/>
                <a:sym typeface="Open Sauce Bold"/>
              </a:rPr>
              <a:t>rklo</a:t>
            </a:r>
            <a:r>
              <a:rPr lang="en-US" b="true" sz="1800" strike="noStrike" u="none">
                <a:solidFill>
                  <a:srgbClr val="185079"/>
                </a:solidFill>
                <a:latin typeface="Open Sauce Bold"/>
                <a:ea typeface="Open Sauce Bold"/>
                <a:cs typeface="Open Sauce Bold"/>
                <a:sym typeface="Open Sauce Bold"/>
              </a:rPr>
              <a:t>a</a:t>
            </a:r>
            <a:r>
              <a:rPr lang="en-US" b="true" sz="1800" strike="noStrike" u="none">
                <a:solidFill>
                  <a:srgbClr val="185079"/>
                </a:solidFill>
                <a:latin typeface="Open Sauce Bold"/>
                <a:ea typeface="Open Sauce Bold"/>
                <a:cs typeface="Open Sauce Bold"/>
                <a:sym typeface="Open Sauce Bold"/>
              </a:rPr>
              <a:t>d,</a:t>
            </a:r>
            <a:r>
              <a:rPr lang="en-US" b="true" sz="1800" strike="noStrike" u="none">
                <a:solidFill>
                  <a:srgbClr val="185079"/>
                </a:solidFill>
                <a:latin typeface="Open Sauce Bold"/>
                <a:ea typeface="Open Sauce Bold"/>
                <a:cs typeface="Open Sauce Bold"/>
                <a:sym typeface="Open Sauce Bold"/>
              </a:rPr>
              <a:t> an</a:t>
            </a:r>
            <a:r>
              <a:rPr lang="en-US" b="true" sz="1800" strike="noStrike" u="none">
                <a:solidFill>
                  <a:srgbClr val="185079"/>
                </a:solidFill>
                <a:latin typeface="Open Sauce Bold"/>
                <a:ea typeface="Open Sauce Bold"/>
                <a:cs typeface="Open Sauce Bold"/>
                <a:sym typeface="Open Sauce Bold"/>
              </a:rPr>
              <a:t>d</a:t>
            </a:r>
            <a:r>
              <a:rPr lang="en-US" b="true" sz="1800" strike="noStrike" u="none">
                <a:solidFill>
                  <a:srgbClr val="185079"/>
                </a:solidFill>
                <a:latin typeface="Open Sauce Bold"/>
                <a:ea typeface="Open Sauce Bold"/>
                <a:cs typeface="Open Sauce Bold"/>
                <a:sym typeface="Open Sauce Bold"/>
              </a:rPr>
              <a:t> pro</a:t>
            </a:r>
            <a:r>
              <a:rPr lang="en-US" b="true" sz="1800" strike="noStrike" u="none">
                <a:solidFill>
                  <a:srgbClr val="185079"/>
                </a:solidFill>
                <a:latin typeface="Open Sauce Bold"/>
                <a:ea typeface="Open Sauce Bold"/>
                <a:cs typeface="Open Sauce Bold"/>
                <a:sym typeface="Open Sauce Bold"/>
              </a:rPr>
              <a:t>v</a:t>
            </a:r>
            <a:r>
              <a:rPr lang="en-US" b="true" sz="1800" strike="noStrike" u="none">
                <a:solidFill>
                  <a:srgbClr val="185079"/>
                </a:solidFill>
                <a:latin typeface="Open Sauce Bold"/>
                <a:ea typeface="Open Sauce Bold"/>
                <a:cs typeface="Open Sauce Bold"/>
                <a:sym typeface="Open Sauce Bold"/>
              </a:rPr>
              <a:t>ides in</a:t>
            </a:r>
            <a:r>
              <a:rPr lang="en-US" b="true" sz="1800" strike="noStrike" u="none">
                <a:solidFill>
                  <a:srgbClr val="185079"/>
                </a:solidFill>
                <a:latin typeface="Open Sauce Bold"/>
                <a:ea typeface="Open Sauce Bold"/>
                <a:cs typeface="Open Sauce Bold"/>
                <a:sym typeface="Open Sauce Bold"/>
              </a:rPr>
              <a:t>st</a:t>
            </a:r>
            <a:r>
              <a:rPr lang="en-US" b="true" sz="1800" strike="noStrike" u="none">
                <a:solidFill>
                  <a:srgbClr val="185079"/>
                </a:solidFill>
                <a:latin typeface="Open Sauce Bold"/>
                <a:ea typeface="Open Sauce Bold"/>
                <a:cs typeface="Open Sauce Bold"/>
                <a:sym typeface="Open Sauce Bold"/>
              </a:rPr>
              <a:t>a</a:t>
            </a:r>
            <a:r>
              <a:rPr lang="en-US" b="true" sz="1800" strike="noStrike" u="none">
                <a:solidFill>
                  <a:srgbClr val="185079"/>
                </a:solidFill>
                <a:latin typeface="Open Sauce Bold"/>
                <a:ea typeface="Open Sauce Bold"/>
                <a:cs typeface="Open Sauce Bold"/>
                <a:sym typeface="Open Sauce Bold"/>
              </a:rPr>
              <a:t>nt</a:t>
            </a:r>
          </a:p>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AI-p</a:t>
            </a:r>
            <a:r>
              <a:rPr lang="en-US" b="true" sz="1800" strike="noStrike" u="none">
                <a:solidFill>
                  <a:srgbClr val="185079"/>
                </a:solidFill>
                <a:latin typeface="Open Sauce Bold"/>
                <a:ea typeface="Open Sauce Bold"/>
                <a:cs typeface="Open Sauce Bold"/>
                <a:sym typeface="Open Sauce Bold"/>
              </a:rPr>
              <a:t>o</a:t>
            </a:r>
            <a:r>
              <a:rPr lang="en-US" b="true" sz="1800" strike="noStrike" u="none">
                <a:solidFill>
                  <a:srgbClr val="185079"/>
                </a:solidFill>
                <a:latin typeface="Open Sauce Bold"/>
                <a:ea typeface="Open Sauce Bold"/>
                <a:cs typeface="Open Sauce Bold"/>
                <a:sym typeface="Open Sauce Bold"/>
              </a:rPr>
              <a:t>wered</a:t>
            </a:r>
            <a:r>
              <a:rPr lang="en-US" b="true" sz="1800" strike="noStrike" u="none">
                <a:solidFill>
                  <a:srgbClr val="185079"/>
                </a:solidFill>
                <a:latin typeface="Open Sauce Bold"/>
                <a:ea typeface="Open Sauce Bold"/>
                <a:cs typeface="Open Sauce Bold"/>
                <a:sym typeface="Open Sauce Bold"/>
              </a:rPr>
              <a:t> s</a:t>
            </a:r>
            <a:r>
              <a:rPr lang="en-US" b="true" sz="1800" strike="noStrike" u="none">
                <a:solidFill>
                  <a:srgbClr val="185079"/>
                </a:solidFill>
                <a:latin typeface="Open Sauce Bold"/>
                <a:ea typeface="Open Sauce Bold"/>
                <a:cs typeface="Open Sauce Bold"/>
                <a:sym typeface="Open Sauce Bold"/>
              </a:rPr>
              <a:t>uppo</a:t>
            </a:r>
            <a:r>
              <a:rPr lang="en-US" b="true" sz="1800" strike="noStrike" u="none">
                <a:solidFill>
                  <a:srgbClr val="185079"/>
                </a:solidFill>
                <a:latin typeface="Open Sauce Bold"/>
                <a:ea typeface="Open Sauce Bold"/>
                <a:cs typeface="Open Sauce Bold"/>
                <a:sym typeface="Open Sauce Bold"/>
              </a:rPr>
              <a:t>rt </a:t>
            </a:r>
            <a:r>
              <a:rPr lang="en-US" b="true" sz="1800" strike="noStrike" u="none">
                <a:solidFill>
                  <a:srgbClr val="185079"/>
                </a:solidFill>
                <a:latin typeface="Open Sauce Bold"/>
                <a:ea typeface="Open Sauce Bold"/>
                <a:cs typeface="Open Sauce Bold"/>
                <a:sym typeface="Open Sauce Bold"/>
              </a:rPr>
              <a:t>with</a:t>
            </a:r>
            <a:r>
              <a:rPr lang="en-US" b="true" sz="1800" strike="noStrike" u="none">
                <a:solidFill>
                  <a:srgbClr val="185079"/>
                </a:solidFill>
                <a:latin typeface="Open Sauce Bold"/>
                <a:ea typeface="Open Sauce Bold"/>
                <a:cs typeface="Open Sauce Bold"/>
                <a:sym typeface="Open Sauce Bold"/>
              </a:rPr>
              <a:t>i</a:t>
            </a:r>
            <a:r>
              <a:rPr lang="en-US" b="true" sz="1800" strike="noStrike" u="none">
                <a:solidFill>
                  <a:srgbClr val="185079"/>
                </a:solidFill>
                <a:latin typeface="Open Sauce Bold"/>
                <a:ea typeface="Open Sauce Bold"/>
                <a:cs typeface="Open Sauce Bold"/>
                <a:sym typeface="Open Sauce Bold"/>
              </a:rPr>
              <a:t>n </a:t>
            </a:r>
            <a:r>
              <a:rPr lang="en-US" b="true" sz="1800" strike="noStrike" u="none">
                <a:solidFill>
                  <a:srgbClr val="185079"/>
                </a:solidFill>
                <a:latin typeface="Open Sauce Bold"/>
                <a:ea typeface="Open Sauce Bold"/>
                <a:cs typeface="Open Sauce Bold"/>
                <a:sym typeface="Open Sauce Bold"/>
              </a:rPr>
              <a:t>t</a:t>
            </a:r>
            <a:r>
              <a:rPr lang="en-US" b="true" sz="1800" strike="noStrike" u="none">
                <a:solidFill>
                  <a:srgbClr val="185079"/>
                </a:solidFill>
                <a:latin typeface="Open Sauce Bold"/>
                <a:ea typeface="Open Sauce Bold"/>
                <a:cs typeface="Open Sauce Bold"/>
                <a:sym typeface="Open Sauce Bold"/>
              </a:rPr>
              <a:t>he</a:t>
            </a:r>
            <a:r>
              <a:rPr lang="en-US" b="true" sz="1800" strike="noStrike" u="none">
                <a:solidFill>
                  <a:srgbClr val="185079"/>
                </a:solidFill>
                <a:latin typeface="Open Sauce Bold"/>
                <a:ea typeface="Open Sauce Bold"/>
                <a:cs typeface="Open Sauce Bold"/>
                <a:sym typeface="Open Sauce Bold"/>
              </a:rPr>
              <a:t> </a:t>
            </a:r>
            <a:r>
              <a:rPr lang="en-US" b="true" sz="1800" strike="noStrike" u="none">
                <a:solidFill>
                  <a:srgbClr val="185079"/>
                </a:solidFill>
                <a:latin typeface="Open Sauce Bold"/>
                <a:ea typeface="Open Sauce Bold"/>
                <a:cs typeface="Open Sauce Bold"/>
                <a:sym typeface="Open Sauce Bold"/>
              </a:rPr>
              <a:t>org</a:t>
            </a:r>
            <a:r>
              <a:rPr lang="en-US" b="true" sz="1800" strike="noStrike" u="none">
                <a:solidFill>
                  <a:srgbClr val="185079"/>
                </a:solidFill>
                <a:latin typeface="Open Sauce Bold"/>
                <a:ea typeface="Open Sauce Bold"/>
                <a:cs typeface="Open Sauce Bold"/>
                <a:sym typeface="Open Sauce Bold"/>
              </a:rPr>
              <a:t>ani</a:t>
            </a:r>
            <a:r>
              <a:rPr lang="en-US" b="true" sz="1800" strike="noStrike" u="none">
                <a:solidFill>
                  <a:srgbClr val="185079"/>
                </a:solidFill>
                <a:latin typeface="Open Sauce Bold"/>
                <a:ea typeface="Open Sauce Bold"/>
                <a:cs typeface="Open Sauce Bold"/>
                <a:sym typeface="Open Sauce Bold"/>
              </a:rPr>
              <a:t>za</a:t>
            </a:r>
            <a:r>
              <a:rPr lang="en-US" b="true" sz="1800" strike="noStrike" u="none">
                <a:solidFill>
                  <a:srgbClr val="185079"/>
                </a:solidFill>
                <a:latin typeface="Open Sauce Bold"/>
                <a:ea typeface="Open Sauce Bold"/>
                <a:cs typeface="Open Sauce Bold"/>
                <a:sym typeface="Open Sauce Bold"/>
              </a:rPr>
              <a:t>t</a:t>
            </a:r>
            <a:r>
              <a:rPr lang="en-US" b="true" sz="1800" strike="noStrike" u="none">
                <a:solidFill>
                  <a:srgbClr val="185079"/>
                </a:solidFill>
                <a:latin typeface="Open Sauce Bold"/>
                <a:ea typeface="Open Sauce Bold"/>
                <a:cs typeface="Open Sauce Bold"/>
                <a:sym typeface="Open Sauce Bold"/>
              </a:rPr>
              <a:t>i</a:t>
            </a:r>
            <a:r>
              <a:rPr lang="en-US" b="true" sz="1800" strike="noStrike" u="none">
                <a:solidFill>
                  <a:srgbClr val="185079"/>
                </a:solidFill>
                <a:latin typeface="Open Sauce Bold"/>
                <a:ea typeface="Open Sauce Bold"/>
                <a:cs typeface="Open Sauce Bold"/>
                <a:sym typeface="Open Sauce Bold"/>
              </a:rPr>
              <a:t>o</a:t>
            </a:r>
            <a:r>
              <a:rPr lang="en-US" b="true" sz="1800" strike="noStrike" u="none">
                <a:solidFill>
                  <a:srgbClr val="185079"/>
                </a:solidFill>
                <a:latin typeface="Open Sauce Bold"/>
                <a:ea typeface="Open Sauce Bold"/>
                <a:cs typeface="Open Sauce Bold"/>
                <a:sym typeface="Open Sauce Bold"/>
              </a:rPr>
              <a:t>n</a:t>
            </a:r>
            <a:r>
              <a:rPr lang="en-US" b="true" sz="1800" strike="noStrike" u="none">
                <a:solidFill>
                  <a:srgbClr val="185079"/>
                </a:solidFill>
                <a:latin typeface="Open Sauce Bold"/>
                <a:ea typeface="Open Sauce Bold"/>
                <a:cs typeface="Open Sauce Bold"/>
                <a:sym typeface="Open Sauce Bold"/>
              </a:rPr>
              <a:t>.</a:t>
            </a:r>
          </a:p>
        </p:txBody>
      </p:sp>
      <p:grpSp>
        <p:nvGrpSpPr>
          <p:cNvPr name="Group 5" id="5"/>
          <p:cNvGrpSpPr/>
          <p:nvPr/>
        </p:nvGrpSpPr>
        <p:grpSpPr>
          <a:xfrm rot="0">
            <a:off x="8953500" y="1669519"/>
            <a:ext cx="3911512" cy="3346236"/>
            <a:chOff x="0" y="0"/>
            <a:chExt cx="935533" cy="800333"/>
          </a:xfrm>
        </p:grpSpPr>
        <p:sp>
          <p:nvSpPr>
            <p:cNvPr name="Freeform 6" id="6"/>
            <p:cNvSpPr/>
            <p:nvPr/>
          </p:nvSpPr>
          <p:spPr>
            <a:xfrm flipH="false" flipV="false" rot="0">
              <a:off x="0" y="0"/>
              <a:ext cx="935533" cy="800333"/>
            </a:xfrm>
            <a:custGeom>
              <a:avLst/>
              <a:gdLst/>
              <a:ahLst/>
              <a:cxnLst/>
              <a:rect r="r" b="b" t="t" l="l"/>
              <a:pathLst>
                <a:path h="800333" w="935533">
                  <a:moveTo>
                    <a:pt x="47502" y="0"/>
                  </a:moveTo>
                  <a:lnTo>
                    <a:pt x="888030" y="0"/>
                  </a:lnTo>
                  <a:cubicBezTo>
                    <a:pt x="914265" y="0"/>
                    <a:pt x="935533" y="21268"/>
                    <a:pt x="935533" y="47502"/>
                  </a:cubicBezTo>
                  <a:lnTo>
                    <a:pt x="935533" y="752831"/>
                  </a:lnTo>
                  <a:cubicBezTo>
                    <a:pt x="935533" y="765429"/>
                    <a:pt x="930528" y="777512"/>
                    <a:pt x="921620" y="786420"/>
                  </a:cubicBezTo>
                  <a:cubicBezTo>
                    <a:pt x="912711" y="795329"/>
                    <a:pt x="900629" y="800333"/>
                    <a:pt x="888030" y="800333"/>
                  </a:cubicBezTo>
                  <a:lnTo>
                    <a:pt x="47502" y="800333"/>
                  </a:lnTo>
                  <a:cubicBezTo>
                    <a:pt x="34904" y="800333"/>
                    <a:pt x="22822" y="795329"/>
                    <a:pt x="13913" y="786420"/>
                  </a:cubicBezTo>
                  <a:cubicBezTo>
                    <a:pt x="5005" y="777512"/>
                    <a:pt x="0" y="765429"/>
                    <a:pt x="0" y="752831"/>
                  </a:cubicBezTo>
                  <a:lnTo>
                    <a:pt x="0" y="47502"/>
                  </a:lnTo>
                  <a:cubicBezTo>
                    <a:pt x="0" y="34904"/>
                    <a:pt x="5005" y="22822"/>
                    <a:pt x="13913" y="13913"/>
                  </a:cubicBezTo>
                  <a:cubicBezTo>
                    <a:pt x="22822" y="5005"/>
                    <a:pt x="34904" y="0"/>
                    <a:pt x="47502" y="0"/>
                  </a:cubicBezTo>
                  <a:close/>
                </a:path>
              </a:pathLst>
            </a:custGeom>
            <a:solidFill>
              <a:srgbClr val="BBD6E1"/>
            </a:solidFill>
            <a:ln cap="rnd">
              <a:noFill/>
              <a:prstDash val="solid"/>
              <a:round/>
            </a:ln>
          </p:spPr>
        </p:sp>
        <p:sp>
          <p:nvSpPr>
            <p:cNvPr name="TextBox 7" id="7"/>
            <p:cNvSpPr txBox="true"/>
            <p:nvPr/>
          </p:nvSpPr>
          <p:spPr>
            <a:xfrm>
              <a:off x="0" y="0"/>
              <a:ext cx="935533" cy="800333"/>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8" id="8"/>
          <p:cNvGrpSpPr/>
          <p:nvPr/>
        </p:nvGrpSpPr>
        <p:grpSpPr>
          <a:xfrm rot="0">
            <a:off x="13157288" y="1669519"/>
            <a:ext cx="3911512" cy="3346236"/>
            <a:chOff x="0" y="0"/>
            <a:chExt cx="935533" cy="800333"/>
          </a:xfrm>
        </p:grpSpPr>
        <p:sp>
          <p:nvSpPr>
            <p:cNvPr name="Freeform 9" id="9"/>
            <p:cNvSpPr/>
            <p:nvPr/>
          </p:nvSpPr>
          <p:spPr>
            <a:xfrm flipH="false" flipV="false" rot="0">
              <a:off x="0" y="0"/>
              <a:ext cx="935533" cy="800333"/>
            </a:xfrm>
            <a:custGeom>
              <a:avLst/>
              <a:gdLst/>
              <a:ahLst/>
              <a:cxnLst/>
              <a:rect r="r" b="b" t="t" l="l"/>
              <a:pathLst>
                <a:path h="800333" w="935533">
                  <a:moveTo>
                    <a:pt x="47502" y="0"/>
                  </a:moveTo>
                  <a:lnTo>
                    <a:pt x="888030" y="0"/>
                  </a:lnTo>
                  <a:cubicBezTo>
                    <a:pt x="914265" y="0"/>
                    <a:pt x="935533" y="21268"/>
                    <a:pt x="935533" y="47502"/>
                  </a:cubicBezTo>
                  <a:lnTo>
                    <a:pt x="935533" y="752831"/>
                  </a:lnTo>
                  <a:cubicBezTo>
                    <a:pt x="935533" y="765429"/>
                    <a:pt x="930528" y="777512"/>
                    <a:pt x="921620" y="786420"/>
                  </a:cubicBezTo>
                  <a:cubicBezTo>
                    <a:pt x="912711" y="795329"/>
                    <a:pt x="900629" y="800333"/>
                    <a:pt x="888030" y="800333"/>
                  </a:cubicBezTo>
                  <a:lnTo>
                    <a:pt x="47502" y="800333"/>
                  </a:lnTo>
                  <a:cubicBezTo>
                    <a:pt x="34904" y="800333"/>
                    <a:pt x="22822" y="795329"/>
                    <a:pt x="13913" y="786420"/>
                  </a:cubicBezTo>
                  <a:cubicBezTo>
                    <a:pt x="5005" y="777512"/>
                    <a:pt x="0" y="765429"/>
                    <a:pt x="0" y="752831"/>
                  </a:cubicBezTo>
                  <a:lnTo>
                    <a:pt x="0" y="47502"/>
                  </a:lnTo>
                  <a:cubicBezTo>
                    <a:pt x="0" y="34904"/>
                    <a:pt x="5005" y="22822"/>
                    <a:pt x="13913" y="13913"/>
                  </a:cubicBezTo>
                  <a:cubicBezTo>
                    <a:pt x="22822" y="5005"/>
                    <a:pt x="34904" y="0"/>
                    <a:pt x="47502" y="0"/>
                  </a:cubicBezTo>
                  <a:close/>
                </a:path>
              </a:pathLst>
            </a:custGeom>
            <a:solidFill>
              <a:srgbClr val="95BFD1"/>
            </a:solidFill>
            <a:ln cap="rnd">
              <a:noFill/>
              <a:prstDash val="solid"/>
              <a:round/>
            </a:ln>
          </p:spPr>
        </p:sp>
        <p:sp>
          <p:nvSpPr>
            <p:cNvPr name="TextBox 10" id="10"/>
            <p:cNvSpPr txBox="true"/>
            <p:nvPr/>
          </p:nvSpPr>
          <p:spPr>
            <a:xfrm>
              <a:off x="0" y="0"/>
              <a:ext cx="935533" cy="800333"/>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11" id="11"/>
          <p:cNvGrpSpPr/>
          <p:nvPr/>
        </p:nvGrpSpPr>
        <p:grpSpPr>
          <a:xfrm rot="0">
            <a:off x="8953500" y="5271245"/>
            <a:ext cx="3911512" cy="3346236"/>
            <a:chOff x="0" y="0"/>
            <a:chExt cx="935533" cy="800333"/>
          </a:xfrm>
        </p:grpSpPr>
        <p:sp>
          <p:nvSpPr>
            <p:cNvPr name="Freeform 12" id="12"/>
            <p:cNvSpPr/>
            <p:nvPr/>
          </p:nvSpPr>
          <p:spPr>
            <a:xfrm flipH="false" flipV="false" rot="0">
              <a:off x="0" y="0"/>
              <a:ext cx="935533" cy="800333"/>
            </a:xfrm>
            <a:custGeom>
              <a:avLst/>
              <a:gdLst/>
              <a:ahLst/>
              <a:cxnLst/>
              <a:rect r="r" b="b" t="t" l="l"/>
              <a:pathLst>
                <a:path h="800333" w="935533">
                  <a:moveTo>
                    <a:pt x="47502" y="0"/>
                  </a:moveTo>
                  <a:lnTo>
                    <a:pt x="888030" y="0"/>
                  </a:lnTo>
                  <a:cubicBezTo>
                    <a:pt x="914265" y="0"/>
                    <a:pt x="935533" y="21268"/>
                    <a:pt x="935533" y="47502"/>
                  </a:cubicBezTo>
                  <a:lnTo>
                    <a:pt x="935533" y="752831"/>
                  </a:lnTo>
                  <a:cubicBezTo>
                    <a:pt x="935533" y="765429"/>
                    <a:pt x="930528" y="777512"/>
                    <a:pt x="921620" y="786420"/>
                  </a:cubicBezTo>
                  <a:cubicBezTo>
                    <a:pt x="912711" y="795329"/>
                    <a:pt x="900629" y="800333"/>
                    <a:pt x="888030" y="800333"/>
                  </a:cubicBezTo>
                  <a:lnTo>
                    <a:pt x="47502" y="800333"/>
                  </a:lnTo>
                  <a:cubicBezTo>
                    <a:pt x="34904" y="800333"/>
                    <a:pt x="22822" y="795329"/>
                    <a:pt x="13913" y="786420"/>
                  </a:cubicBezTo>
                  <a:cubicBezTo>
                    <a:pt x="5005" y="777512"/>
                    <a:pt x="0" y="765429"/>
                    <a:pt x="0" y="752831"/>
                  </a:cubicBezTo>
                  <a:lnTo>
                    <a:pt x="0" y="47502"/>
                  </a:lnTo>
                  <a:cubicBezTo>
                    <a:pt x="0" y="34904"/>
                    <a:pt x="5005" y="22822"/>
                    <a:pt x="13913" y="13913"/>
                  </a:cubicBezTo>
                  <a:cubicBezTo>
                    <a:pt x="22822" y="5005"/>
                    <a:pt x="34904" y="0"/>
                    <a:pt x="47502" y="0"/>
                  </a:cubicBezTo>
                  <a:close/>
                </a:path>
              </a:pathLst>
            </a:custGeom>
            <a:solidFill>
              <a:srgbClr val="6BA1BC"/>
            </a:solidFill>
            <a:ln cap="rnd">
              <a:noFill/>
              <a:prstDash val="solid"/>
              <a:round/>
            </a:ln>
          </p:spPr>
        </p:sp>
        <p:sp>
          <p:nvSpPr>
            <p:cNvPr name="TextBox 13" id="13"/>
            <p:cNvSpPr txBox="true"/>
            <p:nvPr/>
          </p:nvSpPr>
          <p:spPr>
            <a:xfrm>
              <a:off x="0" y="0"/>
              <a:ext cx="935533" cy="800333"/>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14" id="14"/>
          <p:cNvGrpSpPr/>
          <p:nvPr/>
        </p:nvGrpSpPr>
        <p:grpSpPr>
          <a:xfrm rot="0">
            <a:off x="13157288" y="5271245"/>
            <a:ext cx="3911512" cy="3346236"/>
            <a:chOff x="0" y="0"/>
            <a:chExt cx="935533" cy="800333"/>
          </a:xfrm>
        </p:grpSpPr>
        <p:sp>
          <p:nvSpPr>
            <p:cNvPr name="Freeform 15" id="15"/>
            <p:cNvSpPr/>
            <p:nvPr/>
          </p:nvSpPr>
          <p:spPr>
            <a:xfrm flipH="false" flipV="false" rot="0">
              <a:off x="0" y="0"/>
              <a:ext cx="935533" cy="800333"/>
            </a:xfrm>
            <a:custGeom>
              <a:avLst/>
              <a:gdLst/>
              <a:ahLst/>
              <a:cxnLst/>
              <a:rect r="r" b="b" t="t" l="l"/>
              <a:pathLst>
                <a:path h="800333" w="935533">
                  <a:moveTo>
                    <a:pt x="47502" y="0"/>
                  </a:moveTo>
                  <a:lnTo>
                    <a:pt x="888030" y="0"/>
                  </a:lnTo>
                  <a:cubicBezTo>
                    <a:pt x="914265" y="0"/>
                    <a:pt x="935533" y="21268"/>
                    <a:pt x="935533" y="47502"/>
                  </a:cubicBezTo>
                  <a:lnTo>
                    <a:pt x="935533" y="752831"/>
                  </a:lnTo>
                  <a:cubicBezTo>
                    <a:pt x="935533" y="765429"/>
                    <a:pt x="930528" y="777512"/>
                    <a:pt x="921620" y="786420"/>
                  </a:cubicBezTo>
                  <a:cubicBezTo>
                    <a:pt x="912711" y="795329"/>
                    <a:pt x="900629" y="800333"/>
                    <a:pt x="888030" y="800333"/>
                  </a:cubicBezTo>
                  <a:lnTo>
                    <a:pt x="47502" y="800333"/>
                  </a:lnTo>
                  <a:cubicBezTo>
                    <a:pt x="34904" y="800333"/>
                    <a:pt x="22822" y="795329"/>
                    <a:pt x="13913" y="786420"/>
                  </a:cubicBezTo>
                  <a:cubicBezTo>
                    <a:pt x="5005" y="777512"/>
                    <a:pt x="0" y="765429"/>
                    <a:pt x="0" y="752831"/>
                  </a:cubicBezTo>
                  <a:lnTo>
                    <a:pt x="0" y="47502"/>
                  </a:lnTo>
                  <a:cubicBezTo>
                    <a:pt x="0" y="34904"/>
                    <a:pt x="5005" y="22822"/>
                    <a:pt x="13913" y="13913"/>
                  </a:cubicBezTo>
                  <a:cubicBezTo>
                    <a:pt x="22822" y="5005"/>
                    <a:pt x="34904" y="0"/>
                    <a:pt x="47502" y="0"/>
                  </a:cubicBezTo>
                  <a:close/>
                </a:path>
              </a:pathLst>
            </a:custGeom>
            <a:solidFill>
              <a:srgbClr val="3885AB"/>
            </a:solidFill>
            <a:ln cap="rnd">
              <a:noFill/>
              <a:prstDash val="solid"/>
              <a:round/>
            </a:ln>
          </p:spPr>
        </p:sp>
        <p:sp>
          <p:nvSpPr>
            <p:cNvPr name="TextBox 16" id="16"/>
            <p:cNvSpPr txBox="true"/>
            <p:nvPr/>
          </p:nvSpPr>
          <p:spPr>
            <a:xfrm>
              <a:off x="0" y="0"/>
              <a:ext cx="935533" cy="800333"/>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17" id="17"/>
          <p:cNvSpPr txBox="true"/>
          <p:nvPr/>
        </p:nvSpPr>
        <p:spPr>
          <a:xfrm rot="0">
            <a:off x="9475862" y="2872649"/>
            <a:ext cx="2866788" cy="1856421"/>
          </a:xfrm>
          <a:prstGeom prst="rect">
            <a:avLst/>
          </a:prstGeom>
        </p:spPr>
        <p:txBody>
          <a:bodyPr anchor="t" rtlCol="false" tIns="0" lIns="0" bIns="0" rIns="0">
            <a:spAutoFit/>
          </a:bodyPr>
          <a:lstStyle/>
          <a:p>
            <a:pPr algn="ctr">
              <a:lnSpc>
                <a:spcPts val="2152"/>
              </a:lnSpc>
            </a:pPr>
            <a:r>
              <a:rPr lang="en-US" sz="1537">
                <a:solidFill>
                  <a:srgbClr val="185079"/>
                </a:solidFill>
                <a:latin typeface="Open Sauce"/>
                <a:ea typeface="Open Sauce"/>
                <a:cs typeface="Open Sauce"/>
                <a:sym typeface="Open Sauce"/>
              </a:rPr>
              <a:t>E</a:t>
            </a:r>
            <a:r>
              <a:rPr lang="en-US" sz="1537">
                <a:solidFill>
                  <a:srgbClr val="185079"/>
                </a:solidFill>
                <a:latin typeface="Open Sauce"/>
                <a:ea typeface="Open Sauce"/>
                <a:cs typeface="Open Sauce"/>
                <a:sym typeface="Open Sauce"/>
              </a:rPr>
              <a:t>mployees can instantly access HR policies,</a:t>
            </a:r>
          </a:p>
          <a:p>
            <a:pPr algn="ctr">
              <a:lnSpc>
                <a:spcPts val="2152"/>
              </a:lnSpc>
            </a:pPr>
            <a:r>
              <a:rPr lang="en-US" sz="1537">
                <a:solidFill>
                  <a:srgbClr val="185079"/>
                </a:solidFill>
                <a:latin typeface="Open Sauce"/>
                <a:ea typeface="Open Sauce"/>
                <a:cs typeface="Open Sauce"/>
                <a:sym typeface="Open Sauce"/>
              </a:rPr>
              <a:t>leave balances, attendance rules, salary</a:t>
            </a:r>
          </a:p>
          <a:p>
            <a:pPr algn="ctr">
              <a:lnSpc>
                <a:spcPts val="2152"/>
              </a:lnSpc>
            </a:pPr>
            <a:r>
              <a:rPr lang="en-US" sz="1537">
                <a:solidFill>
                  <a:srgbClr val="185079"/>
                </a:solidFill>
                <a:latin typeface="Open Sauce"/>
                <a:ea typeface="Open Sauce"/>
                <a:cs typeface="Open Sauce"/>
                <a:sym typeface="Open Sauce"/>
              </a:rPr>
              <a:t>details, and holiday information through</a:t>
            </a:r>
          </a:p>
          <a:p>
            <a:pPr algn="ctr">
              <a:lnSpc>
                <a:spcPts val="2152"/>
              </a:lnSpc>
              <a:spcBef>
                <a:spcPct val="0"/>
              </a:spcBef>
            </a:pPr>
            <a:r>
              <a:rPr lang="en-US" sz="1537">
                <a:solidFill>
                  <a:srgbClr val="185079"/>
                </a:solidFill>
                <a:latin typeface="Open Sauce"/>
                <a:ea typeface="Open Sauce"/>
                <a:cs typeface="Open Sauce"/>
                <a:sym typeface="Open Sauce"/>
              </a:rPr>
              <a:t>the chatbot interface.</a:t>
            </a:r>
          </a:p>
        </p:txBody>
      </p:sp>
      <p:sp>
        <p:nvSpPr>
          <p:cNvPr name="TextBox 18" id="18"/>
          <p:cNvSpPr txBox="true"/>
          <p:nvPr/>
        </p:nvSpPr>
        <p:spPr>
          <a:xfrm rot="0">
            <a:off x="9265760" y="2058982"/>
            <a:ext cx="3286993" cy="679450"/>
          </a:xfrm>
          <a:prstGeom prst="rect">
            <a:avLst/>
          </a:prstGeom>
        </p:spPr>
        <p:txBody>
          <a:bodyPr anchor="t" rtlCol="false" tIns="0" lIns="0" bIns="0" rIns="0">
            <a:spAutoFit/>
          </a:bodyPr>
          <a:lstStyle/>
          <a:p>
            <a:pPr algn="ctr" marL="0" indent="0" lvl="0">
              <a:lnSpc>
                <a:spcPts val="5599"/>
              </a:lnSpc>
              <a:spcBef>
                <a:spcPct val="0"/>
              </a:spcBef>
            </a:pPr>
            <a:r>
              <a:rPr lang="en-US" b="true" sz="3999" spc="23">
                <a:solidFill>
                  <a:srgbClr val="185079"/>
                </a:solidFill>
                <a:latin typeface="Open Sauce Bold"/>
                <a:ea typeface="Open Sauce Bold"/>
                <a:cs typeface="Open Sauce Bold"/>
                <a:sym typeface="Open Sauce Bold"/>
              </a:rPr>
              <a:t>01</a:t>
            </a:r>
          </a:p>
        </p:txBody>
      </p:sp>
      <p:sp>
        <p:nvSpPr>
          <p:cNvPr name="TextBox 19" id="19"/>
          <p:cNvSpPr txBox="true"/>
          <p:nvPr/>
        </p:nvSpPr>
        <p:spPr>
          <a:xfrm rot="0">
            <a:off x="13679650" y="2872649"/>
            <a:ext cx="2866788" cy="1589721"/>
          </a:xfrm>
          <a:prstGeom prst="rect">
            <a:avLst/>
          </a:prstGeom>
        </p:spPr>
        <p:txBody>
          <a:bodyPr anchor="t" rtlCol="false" tIns="0" lIns="0" bIns="0" rIns="0">
            <a:spAutoFit/>
          </a:bodyPr>
          <a:lstStyle/>
          <a:p>
            <a:pPr algn="ctr">
              <a:lnSpc>
                <a:spcPts val="2152"/>
              </a:lnSpc>
            </a:pPr>
            <a:r>
              <a:rPr lang="en-US" sz="1537">
                <a:solidFill>
                  <a:srgbClr val="185079"/>
                </a:solidFill>
                <a:latin typeface="Open Sauce"/>
                <a:ea typeface="Open Sauce"/>
                <a:cs typeface="Open Sauce"/>
                <a:sym typeface="Open Sauce"/>
              </a:rPr>
              <a:t>HR</a:t>
            </a:r>
            <a:r>
              <a:rPr lang="en-US" sz="1537">
                <a:solidFill>
                  <a:srgbClr val="185079"/>
                </a:solidFill>
                <a:latin typeface="Open Sauce"/>
                <a:ea typeface="Open Sauce"/>
                <a:cs typeface="Open Sauce"/>
                <a:sym typeface="Open Sauce"/>
              </a:rPr>
              <a:t> teams can reduce repetitive work by</a:t>
            </a:r>
          </a:p>
          <a:p>
            <a:pPr algn="ctr">
              <a:lnSpc>
                <a:spcPts val="2152"/>
              </a:lnSpc>
            </a:pPr>
            <a:r>
              <a:rPr lang="en-US" sz="1537">
                <a:solidFill>
                  <a:srgbClr val="185079"/>
                </a:solidFill>
                <a:latin typeface="Open Sauce"/>
                <a:ea typeface="Open Sauce"/>
                <a:cs typeface="Open Sauce"/>
                <a:sym typeface="Open Sauce"/>
              </a:rPr>
              <a:t>automating common employee queries and</a:t>
            </a:r>
          </a:p>
          <a:p>
            <a:pPr algn="ctr">
              <a:lnSpc>
                <a:spcPts val="2152"/>
              </a:lnSpc>
              <a:spcBef>
                <a:spcPct val="0"/>
              </a:spcBef>
            </a:pPr>
            <a:r>
              <a:rPr lang="en-US" sz="1537">
                <a:solidFill>
                  <a:srgbClr val="185079"/>
                </a:solidFill>
                <a:latin typeface="Open Sauce"/>
                <a:ea typeface="Open Sauce"/>
                <a:cs typeface="Open Sauce"/>
                <a:sym typeface="Open Sauce"/>
              </a:rPr>
              <a:t>providing faster policy support.</a:t>
            </a:r>
          </a:p>
        </p:txBody>
      </p:sp>
      <p:sp>
        <p:nvSpPr>
          <p:cNvPr name="TextBox 20" id="20"/>
          <p:cNvSpPr txBox="true"/>
          <p:nvPr/>
        </p:nvSpPr>
        <p:spPr>
          <a:xfrm rot="0">
            <a:off x="13469547" y="2058982"/>
            <a:ext cx="3286993" cy="679450"/>
          </a:xfrm>
          <a:prstGeom prst="rect">
            <a:avLst/>
          </a:prstGeom>
        </p:spPr>
        <p:txBody>
          <a:bodyPr anchor="t" rtlCol="false" tIns="0" lIns="0" bIns="0" rIns="0">
            <a:spAutoFit/>
          </a:bodyPr>
          <a:lstStyle/>
          <a:p>
            <a:pPr algn="ctr" marL="0" indent="0" lvl="0">
              <a:lnSpc>
                <a:spcPts val="5599"/>
              </a:lnSpc>
              <a:spcBef>
                <a:spcPct val="0"/>
              </a:spcBef>
            </a:pPr>
            <a:r>
              <a:rPr lang="en-US" b="true" sz="3999" spc="23">
                <a:solidFill>
                  <a:srgbClr val="185079"/>
                </a:solidFill>
                <a:latin typeface="Open Sauce Bold"/>
                <a:ea typeface="Open Sauce Bold"/>
                <a:cs typeface="Open Sauce Bold"/>
                <a:sym typeface="Open Sauce Bold"/>
              </a:rPr>
              <a:t>02</a:t>
            </a:r>
          </a:p>
        </p:txBody>
      </p:sp>
      <p:sp>
        <p:nvSpPr>
          <p:cNvPr name="TextBox 21" id="21"/>
          <p:cNvSpPr txBox="true"/>
          <p:nvPr/>
        </p:nvSpPr>
        <p:spPr>
          <a:xfrm rot="0">
            <a:off x="9475862" y="6474374"/>
            <a:ext cx="2866788" cy="1589721"/>
          </a:xfrm>
          <a:prstGeom prst="rect">
            <a:avLst/>
          </a:prstGeom>
        </p:spPr>
        <p:txBody>
          <a:bodyPr anchor="t" rtlCol="false" tIns="0" lIns="0" bIns="0" rIns="0">
            <a:spAutoFit/>
          </a:bodyPr>
          <a:lstStyle/>
          <a:p>
            <a:pPr algn="ctr">
              <a:lnSpc>
                <a:spcPts val="2152"/>
              </a:lnSpc>
            </a:pPr>
            <a:r>
              <a:rPr lang="en-US" sz="1537">
                <a:solidFill>
                  <a:srgbClr val="FBF6F1"/>
                </a:solidFill>
                <a:latin typeface="Open Sauce"/>
                <a:ea typeface="Open Sauce"/>
                <a:cs typeface="Open Sauce"/>
                <a:sym typeface="Open Sauce"/>
              </a:rPr>
              <a:t>Manag</a:t>
            </a:r>
            <a:r>
              <a:rPr lang="en-US" sz="1537">
                <a:solidFill>
                  <a:srgbClr val="FBF6F1"/>
                </a:solidFill>
                <a:latin typeface="Open Sauce"/>
                <a:ea typeface="Open Sauce"/>
                <a:cs typeface="Open Sauce"/>
                <a:sym typeface="Open Sauce"/>
              </a:rPr>
              <a:t>ers can use the system to guide team</a:t>
            </a:r>
          </a:p>
          <a:p>
            <a:pPr algn="ctr">
              <a:lnSpc>
                <a:spcPts val="2152"/>
              </a:lnSpc>
            </a:pPr>
            <a:r>
              <a:rPr lang="en-US" sz="1537">
                <a:solidFill>
                  <a:srgbClr val="FBF6F1"/>
                </a:solidFill>
                <a:latin typeface="Open Sauce"/>
                <a:ea typeface="Open Sauce"/>
                <a:cs typeface="Open Sauce"/>
                <a:sym typeface="Open Sauce"/>
              </a:rPr>
              <a:t>members regarding work-from-home policies,</a:t>
            </a:r>
          </a:p>
          <a:p>
            <a:pPr algn="ctr">
              <a:lnSpc>
                <a:spcPts val="2152"/>
              </a:lnSpc>
              <a:spcBef>
                <a:spcPct val="0"/>
              </a:spcBef>
            </a:pPr>
            <a:r>
              <a:rPr lang="en-US" sz="1537">
                <a:solidFill>
                  <a:srgbClr val="FBF6F1"/>
                </a:solidFill>
                <a:latin typeface="Open Sauce"/>
                <a:ea typeface="Open Sauce"/>
                <a:cs typeface="Open Sauce"/>
                <a:sym typeface="Open Sauce"/>
              </a:rPr>
              <a:t>attendance, approvals, and company rules.</a:t>
            </a:r>
          </a:p>
        </p:txBody>
      </p:sp>
      <p:sp>
        <p:nvSpPr>
          <p:cNvPr name="TextBox 22" id="22"/>
          <p:cNvSpPr txBox="true"/>
          <p:nvPr/>
        </p:nvSpPr>
        <p:spPr>
          <a:xfrm rot="0">
            <a:off x="9265760" y="5660708"/>
            <a:ext cx="3286993" cy="679450"/>
          </a:xfrm>
          <a:prstGeom prst="rect">
            <a:avLst/>
          </a:prstGeom>
        </p:spPr>
        <p:txBody>
          <a:bodyPr anchor="t" rtlCol="false" tIns="0" lIns="0" bIns="0" rIns="0">
            <a:spAutoFit/>
          </a:bodyPr>
          <a:lstStyle/>
          <a:p>
            <a:pPr algn="ctr" marL="0" indent="0" lvl="0">
              <a:lnSpc>
                <a:spcPts val="5599"/>
              </a:lnSpc>
              <a:spcBef>
                <a:spcPct val="0"/>
              </a:spcBef>
            </a:pPr>
            <a:r>
              <a:rPr lang="en-US" b="true" sz="3999" spc="23">
                <a:solidFill>
                  <a:srgbClr val="FBF6F1"/>
                </a:solidFill>
                <a:latin typeface="Open Sauce Bold"/>
                <a:ea typeface="Open Sauce Bold"/>
                <a:cs typeface="Open Sauce Bold"/>
                <a:sym typeface="Open Sauce Bold"/>
              </a:rPr>
              <a:t>03</a:t>
            </a:r>
          </a:p>
        </p:txBody>
      </p:sp>
      <p:sp>
        <p:nvSpPr>
          <p:cNvPr name="TextBox 23" id="23"/>
          <p:cNvSpPr txBox="true"/>
          <p:nvPr/>
        </p:nvSpPr>
        <p:spPr>
          <a:xfrm rot="0">
            <a:off x="13679650" y="6474374"/>
            <a:ext cx="2866788" cy="1589721"/>
          </a:xfrm>
          <a:prstGeom prst="rect">
            <a:avLst/>
          </a:prstGeom>
        </p:spPr>
        <p:txBody>
          <a:bodyPr anchor="t" rtlCol="false" tIns="0" lIns="0" bIns="0" rIns="0">
            <a:spAutoFit/>
          </a:bodyPr>
          <a:lstStyle/>
          <a:p>
            <a:pPr algn="ctr">
              <a:lnSpc>
                <a:spcPts val="2152"/>
              </a:lnSpc>
            </a:pPr>
            <a:r>
              <a:rPr lang="en-US" sz="1537">
                <a:solidFill>
                  <a:srgbClr val="FBF6F1"/>
                </a:solidFill>
                <a:latin typeface="Open Sauce"/>
                <a:ea typeface="Open Sauce"/>
                <a:cs typeface="Open Sauce"/>
                <a:sym typeface="Open Sauce"/>
              </a:rPr>
              <a:t>R</a:t>
            </a:r>
            <a:r>
              <a:rPr lang="en-US" sz="1537">
                <a:solidFill>
                  <a:srgbClr val="FBF6F1"/>
                </a:solidFill>
                <a:latin typeface="Open Sauce"/>
                <a:ea typeface="Open Sauce"/>
                <a:cs typeface="Open Sauce"/>
                <a:sym typeface="Open Sauce"/>
              </a:rPr>
              <a:t>emote workers can quickly access HR</a:t>
            </a:r>
          </a:p>
          <a:p>
            <a:pPr algn="ctr">
              <a:lnSpc>
                <a:spcPts val="2152"/>
              </a:lnSpc>
            </a:pPr>
            <a:r>
              <a:rPr lang="en-US" sz="1537">
                <a:solidFill>
                  <a:srgbClr val="FBF6F1"/>
                </a:solidFill>
                <a:latin typeface="Open Sauce"/>
                <a:ea typeface="Open Sauce"/>
                <a:cs typeface="Open Sauce"/>
                <a:sym typeface="Open Sauce"/>
              </a:rPr>
              <a:t>guidelines, reimbursement policies,</a:t>
            </a:r>
          </a:p>
          <a:p>
            <a:pPr algn="ctr">
              <a:lnSpc>
                <a:spcPts val="2152"/>
              </a:lnSpc>
              <a:spcBef>
                <a:spcPct val="0"/>
              </a:spcBef>
            </a:pPr>
            <a:r>
              <a:rPr lang="en-US" sz="1537">
                <a:solidFill>
                  <a:srgbClr val="FBF6F1"/>
                </a:solidFill>
                <a:latin typeface="Open Sauce"/>
                <a:ea typeface="Open Sauce"/>
                <a:cs typeface="Open Sauce"/>
                <a:sym typeface="Open Sauce"/>
              </a:rPr>
              <a:t>VPN usage rules, and remote work support.</a:t>
            </a:r>
          </a:p>
        </p:txBody>
      </p:sp>
      <p:sp>
        <p:nvSpPr>
          <p:cNvPr name="TextBox 24" id="24"/>
          <p:cNvSpPr txBox="true"/>
          <p:nvPr/>
        </p:nvSpPr>
        <p:spPr>
          <a:xfrm rot="0">
            <a:off x="13469547" y="5660708"/>
            <a:ext cx="3286993" cy="679450"/>
          </a:xfrm>
          <a:prstGeom prst="rect">
            <a:avLst/>
          </a:prstGeom>
        </p:spPr>
        <p:txBody>
          <a:bodyPr anchor="t" rtlCol="false" tIns="0" lIns="0" bIns="0" rIns="0">
            <a:spAutoFit/>
          </a:bodyPr>
          <a:lstStyle/>
          <a:p>
            <a:pPr algn="ctr" marL="0" indent="0" lvl="0">
              <a:lnSpc>
                <a:spcPts val="5599"/>
              </a:lnSpc>
              <a:spcBef>
                <a:spcPct val="0"/>
              </a:spcBef>
            </a:pPr>
            <a:r>
              <a:rPr lang="en-US" b="true" sz="3999" spc="23">
                <a:solidFill>
                  <a:srgbClr val="FBF6F1"/>
                </a:solidFill>
                <a:latin typeface="Open Sauce Bold"/>
                <a:ea typeface="Open Sauce Bold"/>
                <a:cs typeface="Open Sauce Bold"/>
                <a:sym typeface="Open Sauce Bold"/>
              </a:rPr>
              <a:t>04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3754562" y="869901"/>
            <a:ext cx="11812824" cy="1111257"/>
          </a:xfrm>
          <a:prstGeom prst="rect">
            <a:avLst/>
          </a:prstGeom>
        </p:spPr>
        <p:txBody>
          <a:bodyPr anchor="t" rtlCol="false" tIns="0" lIns="0" bIns="0" rIns="0">
            <a:spAutoFit/>
          </a:bodyPr>
          <a:lstStyle/>
          <a:p>
            <a:pPr algn="ctr" marL="0" indent="0" lvl="0">
              <a:lnSpc>
                <a:spcPts val="8550"/>
              </a:lnSpc>
              <a:spcBef>
                <a:spcPct val="0"/>
              </a:spcBef>
            </a:pPr>
            <a:r>
              <a:rPr lang="en-US" b="true" sz="7917" spc="-467">
                <a:solidFill>
                  <a:srgbClr val="185079"/>
                </a:solidFill>
                <a:latin typeface="Open Sauce Bold"/>
                <a:ea typeface="Open Sauce Bold"/>
                <a:cs typeface="Open Sauce Bold"/>
                <a:sym typeface="Open Sauce Bold"/>
              </a:rPr>
              <a:t>SYSTEM ARCHITECTURE</a:t>
            </a:r>
          </a:p>
        </p:txBody>
      </p:sp>
      <p:sp>
        <p:nvSpPr>
          <p:cNvPr name="Freeform 4" id="4"/>
          <p:cNvSpPr/>
          <p:nvPr/>
        </p:nvSpPr>
        <p:spPr>
          <a:xfrm flipH="false" flipV="false" rot="0">
            <a:off x="-8153289" y="493643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5" id="5"/>
          <p:cNvSpPr/>
          <p:nvPr/>
        </p:nvSpPr>
        <p:spPr>
          <a:xfrm flipH="false" flipV="false" rot="0">
            <a:off x="11275201" y="-772630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grpSp>
        <p:nvGrpSpPr>
          <p:cNvPr name="Group 6" id="6"/>
          <p:cNvGrpSpPr/>
          <p:nvPr/>
        </p:nvGrpSpPr>
        <p:grpSpPr>
          <a:xfrm rot="0">
            <a:off x="3282699" y="2234524"/>
            <a:ext cx="2611051" cy="6021758"/>
            <a:chOff x="0" y="0"/>
            <a:chExt cx="3481401" cy="8029011"/>
          </a:xfrm>
        </p:grpSpPr>
        <p:sp>
          <p:nvSpPr>
            <p:cNvPr name="TextBox 7" id="7"/>
            <p:cNvSpPr txBox="true"/>
            <p:nvPr/>
          </p:nvSpPr>
          <p:spPr>
            <a:xfrm rot="0">
              <a:off x="25400" y="-47625"/>
              <a:ext cx="3456001" cy="471805"/>
            </a:xfrm>
            <a:prstGeom prst="rect">
              <a:avLst/>
            </a:prstGeom>
          </p:spPr>
          <p:txBody>
            <a:bodyPr anchor="t" rtlCol="false" tIns="0" lIns="0" bIns="0" rIns="0">
              <a:spAutoFit/>
            </a:bodyPr>
            <a:lstStyle/>
            <a:p>
              <a:pPr algn="ctr" marL="0" indent="0" lvl="0">
                <a:lnSpc>
                  <a:spcPts val="2939"/>
                </a:lnSpc>
                <a:spcBef>
                  <a:spcPct val="0"/>
                </a:spcBef>
              </a:pPr>
              <a:r>
                <a:rPr lang="en-US" b="true" sz="2099">
                  <a:solidFill>
                    <a:srgbClr val="185079"/>
                  </a:solidFill>
                  <a:latin typeface="Open Sauce Bold"/>
                  <a:ea typeface="Open Sauce Bold"/>
                  <a:cs typeface="Open Sauce Bold"/>
                  <a:sym typeface="Open Sauce Bold"/>
                </a:rPr>
                <a:t>Document Pipeline</a:t>
              </a:r>
            </a:p>
          </p:txBody>
        </p:sp>
        <p:grpSp>
          <p:nvGrpSpPr>
            <p:cNvPr name="Group 8" id="8"/>
            <p:cNvGrpSpPr/>
            <p:nvPr/>
          </p:nvGrpSpPr>
          <p:grpSpPr>
            <a:xfrm rot="0">
              <a:off x="38100" y="866008"/>
              <a:ext cx="3250548" cy="950287"/>
              <a:chOff x="0" y="0"/>
              <a:chExt cx="642084" cy="187711"/>
            </a:xfrm>
          </p:grpSpPr>
          <p:sp>
            <p:nvSpPr>
              <p:cNvPr name="Freeform 9" id="9"/>
              <p:cNvSpPr/>
              <p:nvPr/>
            </p:nvSpPr>
            <p:spPr>
              <a:xfrm flipH="false" flipV="false" rot="0">
                <a:off x="0" y="0"/>
                <a:ext cx="642083" cy="187711"/>
              </a:xfrm>
              <a:custGeom>
                <a:avLst/>
                <a:gdLst/>
                <a:ahLst/>
                <a:cxnLst/>
                <a:rect r="r" b="b" t="t" l="l"/>
                <a:pathLst>
                  <a:path h="187711" w="642083">
                    <a:moveTo>
                      <a:pt x="63513" y="0"/>
                    </a:moveTo>
                    <a:lnTo>
                      <a:pt x="578571" y="0"/>
                    </a:lnTo>
                    <a:cubicBezTo>
                      <a:pt x="613648" y="0"/>
                      <a:pt x="642083" y="28436"/>
                      <a:pt x="642083" y="63513"/>
                    </a:cubicBezTo>
                    <a:lnTo>
                      <a:pt x="642083" y="124198"/>
                    </a:lnTo>
                    <a:cubicBezTo>
                      <a:pt x="642083" y="159275"/>
                      <a:pt x="613648" y="187711"/>
                      <a:pt x="578571" y="187711"/>
                    </a:cubicBezTo>
                    <a:lnTo>
                      <a:pt x="63513" y="187711"/>
                    </a:lnTo>
                    <a:cubicBezTo>
                      <a:pt x="28436" y="187711"/>
                      <a:pt x="0" y="159275"/>
                      <a:pt x="0" y="124198"/>
                    </a:cubicBezTo>
                    <a:lnTo>
                      <a:pt x="0" y="63513"/>
                    </a:lnTo>
                    <a:cubicBezTo>
                      <a:pt x="0" y="28436"/>
                      <a:pt x="28436" y="0"/>
                      <a:pt x="63513" y="0"/>
                    </a:cubicBezTo>
                    <a:close/>
                  </a:path>
                </a:pathLst>
              </a:custGeom>
              <a:solidFill>
                <a:srgbClr val="309BAE"/>
              </a:solidFill>
            </p:spPr>
          </p:sp>
          <p:sp>
            <p:nvSpPr>
              <p:cNvPr name="TextBox 10" id="10"/>
              <p:cNvSpPr txBox="true"/>
              <p:nvPr/>
            </p:nvSpPr>
            <p:spPr>
              <a:xfrm>
                <a:off x="0" y="0"/>
                <a:ext cx="642084" cy="187711"/>
              </a:xfrm>
              <a:prstGeom prst="rect">
                <a:avLst/>
              </a:prstGeom>
            </p:spPr>
            <p:txBody>
              <a:bodyPr anchor="ctr" rtlCol="false" tIns="50800" lIns="50800" bIns="50800" rIns="50800"/>
              <a:lstStyle/>
              <a:p>
                <a:pPr algn="ctr">
                  <a:lnSpc>
                    <a:spcPts val="1800"/>
                  </a:lnSpc>
                </a:pPr>
                <a:r>
                  <a:rPr lang="en-US" sz="1500">
                    <a:solidFill>
                      <a:srgbClr val="FFFFFF"/>
                    </a:solidFill>
                    <a:latin typeface="Open Sauce"/>
                    <a:ea typeface="Open Sauce"/>
                    <a:cs typeface="Open Sauce"/>
                    <a:sym typeface="Open Sauce"/>
                  </a:rPr>
                  <a:t>HR Documents</a:t>
                </a:r>
              </a:p>
              <a:p>
                <a:pPr algn="ctr">
                  <a:lnSpc>
                    <a:spcPts val="1800"/>
                  </a:lnSpc>
                </a:pPr>
                <a:r>
                  <a:rPr lang="en-US" sz="1500">
                    <a:solidFill>
                      <a:srgbClr val="FFFFFF"/>
                    </a:solidFill>
                    <a:latin typeface="Open Sauce"/>
                    <a:ea typeface="Open Sauce"/>
                    <a:cs typeface="Open Sauce"/>
                    <a:sym typeface="Open Sauce"/>
                  </a:rPr>
                  <a:t>(PDF, DOCX, Excel)</a:t>
                </a:r>
              </a:p>
            </p:txBody>
          </p:sp>
        </p:grpSp>
        <p:grpSp>
          <p:nvGrpSpPr>
            <p:cNvPr name="Group 11" id="11"/>
            <p:cNvGrpSpPr/>
            <p:nvPr/>
          </p:nvGrpSpPr>
          <p:grpSpPr>
            <a:xfrm rot="0">
              <a:off x="1314631" y="1816294"/>
              <a:ext cx="451469" cy="610352"/>
              <a:chOff x="0" y="0"/>
              <a:chExt cx="509352" cy="688604"/>
            </a:xfrm>
          </p:grpSpPr>
          <p:sp>
            <p:nvSpPr>
              <p:cNvPr name="Freeform 12" id="12"/>
              <p:cNvSpPr/>
              <p:nvPr/>
            </p:nvSpPr>
            <p:spPr>
              <a:xfrm flipH="false" flipV="false" rot="0">
                <a:off x="0" y="0"/>
                <a:ext cx="509352" cy="688604"/>
              </a:xfrm>
              <a:custGeom>
                <a:avLst/>
                <a:gdLst/>
                <a:ahLst/>
                <a:cxnLst/>
                <a:rect r="r" b="b" t="t" l="l"/>
                <a:pathLst>
                  <a:path h="688604" w="509352">
                    <a:moveTo>
                      <a:pt x="254676" y="688604"/>
                    </a:moveTo>
                    <a:lnTo>
                      <a:pt x="0" y="282204"/>
                    </a:lnTo>
                    <a:lnTo>
                      <a:pt x="203200" y="282204"/>
                    </a:lnTo>
                    <a:lnTo>
                      <a:pt x="203200" y="0"/>
                    </a:lnTo>
                    <a:lnTo>
                      <a:pt x="306152" y="0"/>
                    </a:lnTo>
                    <a:lnTo>
                      <a:pt x="306152" y="282204"/>
                    </a:lnTo>
                    <a:lnTo>
                      <a:pt x="509352" y="282204"/>
                    </a:lnTo>
                    <a:lnTo>
                      <a:pt x="254676" y="688604"/>
                    </a:lnTo>
                    <a:close/>
                  </a:path>
                </a:pathLst>
              </a:custGeom>
              <a:solidFill>
                <a:srgbClr val="309BAE"/>
              </a:solidFill>
            </p:spPr>
          </p:sp>
          <p:sp>
            <p:nvSpPr>
              <p:cNvPr name="TextBox 13" id="13"/>
              <p:cNvSpPr txBox="true"/>
              <p:nvPr/>
            </p:nvSpPr>
            <p:spPr>
              <a:xfrm>
                <a:off x="203200" y="-28575"/>
                <a:ext cx="102952" cy="615579"/>
              </a:xfrm>
              <a:prstGeom prst="rect">
                <a:avLst/>
              </a:prstGeom>
            </p:spPr>
            <p:txBody>
              <a:bodyPr anchor="ctr" rtlCol="false" tIns="50800" lIns="50800" bIns="50800" rIns="50800"/>
              <a:lstStyle/>
              <a:p>
                <a:pPr algn="ctr">
                  <a:lnSpc>
                    <a:spcPts val="1960"/>
                  </a:lnSpc>
                </a:pPr>
              </a:p>
            </p:txBody>
          </p:sp>
        </p:grpSp>
        <p:grpSp>
          <p:nvGrpSpPr>
            <p:cNvPr name="Group 14" id="14"/>
            <p:cNvGrpSpPr/>
            <p:nvPr/>
          </p:nvGrpSpPr>
          <p:grpSpPr>
            <a:xfrm rot="0">
              <a:off x="38100" y="5547171"/>
              <a:ext cx="3250548" cy="950287"/>
              <a:chOff x="0" y="0"/>
              <a:chExt cx="642084" cy="187711"/>
            </a:xfrm>
          </p:grpSpPr>
          <p:sp>
            <p:nvSpPr>
              <p:cNvPr name="Freeform 15" id="15"/>
              <p:cNvSpPr/>
              <p:nvPr/>
            </p:nvSpPr>
            <p:spPr>
              <a:xfrm flipH="false" flipV="false" rot="0">
                <a:off x="0" y="0"/>
                <a:ext cx="642083" cy="187711"/>
              </a:xfrm>
              <a:custGeom>
                <a:avLst/>
                <a:gdLst/>
                <a:ahLst/>
                <a:cxnLst/>
                <a:rect r="r" b="b" t="t" l="l"/>
                <a:pathLst>
                  <a:path h="187711" w="642083">
                    <a:moveTo>
                      <a:pt x="63513" y="0"/>
                    </a:moveTo>
                    <a:lnTo>
                      <a:pt x="578571" y="0"/>
                    </a:lnTo>
                    <a:cubicBezTo>
                      <a:pt x="613648" y="0"/>
                      <a:pt x="642083" y="28436"/>
                      <a:pt x="642083" y="63513"/>
                    </a:cubicBezTo>
                    <a:lnTo>
                      <a:pt x="642083" y="124198"/>
                    </a:lnTo>
                    <a:cubicBezTo>
                      <a:pt x="642083" y="159275"/>
                      <a:pt x="613648" y="187711"/>
                      <a:pt x="578571" y="187711"/>
                    </a:cubicBezTo>
                    <a:lnTo>
                      <a:pt x="63513" y="187711"/>
                    </a:lnTo>
                    <a:cubicBezTo>
                      <a:pt x="28436" y="187711"/>
                      <a:pt x="0" y="159275"/>
                      <a:pt x="0" y="124198"/>
                    </a:cubicBezTo>
                    <a:lnTo>
                      <a:pt x="0" y="63513"/>
                    </a:lnTo>
                    <a:cubicBezTo>
                      <a:pt x="0" y="28436"/>
                      <a:pt x="28436" y="0"/>
                      <a:pt x="63513" y="0"/>
                    </a:cubicBezTo>
                    <a:close/>
                  </a:path>
                </a:pathLst>
              </a:custGeom>
              <a:solidFill>
                <a:srgbClr val="309BAE"/>
              </a:solidFill>
            </p:spPr>
          </p:sp>
          <p:sp>
            <p:nvSpPr>
              <p:cNvPr name="TextBox 16" id="16"/>
              <p:cNvSpPr txBox="true"/>
              <p:nvPr/>
            </p:nvSpPr>
            <p:spPr>
              <a:xfrm>
                <a:off x="0" y="0"/>
                <a:ext cx="642084" cy="187711"/>
              </a:xfrm>
              <a:prstGeom prst="rect">
                <a:avLst/>
              </a:prstGeom>
            </p:spPr>
            <p:txBody>
              <a:bodyPr anchor="ctr" rtlCol="false" tIns="50800" lIns="50800" bIns="50800" rIns="50800"/>
              <a:lstStyle/>
              <a:p>
                <a:pPr algn="ctr">
                  <a:lnSpc>
                    <a:spcPts val="1800"/>
                  </a:lnSpc>
                </a:pPr>
                <a:r>
                  <a:rPr lang="en-US" sz="1500">
                    <a:solidFill>
                      <a:srgbClr val="FFFFFF"/>
                    </a:solidFill>
                    <a:latin typeface="Open Sauce"/>
                    <a:ea typeface="Open Sauce"/>
                    <a:cs typeface="Open Sauce"/>
                    <a:sym typeface="Open Sauce"/>
                  </a:rPr>
                  <a:t>Embeddings</a:t>
                </a:r>
                <a:r>
                  <a:rPr lang="en-US" sz="1500">
                    <a:solidFill>
                      <a:srgbClr val="FFFFFF"/>
                    </a:solidFill>
                    <a:latin typeface="Open Sauce"/>
                    <a:ea typeface="Open Sauce"/>
                    <a:cs typeface="Open Sauce"/>
                    <a:sym typeface="Open Sauce"/>
                  </a:rPr>
                  <a:t> Creation</a:t>
                </a:r>
              </a:p>
            </p:txBody>
          </p:sp>
        </p:grpSp>
        <p:grpSp>
          <p:nvGrpSpPr>
            <p:cNvPr name="Group 17" id="17"/>
            <p:cNvGrpSpPr/>
            <p:nvPr/>
          </p:nvGrpSpPr>
          <p:grpSpPr>
            <a:xfrm rot="0">
              <a:off x="38100" y="3987284"/>
              <a:ext cx="3250548" cy="950287"/>
              <a:chOff x="0" y="0"/>
              <a:chExt cx="642084" cy="187711"/>
            </a:xfrm>
          </p:grpSpPr>
          <p:sp>
            <p:nvSpPr>
              <p:cNvPr name="Freeform 18" id="18"/>
              <p:cNvSpPr/>
              <p:nvPr/>
            </p:nvSpPr>
            <p:spPr>
              <a:xfrm flipH="false" flipV="false" rot="0">
                <a:off x="0" y="0"/>
                <a:ext cx="642083" cy="187711"/>
              </a:xfrm>
              <a:custGeom>
                <a:avLst/>
                <a:gdLst/>
                <a:ahLst/>
                <a:cxnLst/>
                <a:rect r="r" b="b" t="t" l="l"/>
                <a:pathLst>
                  <a:path h="187711" w="642083">
                    <a:moveTo>
                      <a:pt x="63513" y="0"/>
                    </a:moveTo>
                    <a:lnTo>
                      <a:pt x="578571" y="0"/>
                    </a:lnTo>
                    <a:cubicBezTo>
                      <a:pt x="613648" y="0"/>
                      <a:pt x="642083" y="28436"/>
                      <a:pt x="642083" y="63513"/>
                    </a:cubicBezTo>
                    <a:lnTo>
                      <a:pt x="642083" y="124198"/>
                    </a:lnTo>
                    <a:cubicBezTo>
                      <a:pt x="642083" y="159275"/>
                      <a:pt x="613648" y="187711"/>
                      <a:pt x="578571" y="187711"/>
                    </a:cubicBezTo>
                    <a:lnTo>
                      <a:pt x="63513" y="187711"/>
                    </a:lnTo>
                    <a:cubicBezTo>
                      <a:pt x="28436" y="187711"/>
                      <a:pt x="0" y="159275"/>
                      <a:pt x="0" y="124198"/>
                    </a:cubicBezTo>
                    <a:lnTo>
                      <a:pt x="0" y="63513"/>
                    </a:lnTo>
                    <a:cubicBezTo>
                      <a:pt x="0" y="28436"/>
                      <a:pt x="28436" y="0"/>
                      <a:pt x="63513" y="0"/>
                    </a:cubicBezTo>
                    <a:close/>
                  </a:path>
                </a:pathLst>
              </a:custGeom>
              <a:solidFill>
                <a:srgbClr val="309BAE"/>
              </a:solidFill>
            </p:spPr>
          </p:sp>
          <p:sp>
            <p:nvSpPr>
              <p:cNvPr name="TextBox 19" id="19"/>
              <p:cNvSpPr txBox="true"/>
              <p:nvPr/>
            </p:nvSpPr>
            <p:spPr>
              <a:xfrm>
                <a:off x="0" y="0"/>
                <a:ext cx="642084" cy="187711"/>
              </a:xfrm>
              <a:prstGeom prst="rect">
                <a:avLst/>
              </a:prstGeom>
            </p:spPr>
            <p:txBody>
              <a:bodyPr anchor="ctr" rtlCol="false" tIns="50800" lIns="50800" bIns="50800" rIns="50800"/>
              <a:lstStyle/>
              <a:p>
                <a:pPr algn="ctr">
                  <a:lnSpc>
                    <a:spcPts val="1800"/>
                  </a:lnSpc>
                </a:pPr>
                <a:r>
                  <a:rPr lang="en-US" sz="1500">
                    <a:solidFill>
                      <a:srgbClr val="FFFFFF"/>
                    </a:solidFill>
                    <a:latin typeface="Open Sauce"/>
                    <a:ea typeface="Open Sauce"/>
                    <a:cs typeface="Open Sauce"/>
                    <a:sym typeface="Open Sauce"/>
                  </a:rPr>
                  <a:t>Text</a:t>
                </a:r>
                <a:r>
                  <a:rPr lang="en-US" sz="1500">
                    <a:solidFill>
                      <a:srgbClr val="FFFFFF"/>
                    </a:solidFill>
                    <a:latin typeface="Open Sauce"/>
                    <a:ea typeface="Open Sauce"/>
                    <a:cs typeface="Open Sauce"/>
                    <a:sym typeface="Open Sauce"/>
                  </a:rPr>
                  <a:t> Extraction</a:t>
                </a:r>
              </a:p>
            </p:txBody>
          </p:sp>
        </p:grpSp>
        <p:grpSp>
          <p:nvGrpSpPr>
            <p:cNvPr name="Group 20" id="20"/>
            <p:cNvGrpSpPr/>
            <p:nvPr/>
          </p:nvGrpSpPr>
          <p:grpSpPr>
            <a:xfrm rot="0">
              <a:off x="38100" y="2426646"/>
              <a:ext cx="3250548" cy="950287"/>
              <a:chOff x="0" y="0"/>
              <a:chExt cx="642084" cy="187711"/>
            </a:xfrm>
          </p:grpSpPr>
          <p:sp>
            <p:nvSpPr>
              <p:cNvPr name="Freeform 21" id="21"/>
              <p:cNvSpPr/>
              <p:nvPr/>
            </p:nvSpPr>
            <p:spPr>
              <a:xfrm flipH="false" flipV="false" rot="0">
                <a:off x="0" y="0"/>
                <a:ext cx="642083" cy="187711"/>
              </a:xfrm>
              <a:custGeom>
                <a:avLst/>
                <a:gdLst/>
                <a:ahLst/>
                <a:cxnLst/>
                <a:rect r="r" b="b" t="t" l="l"/>
                <a:pathLst>
                  <a:path h="187711" w="642083">
                    <a:moveTo>
                      <a:pt x="63513" y="0"/>
                    </a:moveTo>
                    <a:lnTo>
                      <a:pt x="578571" y="0"/>
                    </a:lnTo>
                    <a:cubicBezTo>
                      <a:pt x="613648" y="0"/>
                      <a:pt x="642083" y="28436"/>
                      <a:pt x="642083" y="63513"/>
                    </a:cubicBezTo>
                    <a:lnTo>
                      <a:pt x="642083" y="124198"/>
                    </a:lnTo>
                    <a:cubicBezTo>
                      <a:pt x="642083" y="159275"/>
                      <a:pt x="613648" y="187711"/>
                      <a:pt x="578571" y="187711"/>
                    </a:cubicBezTo>
                    <a:lnTo>
                      <a:pt x="63513" y="187711"/>
                    </a:lnTo>
                    <a:cubicBezTo>
                      <a:pt x="28436" y="187711"/>
                      <a:pt x="0" y="159275"/>
                      <a:pt x="0" y="124198"/>
                    </a:cubicBezTo>
                    <a:lnTo>
                      <a:pt x="0" y="63513"/>
                    </a:lnTo>
                    <a:cubicBezTo>
                      <a:pt x="0" y="28436"/>
                      <a:pt x="28436" y="0"/>
                      <a:pt x="63513" y="0"/>
                    </a:cubicBezTo>
                    <a:close/>
                  </a:path>
                </a:pathLst>
              </a:custGeom>
              <a:solidFill>
                <a:srgbClr val="309BAE"/>
              </a:solidFill>
            </p:spPr>
          </p:sp>
          <p:sp>
            <p:nvSpPr>
              <p:cNvPr name="TextBox 22" id="22"/>
              <p:cNvSpPr txBox="true"/>
              <p:nvPr/>
            </p:nvSpPr>
            <p:spPr>
              <a:xfrm>
                <a:off x="0" y="0"/>
                <a:ext cx="642084" cy="187711"/>
              </a:xfrm>
              <a:prstGeom prst="rect">
                <a:avLst/>
              </a:prstGeom>
            </p:spPr>
            <p:txBody>
              <a:bodyPr anchor="ctr" rtlCol="false" tIns="50800" lIns="50800" bIns="50800" rIns="50800"/>
              <a:lstStyle/>
              <a:p>
                <a:pPr algn="ctr">
                  <a:lnSpc>
                    <a:spcPts val="1800"/>
                  </a:lnSpc>
                </a:pPr>
                <a:r>
                  <a:rPr lang="en-US" sz="1500">
                    <a:solidFill>
                      <a:srgbClr val="FFFFFF"/>
                    </a:solidFill>
                    <a:latin typeface="Open Sauce"/>
                    <a:ea typeface="Open Sauce"/>
                    <a:cs typeface="Open Sauce"/>
                    <a:sym typeface="Open Sauce"/>
                  </a:rPr>
                  <a:t>Data</a:t>
                </a:r>
                <a:r>
                  <a:rPr lang="en-US" sz="1500">
                    <a:solidFill>
                      <a:srgbClr val="FFFFFF"/>
                    </a:solidFill>
                    <a:latin typeface="Open Sauce"/>
                    <a:ea typeface="Open Sauce"/>
                    <a:cs typeface="Open Sauce"/>
                    <a:sym typeface="Open Sauce"/>
                  </a:rPr>
                  <a:t> Ingestion</a:t>
                </a:r>
              </a:p>
            </p:txBody>
          </p:sp>
        </p:grpSp>
        <p:grpSp>
          <p:nvGrpSpPr>
            <p:cNvPr name="Group 23" id="23"/>
            <p:cNvGrpSpPr/>
            <p:nvPr/>
          </p:nvGrpSpPr>
          <p:grpSpPr>
            <a:xfrm rot="0">
              <a:off x="1314631" y="3376933"/>
              <a:ext cx="451469" cy="610352"/>
              <a:chOff x="0" y="0"/>
              <a:chExt cx="509352" cy="688604"/>
            </a:xfrm>
          </p:grpSpPr>
          <p:sp>
            <p:nvSpPr>
              <p:cNvPr name="Freeform 24" id="24"/>
              <p:cNvSpPr/>
              <p:nvPr/>
            </p:nvSpPr>
            <p:spPr>
              <a:xfrm flipH="false" flipV="false" rot="0">
                <a:off x="0" y="0"/>
                <a:ext cx="509352" cy="688604"/>
              </a:xfrm>
              <a:custGeom>
                <a:avLst/>
                <a:gdLst/>
                <a:ahLst/>
                <a:cxnLst/>
                <a:rect r="r" b="b" t="t" l="l"/>
                <a:pathLst>
                  <a:path h="688604" w="509352">
                    <a:moveTo>
                      <a:pt x="254676" y="688604"/>
                    </a:moveTo>
                    <a:lnTo>
                      <a:pt x="0" y="282204"/>
                    </a:lnTo>
                    <a:lnTo>
                      <a:pt x="203200" y="282204"/>
                    </a:lnTo>
                    <a:lnTo>
                      <a:pt x="203200" y="0"/>
                    </a:lnTo>
                    <a:lnTo>
                      <a:pt x="306152" y="0"/>
                    </a:lnTo>
                    <a:lnTo>
                      <a:pt x="306152" y="282204"/>
                    </a:lnTo>
                    <a:lnTo>
                      <a:pt x="509352" y="282204"/>
                    </a:lnTo>
                    <a:lnTo>
                      <a:pt x="254676" y="688604"/>
                    </a:lnTo>
                    <a:close/>
                  </a:path>
                </a:pathLst>
              </a:custGeom>
              <a:solidFill>
                <a:srgbClr val="309BAE"/>
              </a:solidFill>
            </p:spPr>
          </p:sp>
          <p:sp>
            <p:nvSpPr>
              <p:cNvPr name="TextBox 25" id="25"/>
              <p:cNvSpPr txBox="true"/>
              <p:nvPr/>
            </p:nvSpPr>
            <p:spPr>
              <a:xfrm>
                <a:off x="203200" y="-28575"/>
                <a:ext cx="102952" cy="615579"/>
              </a:xfrm>
              <a:prstGeom prst="rect">
                <a:avLst/>
              </a:prstGeom>
            </p:spPr>
            <p:txBody>
              <a:bodyPr anchor="ctr" rtlCol="false" tIns="50800" lIns="50800" bIns="50800" rIns="50800"/>
              <a:lstStyle/>
              <a:p>
                <a:pPr algn="ctr">
                  <a:lnSpc>
                    <a:spcPts val="1960"/>
                  </a:lnSpc>
                </a:pPr>
              </a:p>
            </p:txBody>
          </p:sp>
        </p:grpSp>
        <p:grpSp>
          <p:nvGrpSpPr>
            <p:cNvPr name="Group 26" id="26"/>
            <p:cNvGrpSpPr/>
            <p:nvPr/>
          </p:nvGrpSpPr>
          <p:grpSpPr>
            <a:xfrm rot="0">
              <a:off x="1314631" y="4937571"/>
              <a:ext cx="451469" cy="610352"/>
              <a:chOff x="0" y="0"/>
              <a:chExt cx="509352" cy="688604"/>
            </a:xfrm>
          </p:grpSpPr>
          <p:sp>
            <p:nvSpPr>
              <p:cNvPr name="Freeform 27" id="27"/>
              <p:cNvSpPr/>
              <p:nvPr/>
            </p:nvSpPr>
            <p:spPr>
              <a:xfrm flipH="false" flipV="false" rot="0">
                <a:off x="0" y="0"/>
                <a:ext cx="509352" cy="688604"/>
              </a:xfrm>
              <a:custGeom>
                <a:avLst/>
                <a:gdLst/>
                <a:ahLst/>
                <a:cxnLst/>
                <a:rect r="r" b="b" t="t" l="l"/>
                <a:pathLst>
                  <a:path h="688604" w="509352">
                    <a:moveTo>
                      <a:pt x="254676" y="688604"/>
                    </a:moveTo>
                    <a:lnTo>
                      <a:pt x="0" y="282204"/>
                    </a:lnTo>
                    <a:lnTo>
                      <a:pt x="203200" y="282204"/>
                    </a:lnTo>
                    <a:lnTo>
                      <a:pt x="203200" y="0"/>
                    </a:lnTo>
                    <a:lnTo>
                      <a:pt x="306152" y="0"/>
                    </a:lnTo>
                    <a:lnTo>
                      <a:pt x="306152" y="282204"/>
                    </a:lnTo>
                    <a:lnTo>
                      <a:pt x="509352" y="282204"/>
                    </a:lnTo>
                    <a:lnTo>
                      <a:pt x="254676" y="688604"/>
                    </a:lnTo>
                    <a:close/>
                  </a:path>
                </a:pathLst>
              </a:custGeom>
              <a:solidFill>
                <a:srgbClr val="309BAE"/>
              </a:solidFill>
            </p:spPr>
          </p:sp>
          <p:sp>
            <p:nvSpPr>
              <p:cNvPr name="TextBox 28" id="28"/>
              <p:cNvSpPr txBox="true"/>
              <p:nvPr/>
            </p:nvSpPr>
            <p:spPr>
              <a:xfrm>
                <a:off x="203200" y="-28575"/>
                <a:ext cx="102952" cy="615579"/>
              </a:xfrm>
              <a:prstGeom prst="rect">
                <a:avLst/>
              </a:prstGeom>
            </p:spPr>
            <p:txBody>
              <a:bodyPr anchor="ctr" rtlCol="false" tIns="50800" lIns="50800" bIns="50800" rIns="50800"/>
              <a:lstStyle/>
              <a:p>
                <a:pPr algn="ctr">
                  <a:lnSpc>
                    <a:spcPts val="1960"/>
                  </a:lnSpc>
                </a:pPr>
              </a:p>
            </p:txBody>
          </p:sp>
        </p:grpSp>
        <p:grpSp>
          <p:nvGrpSpPr>
            <p:cNvPr name="Group 29" id="29"/>
            <p:cNvGrpSpPr/>
            <p:nvPr/>
          </p:nvGrpSpPr>
          <p:grpSpPr>
            <a:xfrm rot="0">
              <a:off x="1314631" y="6497457"/>
              <a:ext cx="451469" cy="610352"/>
              <a:chOff x="0" y="0"/>
              <a:chExt cx="509352" cy="688604"/>
            </a:xfrm>
          </p:grpSpPr>
          <p:sp>
            <p:nvSpPr>
              <p:cNvPr name="Freeform 30" id="30"/>
              <p:cNvSpPr/>
              <p:nvPr/>
            </p:nvSpPr>
            <p:spPr>
              <a:xfrm flipH="false" flipV="false" rot="0">
                <a:off x="0" y="0"/>
                <a:ext cx="509352" cy="688604"/>
              </a:xfrm>
              <a:custGeom>
                <a:avLst/>
                <a:gdLst/>
                <a:ahLst/>
                <a:cxnLst/>
                <a:rect r="r" b="b" t="t" l="l"/>
                <a:pathLst>
                  <a:path h="688604" w="509352">
                    <a:moveTo>
                      <a:pt x="254676" y="688604"/>
                    </a:moveTo>
                    <a:lnTo>
                      <a:pt x="0" y="282204"/>
                    </a:lnTo>
                    <a:lnTo>
                      <a:pt x="203200" y="282204"/>
                    </a:lnTo>
                    <a:lnTo>
                      <a:pt x="203200" y="0"/>
                    </a:lnTo>
                    <a:lnTo>
                      <a:pt x="306152" y="0"/>
                    </a:lnTo>
                    <a:lnTo>
                      <a:pt x="306152" y="282204"/>
                    </a:lnTo>
                    <a:lnTo>
                      <a:pt x="509352" y="282204"/>
                    </a:lnTo>
                    <a:lnTo>
                      <a:pt x="254676" y="688604"/>
                    </a:lnTo>
                    <a:close/>
                  </a:path>
                </a:pathLst>
              </a:custGeom>
              <a:solidFill>
                <a:srgbClr val="309BAE"/>
              </a:solidFill>
            </p:spPr>
          </p:sp>
          <p:sp>
            <p:nvSpPr>
              <p:cNvPr name="TextBox 31" id="31"/>
              <p:cNvSpPr txBox="true"/>
              <p:nvPr/>
            </p:nvSpPr>
            <p:spPr>
              <a:xfrm>
                <a:off x="203200" y="-28575"/>
                <a:ext cx="102952" cy="615579"/>
              </a:xfrm>
              <a:prstGeom prst="rect">
                <a:avLst/>
              </a:prstGeom>
            </p:spPr>
            <p:txBody>
              <a:bodyPr anchor="ctr" rtlCol="false" tIns="50800" lIns="50800" bIns="50800" rIns="50800"/>
              <a:lstStyle/>
              <a:p>
                <a:pPr algn="ctr">
                  <a:lnSpc>
                    <a:spcPts val="1960"/>
                  </a:lnSpc>
                </a:pPr>
              </a:p>
            </p:txBody>
          </p:sp>
        </p:grpSp>
        <p:grpSp>
          <p:nvGrpSpPr>
            <p:cNvPr name="Group 32" id="32"/>
            <p:cNvGrpSpPr/>
            <p:nvPr/>
          </p:nvGrpSpPr>
          <p:grpSpPr>
            <a:xfrm rot="0">
              <a:off x="0" y="7107809"/>
              <a:ext cx="3250548" cy="921202"/>
              <a:chOff x="0" y="0"/>
              <a:chExt cx="642084" cy="181966"/>
            </a:xfrm>
          </p:grpSpPr>
          <p:sp>
            <p:nvSpPr>
              <p:cNvPr name="Freeform 33" id="33"/>
              <p:cNvSpPr/>
              <p:nvPr/>
            </p:nvSpPr>
            <p:spPr>
              <a:xfrm flipH="false" flipV="false" rot="0">
                <a:off x="0" y="0"/>
                <a:ext cx="642083" cy="181966"/>
              </a:xfrm>
              <a:custGeom>
                <a:avLst/>
                <a:gdLst/>
                <a:ahLst/>
                <a:cxnLst/>
                <a:rect r="r" b="b" t="t" l="l"/>
                <a:pathLst>
                  <a:path h="181966" w="642083">
                    <a:moveTo>
                      <a:pt x="63513" y="0"/>
                    </a:moveTo>
                    <a:lnTo>
                      <a:pt x="578571" y="0"/>
                    </a:lnTo>
                    <a:cubicBezTo>
                      <a:pt x="613648" y="0"/>
                      <a:pt x="642083" y="28436"/>
                      <a:pt x="642083" y="63513"/>
                    </a:cubicBezTo>
                    <a:lnTo>
                      <a:pt x="642083" y="118453"/>
                    </a:lnTo>
                    <a:cubicBezTo>
                      <a:pt x="642083" y="153530"/>
                      <a:pt x="613648" y="181966"/>
                      <a:pt x="578571" y="181966"/>
                    </a:cubicBezTo>
                    <a:lnTo>
                      <a:pt x="63513" y="181966"/>
                    </a:lnTo>
                    <a:cubicBezTo>
                      <a:pt x="28436" y="181966"/>
                      <a:pt x="0" y="153530"/>
                      <a:pt x="0" y="118453"/>
                    </a:cubicBezTo>
                    <a:lnTo>
                      <a:pt x="0" y="63513"/>
                    </a:lnTo>
                    <a:cubicBezTo>
                      <a:pt x="0" y="28436"/>
                      <a:pt x="28436" y="0"/>
                      <a:pt x="63513" y="0"/>
                    </a:cubicBezTo>
                    <a:close/>
                  </a:path>
                </a:pathLst>
              </a:custGeom>
              <a:solidFill>
                <a:srgbClr val="309BAE"/>
              </a:solidFill>
            </p:spPr>
          </p:sp>
          <p:sp>
            <p:nvSpPr>
              <p:cNvPr name="TextBox 34" id="34"/>
              <p:cNvSpPr txBox="true"/>
              <p:nvPr/>
            </p:nvSpPr>
            <p:spPr>
              <a:xfrm>
                <a:off x="0" y="0"/>
                <a:ext cx="642084" cy="181966"/>
              </a:xfrm>
              <a:prstGeom prst="rect">
                <a:avLst/>
              </a:prstGeom>
            </p:spPr>
            <p:txBody>
              <a:bodyPr anchor="ctr" rtlCol="false" tIns="50800" lIns="50800" bIns="50800" rIns="50800"/>
              <a:lstStyle/>
              <a:p>
                <a:pPr algn="ctr">
                  <a:lnSpc>
                    <a:spcPts val="1800"/>
                  </a:lnSpc>
                </a:pPr>
                <a:r>
                  <a:rPr lang="en-US" sz="1500">
                    <a:solidFill>
                      <a:srgbClr val="FFFFFF"/>
                    </a:solidFill>
                    <a:latin typeface="Open Sauce"/>
                    <a:ea typeface="Open Sauce"/>
                    <a:cs typeface="Open Sauce"/>
                    <a:sym typeface="Open Sauce"/>
                  </a:rPr>
                  <a:t>FAISS</a:t>
                </a:r>
                <a:r>
                  <a:rPr lang="en-US" sz="1500">
                    <a:solidFill>
                      <a:srgbClr val="FFFFFF"/>
                    </a:solidFill>
                    <a:latin typeface="Open Sauce"/>
                    <a:ea typeface="Open Sauce"/>
                    <a:cs typeface="Open Sauce"/>
                    <a:sym typeface="Open Sauce"/>
                  </a:rPr>
                  <a:t> Index Storage</a:t>
                </a:r>
              </a:p>
            </p:txBody>
          </p:sp>
        </p:grpSp>
      </p:grpSp>
      <p:grpSp>
        <p:nvGrpSpPr>
          <p:cNvPr name="Group 35" id="35"/>
          <p:cNvGrpSpPr/>
          <p:nvPr/>
        </p:nvGrpSpPr>
        <p:grpSpPr>
          <a:xfrm rot="0">
            <a:off x="12433765" y="2245324"/>
            <a:ext cx="2592001" cy="7884459"/>
            <a:chOff x="0" y="0"/>
            <a:chExt cx="3456001" cy="10512612"/>
          </a:xfrm>
        </p:grpSpPr>
        <p:sp>
          <p:nvSpPr>
            <p:cNvPr name="TextBox 36" id="36"/>
            <p:cNvSpPr txBox="true"/>
            <p:nvPr/>
          </p:nvSpPr>
          <p:spPr>
            <a:xfrm rot="0">
              <a:off x="0" y="-47625"/>
              <a:ext cx="3456001" cy="471805"/>
            </a:xfrm>
            <a:prstGeom prst="rect">
              <a:avLst/>
            </a:prstGeom>
          </p:spPr>
          <p:txBody>
            <a:bodyPr anchor="t" rtlCol="false" tIns="0" lIns="0" bIns="0" rIns="0">
              <a:spAutoFit/>
            </a:bodyPr>
            <a:lstStyle/>
            <a:p>
              <a:pPr algn="ctr" marL="0" indent="0" lvl="0">
                <a:lnSpc>
                  <a:spcPts val="2939"/>
                </a:lnSpc>
                <a:spcBef>
                  <a:spcPct val="0"/>
                </a:spcBef>
              </a:pPr>
              <a:r>
                <a:rPr lang="en-US" b="true" sz="2099">
                  <a:solidFill>
                    <a:srgbClr val="185079"/>
                  </a:solidFill>
                  <a:latin typeface="Open Sauce Bold"/>
                  <a:ea typeface="Open Sauce Bold"/>
                  <a:cs typeface="Open Sauce Bold"/>
                  <a:sym typeface="Open Sauce Bold"/>
                </a:rPr>
                <a:t>Query Pipeline</a:t>
              </a:r>
            </a:p>
          </p:txBody>
        </p:sp>
        <p:grpSp>
          <p:nvGrpSpPr>
            <p:cNvPr name="Group 37" id="37"/>
            <p:cNvGrpSpPr/>
            <p:nvPr/>
          </p:nvGrpSpPr>
          <p:grpSpPr>
            <a:xfrm rot="0">
              <a:off x="140827" y="723438"/>
              <a:ext cx="3250548" cy="950287"/>
              <a:chOff x="0" y="0"/>
              <a:chExt cx="642084" cy="187711"/>
            </a:xfrm>
          </p:grpSpPr>
          <p:sp>
            <p:nvSpPr>
              <p:cNvPr name="Freeform 38" id="38"/>
              <p:cNvSpPr/>
              <p:nvPr/>
            </p:nvSpPr>
            <p:spPr>
              <a:xfrm flipH="false" flipV="false" rot="0">
                <a:off x="0" y="0"/>
                <a:ext cx="642083" cy="187711"/>
              </a:xfrm>
              <a:custGeom>
                <a:avLst/>
                <a:gdLst/>
                <a:ahLst/>
                <a:cxnLst/>
                <a:rect r="r" b="b" t="t" l="l"/>
                <a:pathLst>
                  <a:path h="187711" w="642083">
                    <a:moveTo>
                      <a:pt x="63513" y="0"/>
                    </a:moveTo>
                    <a:lnTo>
                      <a:pt x="578571" y="0"/>
                    </a:lnTo>
                    <a:cubicBezTo>
                      <a:pt x="613648" y="0"/>
                      <a:pt x="642083" y="28436"/>
                      <a:pt x="642083" y="63513"/>
                    </a:cubicBezTo>
                    <a:lnTo>
                      <a:pt x="642083" y="124198"/>
                    </a:lnTo>
                    <a:cubicBezTo>
                      <a:pt x="642083" y="159275"/>
                      <a:pt x="613648" y="187711"/>
                      <a:pt x="578571" y="187711"/>
                    </a:cubicBezTo>
                    <a:lnTo>
                      <a:pt x="63513" y="187711"/>
                    </a:lnTo>
                    <a:cubicBezTo>
                      <a:pt x="28436" y="187711"/>
                      <a:pt x="0" y="159275"/>
                      <a:pt x="0" y="124198"/>
                    </a:cubicBezTo>
                    <a:lnTo>
                      <a:pt x="0" y="63513"/>
                    </a:lnTo>
                    <a:cubicBezTo>
                      <a:pt x="0" y="28436"/>
                      <a:pt x="28436" y="0"/>
                      <a:pt x="63513" y="0"/>
                    </a:cubicBezTo>
                    <a:close/>
                  </a:path>
                </a:pathLst>
              </a:custGeom>
              <a:solidFill>
                <a:srgbClr val="309BAE"/>
              </a:solidFill>
            </p:spPr>
          </p:sp>
          <p:sp>
            <p:nvSpPr>
              <p:cNvPr name="TextBox 39" id="39"/>
              <p:cNvSpPr txBox="true"/>
              <p:nvPr/>
            </p:nvSpPr>
            <p:spPr>
              <a:xfrm>
                <a:off x="0" y="0"/>
                <a:ext cx="642084" cy="187711"/>
              </a:xfrm>
              <a:prstGeom prst="rect">
                <a:avLst/>
              </a:prstGeom>
            </p:spPr>
            <p:txBody>
              <a:bodyPr anchor="ctr" rtlCol="false" tIns="50800" lIns="50800" bIns="50800" rIns="50800"/>
              <a:lstStyle/>
              <a:p>
                <a:pPr algn="ctr">
                  <a:lnSpc>
                    <a:spcPts val="1800"/>
                  </a:lnSpc>
                </a:pPr>
                <a:r>
                  <a:rPr lang="en-US" sz="1500">
                    <a:solidFill>
                      <a:srgbClr val="FFFFFF"/>
                    </a:solidFill>
                    <a:latin typeface="Open Sauce"/>
                    <a:ea typeface="Open Sauce"/>
                    <a:cs typeface="Open Sauce"/>
                    <a:sym typeface="Open Sauce"/>
                  </a:rPr>
                  <a:t>User Question</a:t>
                </a:r>
              </a:p>
            </p:txBody>
          </p:sp>
        </p:grpSp>
        <p:grpSp>
          <p:nvGrpSpPr>
            <p:cNvPr name="Group 40" id="40"/>
            <p:cNvGrpSpPr/>
            <p:nvPr/>
          </p:nvGrpSpPr>
          <p:grpSpPr>
            <a:xfrm rot="0">
              <a:off x="1417358" y="1673724"/>
              <a:ext cx="451469" cy="610352"/>
              <a:chOff x="0" y="0"/>
              <a:chExt cx="509352" cy="688604"/>
            </a:xfrm>
          </p:grpSpPr>
          <p:sp>
            <p:nvSpPr>
              <p:cNvPr name="Freeform 41" id="41"/>
              <p:cNvSpPr/>
              <p:nvPr/>
            </p:nvSpPr>
            <p:spPr>
              <a:xfrm flipH="false" flipV="false" rot="0">
                <a:off x="0" y="0"/>
                <a:ext cx="509352" cy="688604"/>
              </a:xfrm>
              <a:custGeom>
                <a:avLst/>
                <a:gdLst/>
                <a:ahLst/>
                <a:cxnLst/>
                <a:rect r="r" b="b" t="t" l="l"/>
                <a:pathLst>
                  <a:path h="688604" w="509352">
                    <a:moveTo>
                      <a:pt x="254676" y="688604"/>
                    </a:moveTo>
                    <a:lnTo>
                      <a:pt x="0" y="282204"/>
                    </a:lnTo>
                    <a:lnTo>
                      <a:pt x="203200" y="282204"/>
                    </a:lnTo>
                    <a:lnTo>
                      <a:pt x="203200" y="0"/>
                    </a:lnTo>
                    <a:lnTo>
                      <a:pt x="306152" y="0"/>
                    </a:lnTo>
                    <a:lnTo>
                      <a:pt x="306152" y="282204"/>
                    </a:lnTo>
                    <a:lnTo>
                      <a:pt x="509352" y="282204"/>
                    </a:lnTo>
                    <a:lnTo>
                      <a:pt x="254676" y="688604"/>
                    </a:lnTo>
                    <a:close/>
                  </a:path>
                </a:pathLst>
              </a:custGeom>
              <a:solidFill>
                <a:srgbClr val="309BAE"/>
              </a:solidFill>
            </p:spPr>
          </p:sp>
          <p:sp>
            <p:nvSpPr>
              <p:cNvPr name="TextBox 42" id="42"/>
              <p:cNvSpPr txBox="true"/>
              <p:nvPr/>
            </p:nvSpPr>
            <p:spPr>
              <a:xfrm>
                <a:off x="203200" y="-28575"/>
                <a:ext cx="102952" cy="615579"/>
              </a:xfrm>
              <a:prstGeom prst="rect">
                <a:avLst/>
              </a:prstGeom>
            </p:spPr>
            <p:txBody>
              <a:bodyPr anchor="ctr" rtlCol="false" tIns="50800" lIns="50800" bIns="50800" rIns="50800"/>
              <a:lstStyle/>
              <a:p>
                <a:pPr algn="ctr">
                  <a:lnSpc>
                    <a:spcPts val="1960"/>
                  </a:lnSpc>
                </a:pPr>
              </a:p>
            </p:txBody>
          </p:sp>
        </p:grpSp>
        <p:grpSp>
          <p:nvGrpSpPr>
            <p:cNvPr name="Group 43" id="43"/>
            <p:cNvGrpSpPr/>
            <p:nvPr/>
          </p:nvGrpSpPr>
          <p:grpSpPr>
            <a:xfrm rot="0">
              <a:off x="191627" y="5404601"/>
              <a:ext cx="3250548" cy="950287"/>
              <a:chOff x="0" y="0"/>
              <a:chExt cx="642084" cy="187711"/>
            </a:xfrm>
          </p:grpSpPr>
          <p:sp>
            <p:nvSpPr>
              <p:cNvPr name="Freeform 44" id="44"/>
              <p:cNvSpPr/>
              <p:nvPr/>
            </p:nvSpPr>
            <p:spPr>
              <a:xfrm flipH="false" flipV="false" rot="0">
                <a:off x="0" y="0"/>
                <a:ext cx="642083" cy="187711"/>
              </a:xfrm>
              <a:custGeom>
                <a:avLst/>
                <a:gdLst/>
                <a:ahLst/>
                <a:cxnLst/>
                <a:rect r="r" b="b" t="t" l="l"/>
                <a:pathLst>
                  <a:path h="187711" w="642083">
                    <a:moveTo>
                      <a:pt x="63513" y="0"/>
                    </a:moveTo>
                    <a:lnTo>
                      <a:pt x="578571" y="0"/>
                    </a:lnTo>
                    <a:cubicBezTo>
                      <a:pt x="613648" y="0"/>
                      <a:pt x="642083" y="28436"/>
                      <a:pt x="642083" y="63513"/>
                    </a:cubicBezTo>
                    <a:lnTo>
                      <a:pt x="642083" y="124198"/>
                    </a:lnTo>
                    <a:cubicBezTo>
                      <a:pt x="642083" y="159275"/>
                      <a:pt x="613648" y="187711"/>
                      <a:pt x="578571" y="187711"/>
                    </a:cubicBezTo>
                    <a:lnTo>
                      <a:pt x="63513" y="187711"/>
                    </a:lnTo>
                    <a:cubicBezTo>
                      <a:pt x="28436" y="187711"/>
                      <a:pt x="0" y="159275"/>
                      <a:pt x="0" y="124198"/>
                    </a:cubicBezTo>
                    <a:lnTo>
                      <a:pt x="0" y="63513"/>
                    </a:lnTo>
                    <a:cubicBezTo>
                      <a:pt x="0" y="28436"/>
                      <a:pt x="28436" y="0"/>
                      <a:pt x="63513" y="0"/>
                    </a:cubicBezTo>
                    <a:close/>
                  </a:path>
                </a:pathLst>
              </a:custGeom>
              <a:solidFill>
                <a:srgbClr val="309BAE"/>
              </a:solidFill>
            </p:spPr>
          </p:sp>
          <p:sp>
            <p:nvSpPr>
              <p:cNvPr name="TextBox 45" id="45"/>
              <p:cNvSpPr txBox="true"/>
              <p:nvPr/>
            </p:nvSpPr>
            <p:spPr>
              <a:xfrm>
                <a:off x="0" y="0"/>
                <a:ext cx="642084" cy="187711"/>
              </a:xfrm>
              <a:prstGeom prst="rect">
                <a:avLst/>
              </a:prstGeom>
            </p:spPr>
            <p:txBody>
              <a:bodyPr anchor="ctr" rtlCol="false" tIns="50800" lIns="50800" bIns="50800" rIns="50800"/>
              <a:lstStyle/>
              <a:p>
                <a:pPr algn="ctr">
                  <a:lnSpc>
                    <a:spcPts val="1800"/>
                  </a:lnSpc>
                </a:pPr>
                <a:r>
                  <a:rPr lang="en-US" sz="1500">
                    <a:solidFill>
                      <a:srgbClr val="FFFFFF"/>
                    </a:solidFill>
                    <a:latin typeface="Open Sauce"/>
                    <a:ea typeface="Open Sauce"/>
                    <a:cs typeface="Open Sauce"/>
                    <a:sym typeface="Open Sauce"/>
                  </a:rPr>
                  <a:t>S</a:t>
                </a:r>
                <a:r>
                  <a:rPr lang="en-US" sz="1500">
                    <a:solidFill>
                      <a:srgbClr val="FFFFFF"/>
                    </a:solidFill>
                    <a:latin typeface="Open Sauce"/>
                    <a:ea typeface="Open Sauce"/>
                    <a:cs typeface="Open Sauce"/>
                    <a:sym typeface="Open Sauce"/>
                  </a:rPr>
                  <a:t>earch in FAISS</a:t>
                </a:r>
              </a:p>
            </p:txBody>
          </p:sp>
        </p:grpSp>
        <p:grpSp>
          <p:nvGrpSpPr>
            <p:cNvPr name="Group 46" id="46"/>
            <p:cNvGrpSpPr/>
            <p:nvPr/>
          </p:nvGrpSpPr>
          <p:grpSpPr>
            <a:xfrm rot="0">
              <a:off x="191627" y="3844714"/>
              <a:ext cx="3250548" cy="950287"/>
              <a:chOff x="0" y="0"/>
              <a:chExt cx="642084" cy="187711"/>
            </a:xfrm>
          </p:grpSpPr>
          <p:sp>
            <p:nvSpPr>
              <p:cNvPr name="Freeform 47" id="47"/>
              <p:cNvSpPr/>
              <p:nvPr/>
            </p:nvSpPr>
            <p:spPr>
              <a:xfrm flipH="false" flipV="false" rot="0">
                <a:off x="0" y="0"/>
                <a:ext cx="642083" cy="187711"/>
              </a:xfrm>
              <a:custGeom>
                <a:avLst/>
                <a:gdLst/>
                <a:ahLst/>
                <a:cxnLst/>
                <a:rect r="r" b="b" t="t" l="l"/>
                <a:pathLst>
                  <a:path h="187711" w="642083">
                    <a:moveTo>
                      <a:pt x="63513" y="0"/>
                    </a:moveTo>
                    <a:lnTo>
                      <a:pt x="578571" y="0"/>
                    </a:lnTo>
                    <a:cubicBezTo>
                      <a:pt x="613648" y="0"/>
                      <a:pt x="642083" y="28436"/>
                      <a:pt x="642083" y="63513"/>
                    </a:cubicBezTo>
                    <a:lnTo>
                      <a:pt x="642083" y="124198"/>
                    </a:lnTo>
                    <a:cubicBezTo>
                      <a:pt x="642083" y="159275"/>
                      <a:pt x="613648" y="187711"/>
                      <a:pt x="578571" y="187711"/>
                    </a:cubicBezTo>
                    <a:lnTo>
                      <a:pt x="63513" y="187711"/>
                    </a:lnTo>
                    <a:cubicBezTo>
                      <a:pt x="28436" y="187711"/>
                      <a:pt x="0" y="159275"/>
                      <a:pt x="0" y="124198"/>
                    </a:cubicBezTo>
                    <a:lnTo>
                      <a:pt x="0" y="63513"/>
                    </a:lnTo>
                    <a:cubicBezTo>
                      <a:pt x="0" y="28436"/>
                      <a:pt x="28436" y="0"/>
                      <a:pt x="63513" y="0"/>
                    </a:cubicBezTo>
                    <a:close/>
                  </a:path>
                </a:pathLst>
              </a:custGeom>
              <a:solidFill>
                <a:srgbClr val="309BAE"/>
              </a:solidFill>
            </p:spPr>
          </p:sp>
          <p:sp>
            <p:nvSpPr>
              <p:cNvPr name="TextBox 48" id="48"/>
              <p:cNvSpPr txBox="true"/>
              <p:nvPr/>
            </p:nvSpPr>
            <p:spPr>
              <a:xfrm>
                <a:off x="0" y="0"/>
                <a:ext cx="642084" cy="187711"/>
              </a:xfrm>
              <a:prstGeom prst="rect">
                <a:avLst/>
              </a:prstGeom>
            </p:spPr>
            <p:txBody>
              <a:bodyPr anchor="ctr" rtlCol="false" tIns="50800" lIns="50800" bIns="50800" rIns="50800"/>
              <a:lstStyle/>
              <a:p>
                <a:pPr algn="ctr">
                  <a:lnSpc>
                    <a:spcPts val="1800"/>
                  </a:lnSpc>
                </a:pPr>
                <a:r>
                  <a:rPr lang="en-US" sz="1500">
                    <a:solidFill>
                      <a:srgbClr val="FFFFFF"/>
                    </a:solidFill>
                    <a:latin typeface="Open Sauce"/>
                    <a:ea typeface="Open Sauce"/>
                    <a:cs typeface="Open Sauce"/>
                    <a:sym typeface="Open Sauce"/>
                  </a:rPr>
                  <a:t>Convert</a:t>
                </a:r>
                <a:r>
                  <a:rPr lang="en-US" sz="1500">
                    <a:solidFill>
                      <a:srgbClr val="FFFFFF"/>
                    </a:solidFill>
                    <a:latin typeface="Open Sauce"/>
                    <a:ea typeface="Open Sauce"/>
                    <a:cs typeface="Open Sauce"/>
                    <a:sym typeface="Open Sauce"/>
                  </a:rPr>
                  <a:t> Query to Embedding</a:t>
                </a:r>
              </a:p>
            </p:txBody>
          </p:sp>
        </p:grpSp>
        <p:grpSp>
          <p:nvGrpSpPr>
            <p:cNvPr name="Group 49" id="49"/>
            <p:cNvGrpSpPr/>
            <p:nvPr/>
          </p:nvGrpSpPr>
          <p:grpSpPr>
            <a:xfrm rot="0">
              <a:off x="140827" y="2284076"/>
              <a:ext cx="3250548" cy="950287"/>
              <a:chOff x="0" y="0"/>
              <a:chExt cx="642084" cy="187711"/>
            </a:xfrm>
          </p:grpSpPr>
          <p:sp>
            <p:nvSpPr>
              <p:cNvPr name="Freeform 50" id="50"/>
              <p:cNvSpPr/>
              <p:nvPr/>
            </p:nvSpPr>
            <p:spPr>
              <a:xfrm flipH="false" flipV="false" rot="0">
                <a:off x="0" y="0"/>
                <a:ext cx="642083" cy="187711"/>
              </a:xfrm>
              <a:custGeom>
                <a:avLst/>
                <a:gdLst/>
                <a:ahLst/>
                <a:cxnLst/>
                <a:rect r="r" b="b" t="t" l="l"/>
                <a:pathLst>
                  <a:path h="187711" w="642083">
                    <a:moveTo>
                      <a:pt x="63513" y="0"/>
                    </a:moveTo>
                    <a:lnTo>
                      <a:pt x="578571" y="0"/>
                    </a:lnTo>
                    <a:cubicBezTo>
                      <a:pt x="613648" y="0"/>
                      <a:pt x="642083" y="28436"/>
                      <a:pt x="642083" y="63513"/>
                    </a:cubicBezTo>
                    <a:lnTo>
                      <a:pt x="642083" y="124198"/>
                    </a:lnTo>
                    <a:cubicBezTo>
                      <a:pt x="642083" y="159275"/>
                      <a:pt x="613648" y="187711"/>
                      <a:pt x="578571" y="187711"/>
                    </a:cubicBezTo>
                    <a:lnTo>
                      <a:pt x="63513" y="187711"/>
                    </a:lnTo>
                    <a:cubicBezTo>
                      <a:pt x="28436" y="187711"/>
                      <a:pt x="0" y="159275"/>
                      <a:pt x="0" y="124198"/>
                    </a:cubicBezTo>
                    <a:lnTo>
                      <a:pt x="0" y="63513"/>
                    </a:lnTo>
                    <a:cubicBezTo>
                      <a:pt x="0" y="28436"/>
                      <a:pt x="28436" y="0"/>
                      <a:pt x="63513" y="0"/>
                    </a:cubicBezTo>
                    <a:close/>
                  </a:path>
                </a:pathLst>
              </a:custGeom>
              <a:solidFill>
                <a:srgbClr val="309BAE"/>
              </a:solidFill>
            </p:spPr>
          </p:sp>
          <p:sp>
            <p:nvSpPr>
              <p:cNvPr name="TextBox 51" id="51"/>
              <p:cNvSpPr txBox="true"/>
              <p:nvPr/>
            </p:nvSpPr>
            <p:spPr>
              <a:xfrm>
                <a:off x="0" y="0"/>
                <a:ext cx="642084" cy="187711"/>
              </a:xfrm>
              <a:prstGeom prst="rect">
                <a:avLst/>
              </a:prstGeom>
            </p:spPr>
            <p:txBody>
              <a:bodyPr anchor="ctr" rtlCol="false" tIns="50800" lIns="50800" bIns="50800" rIns="50800"/>
              <a:lstStyle/>
              <a:p>
                <a:pPr algn="ctr">
                  <a:lnSpc>
                    <a:spcPts val="1800"/>
                  </a:lnSpc>
                </a:pPr>
                <a:r>
                  <a:rPr lang="en-US" sz="1500">
                    <a:solidFill>
                      <a:srgbClr val="FFFFFF"/>
                    </a:solidFill>
                    <a:latin typeface="Open Sauce"/>
                    <a:ea typeface="Open Sauce"/>
                    <a:cs typeface="Open Sauce"/>
                    <a:sym typeface="Open Sauce"/>
                  </a:rPr>
                  <a:t>Fla</a:t>
                </a:r>
                <a:r>
                  <a:rPr lang="en-US" sz="1500">
                    <a:solidFill>
                      <a:srgbClr val="FFFFFF"/>
                    </a:solidFill>
                    <a:latin typeface="Open Sauce"/>
                    <a:ea typeface="Open Sauce"/>
                    <a:cs typeface="Open Sauce"/>
                    <a:sym typeface="Open Sauce"/>
                  </a:rPr>
                  <a:t>sk Chatbot UI</a:t>
                </a:r>
              </a:p>
            </p:txBody>
          </p:sp>
        </p:grpSp>
        <p:grpSp>
          <p:nvGrpSpPr>
            <p:cNvPr name="Group 52" id="52"/>
            <p:cNvGrpSpPr/>
            <p:nvPr/>
          </p:nvGrpSpPr>
          <p:grpSpPr>
            <a:xfrm rot="0">
              <a:off x="1468158" y="3234363"/>
              <a:ext cx="451469" cy="610352"/>
              <a:chOff x="0" y="0"/>
              <a:chExt cx="509352" cy="688604"/>
            </a:xfrm>
          </p:grpSpPr>
          <p:sp>
            <p:nvSpPr>
              <p:cNvPr name="Freeform 53" id="53"/>
              <p:cNvSpPr/>
              <p:nvPr/>
            </p:nvSpPr>
            <p:spPr>
              <a:xfrm flipH="false" flipV="false" rot="0">
                <a:off x="0" y="0"/>
                <a:ext cx="509352" cy="688604"/>
              </a:xfrm>
              <a:custGeom>
                <a:avLst/>
                <a:gdLst/>
                <a:ahLst/>
                <a:cxnLst/>
                <a:rect r="r" b="b" t="t" l="l"/>
                <a:pathLst>
                  <a:path h="688604" w="509352">
                    <a:moveTo>
                      <a:pt x="254676" y="688604"/>
                    </a:moveTo>
                    <a:lnTo>
                      <a:pt x="0" y="282204"/>
                    </a:lnTo>
                    <a:lnTo>
                      <a:pt x="203200" y="282204"/>
                    </a:lnTo>
                    <a:lnTo>
                      <a:pt x="203200" y="0"/>
                    </a:lnTo>
                    <a:lnTo>
                      <a:pt x="306152" y="0"/>
                    </a:lnTo>
                    <a:lnTo>
                      <a:pt x="306152" y="282204"/>
                    </a:lnTo>
                    <a:lnTo>
                      <a:pt x="509352" y="282204"/>
                    </a:lnTo>
                    <a:lnTo>
                      <a:pt x="254676" y="688604"/>
                    </a:lnTo>
                    <a:close/>
                  </a:path>
                </a:pathLst>
              </a:custGeom>
              <a:solidFill>
                <a:srgbClr val="309BAE"/>
              </a:solidFill>
            </p:spPr>
          </p:sp>
          <p:sp>
            <p:nvSpPr>
              <p:cNvPr name="TextBox 54" id="54"/>
              <p:cNvSpPr txBox="true"/>
              <p:nvPr/>
            </p:nvSpPr>
            <p:spPr>
              <a:xfrm>
                <a:off x="203200" y="-28575"/>
                <a:ext cx="102952" cy="615579"/>
              </a:xfrm>
              <a:prstGeom prst="rect">
                <a:avLst/>
              </a:prstGeom>
            </p:spPr>
            <p:txBody>
              <a:bodyPr anchor="ctr" rtlCol="false" tIns="50800" lIns="50800" bIns="50800" rIns="50800"/>
              <a:lstStyle/>
              <a:p>
                <a:pPr algn="ctr">
                  <a:lnSpc>
                    <a:spcPts val="1960"/>
                  </a:lnSpc>
                </a:pPr>
              </a:p>
            </p:txBody>
          </p:sp>
        </p:grpSp>
        <p:grpSp>
          <p:nvGrpSpPr>
            <p:cNvPr name="Group 55" id="55"/>
            <p:cNvGrpSpPr/>
            <p:nvPr/>
          </p:nvGrpSpPr>
          <p:grpSpPr>
            <a:xfrm rot="0">
              <a:off x="1468158" y="4795001"/>
              <a:ext cx="451469" cy="610352"/>
              <a:chOff x="0" y="0"/>
              <a:chExt cx="509352" cy="688604"/>
            </a:xfrm>
          </p:grpSpPr>
          <p:sp>
            <p:nvSpPr>
              <p:cNvPr name="Freeform 56" id="56"/>
              <p:cNvSpPr/>
              <p:nvPr/>
            </p:nvSpPr>
            <p:spPr>
              <a:xfrm flipH="false" flipV="false" rot="0">
                <a:off x="0" y="0"/>
                <a:ext cx="509352" cy="688604"/>
              </a:xfrm>
              <a:custGeom>
                <a:avLst/>
                <a:gdLst/>
                <a:ahLst/>
                <a:cxnLst/>
                <a:rect r="r" b="b" t="t" l="l"/>
                <a:pathLst>
                  <a:path h="688604" w="509352">
                    <a:moveTo>
                      <a:pt x="254676" y="688604"/>
                    </a:moveTo>
                    <a:lnTo>
                      <a:pt x="0" y="282204"/>
                    </a:lnTo>
                    <a:lnTo>
                      <a:pt x="203200" y="282204"/>
                    </a:lnTo>
                    <a:lnTo>
                      <a:pt x="203200" y="0"/>
                    </a:lnTo>
                    <a:lnTo>
                      <a:pt x="306152" y="0"/>
                    </a:lnTo>
                    <a:lnTo>
                      <a:pt x="306152" y="282204"/>
                    </a:lnTo>
                    <a:lnTo>
                      <a:pt x="509352" y="282204"/>
                    </a:lnTo>
                    <a:lnTo>
                      <a:pt x="254676" y="688604"/>
                    </a:lnTo>
                    <a:close/>
                  </a:path>
                </a:pathLst>
              </a:custGeom>
              <a:solidFill>
                <a:srgbClr val="309BAE"/>
              </a:solidFill>
            </p:spPr>
          </p:sp>
          <p:sp>
            <p:nvSpPr>
              <p:cNvPr name="TextBox 57" id="57"/>
              <p:cNvSpPr txBox="true"/>
              <p:nvPr/>
            </p:nvSpPr>
            <p:spPr>
              <a:xfrm>
                <a:off x="203200" y="-28575"/>
                <a:ext cx="102952" cy="615579"/>
              </a:xfrm>
              <a:prstGeom prst="rect">
                <a:avLst/>
              </a:prstGeom>
            </p:spPr>
            <p:txBody>
              <a:bodyPr anchor="ctr" rtlCol="false" tIns="50800" lIns="50800" bIns="50800" rIns="50800"/>
              <a:lstStyle/>
              <a:p>
                <a:pPr algn="ctr">
                  <a:lnSpc>
                    <a:spcPts val="1960"/>
                  </a:lnSpc>
                </a:pPr>
              </a:p>
            </p:txBody>
          </p:sp>
        </p:grpSp>
        <p:grpSp>
          <p:nvGrpSpPr>
            <p:cNvPr name="Group 58" id="58"/>
            <p:cNvGrpSpPr/>
            <p:nvPr/>
          </p:nvGrpSpPr>
          <p:grpSpPr>
            <a:xfrm rot="0">
              <a:off x="1468158" y="6354887"/>
              <a:ext cx="451469" cy="610352"/>
              <a:chOff x="0" y="0"/>
              <a:chExt cx="509352" cy="688604"/>
            </a:xfrm>
          </p:grpSpPr>
          <p:sp>
            <p:nvSpPr>
              <p:cNvPr name="Freeform 59" id="59"/>
              <p:cNvSpPr/>
              <p:nvPr/>
            </p:nvSpPr>
            <p:spPr>
              <a:xfrm flipH="false" flipV="false" rot="0">
                <a:off x="0" y="0"/>
                <a:ext cx="509352" cy="688604"/>
              </a:xfrm>
              <a:custGeom>
                <a:avLst/>
                <a:gdLst/>
                <a:ahLst/>
                <a:cxnLst/>
                <a:rect r="r" b="b" t="t" l="l"/>
                <a:pathLst>
                  <a:path h="688604" w="509352">
                    <a:moveTo>
                      <a:pt x="254676" y="688604"/>
                    </a:moveTo>
                    <a:lnTo>
                      <a:pt x="0" y="282204"/>
                    </a:lnTo>
                    <a:lnTo>
                      <a:pt x="203200" y="282204"/>
                    </a:lnTo>
                    <a:lnTo>
                      <a:pt x="203200" y="0"/>
                    </a:lnTo>
                    <a:lnTo>
                      <a:pt x="306152" y="0"/>
                    </a:lnTo>
                    <a:lnTo>
                      <a:pt x="306152" y="282204"/>
                    </a:lnTo>
                    <a:lnTo>
                      <a:pt x="509352" y="282204"/>
                    </a:lnTo>
                    <a:lnTo>
                      <a:pt x="254676" y="688604"/>
                    </a:lnTo>
                    <a:close/>
                  </a:path>
                </a:pathLst>
              </a:custGeom>
              <a:solidFill>
                <a:srgbClr val="309BAE"/>
              </a:solidFill>
            </p:spPr>
          </p:sp>
          <p:sp>
            <p:nvSpPr>
              <p:cNvPr name="TextBox 60" id="60"/>
              <p:cNvSpPr txBox="true"/>
              <p:nvPr/>
            </p:nvSpPr>
            <p:spPr>
              <a:xfrm>
                <a:off x="203200" y="-28575"/>
                <a:ext cx="102952" cy="615579"/>
              </a:xfrm>
              <a:prstGeom prst="rect">
                <a:avLst/>
              </a:prstGeom>
            </p:spPr>
            <p:txBody>
              <a:bodyPr anchor="ctr" rtlCol="false" tIns="50800" lIns="50800" bIns="50800" rIns="50800"/>
              <a:lstStyle/>
              <a:p>
                <a:pPr algn="ctr">
                  <a:lnSpc>
                    <a:spcPts val="1960"/>
                  </a:lnSpc>
                </a:pPr>
              </a:p>
            </p:txBody>
          </p:sp>
        </p:grpSp>
        <p:grpSp>
          <p:nvGrpSpPr>
            <p:cNvPr name="Group 61" id="61"/>
            <p:cNvGrpSpPr/>
            <p:nvPr/>
          </p:nvGrpSpPr>
          <p:grpSpPr>
            <a:xfrm rot="0">
              <a:off x="191627" y="8429432"/>
              <a:ext cx="3250548" cy="902452"/>
              <a:chOff x="0" y="0"/>
              <a:chExt cx="642084" cy="178262"/>
            </a:xfrm>
          </p:grpSpPr>
          <p:sp>
            <p:nvSpPr>
              <p:cNvPr name="Freeform 62" id="62"/>
              <p:cNvSpPr/>
              <p:nvPr/>
            </p:nvSpPr>
            <p:spPr>
              <a:xfrm flipH="false" flipV="false" rot="0">
                <a:off x="0" y="0"/>
                <a:ext cx="642083" cy="178262"/>
              </a:xfrm>
              <a:custGeom>
                <a:avLst/>
                <a:gdLst/>
                <a:ahLst/>
                <a:cxnLst/>
                <a:rect r="r" b="b" t="t" l="l"/>
                <a:pathLst>
                  <a:path h="178262" w="642083">
                    <a:moveTo>
                      <a:pt x="63513" y="0"/>
                    </a:moveTo>
                    <a:lnTo>
                      <a:pt x="578571" y="0"/>
                    </a:lnTo>
                    <a:cubicBezTo>
                      <a:pt x="613648" y="0"/>
                      <a:pt x="642083" y="28436"/>
                      <a:pt x="642083" y="63513"/>
                    </a:cubicBezTo>
                    <a:lnTo>
                      <a:pt x="642083" y="114749"/>
                    </a:lnTo>
                    <a:cubicBezTo>
                      <a:pt x="642083" y="149826"/>
                      <a:pt x="613648" y="178262"/>
                      <a:pt x="578571" y="178262"/>
                    </a:cubicBezTo>
                    <a:lnTo>
                      <a:pt x="63513" y="178262"/>
                    </a:lnTo>
                    <a:cubicBezTo>
                      <a:pt x="28436" y="178262"/>
                      <a:pt x="0" y="149826"/>
                      <a:pt x="0" y="114749"/>
                    </a:cubicBezTo>
                    <a:lnTo>
                      <a:pt x="0" y="63513"/>
                    </a:lnTo>
                    <a:cubicBezTo>
                      <a:pt x="0" y="28436"/>
                      <a:pt x="28436" y="0"/>
                      <a:pt x="63513" y="0"/>
                    </a:cubicBezTo>
                    <a:close/>
                  </a:path>
                </a:pathLst>
              </a:custGeom>
              <a:solidFill>
                <a:srgbClr val="309BAE"/>
              </a:solidFill>
            </p:spPr>
          </p:sp>
          <p:sp>
            <p:nvSpPr>
              <p:cNvPr name="TextBox 63" id="63"/>
              <p:cNvSpPr txBox="true"/>
              <p:nvPr/>
            </p:nvSpPr>
            <p:spPr>
              <a:xfrm>
                <a:off x="0" y="0"/>
                <a:ext cx="642084" cy="178262"/>
              </a:xfrm>
              <a:prstGeom prst="rect">
                <a:avLst/>
              </a:prstGeom>
            </p:spPr>
            <p:txBody>
              <a:bodyPr anchor="ctr" rtlCol="false" tIns="50800" lIns="50800" bIns="50800" rIns="50800"/>
              <a:lstStyle/>
              <a:p>
                <a:pPr algn="ctr">
                  <a:lnSpc>
                    <a:spcPts val="1800"/>
                  </a:lnSpc>
                </a:pPr>
                <a:r>
                  <a:rPr lang="en-US" sz="1500">
                    <a:solidFill>
                      <a:srgbClr val="FFFFFF"/>
                    </a:solidFill>
                    <a:latin typeface="Open Sauce"/>
                    <a:ea typeface="Open Sauce"/>
                    <a:cs typeface="Open Sauce"/>
                    <a:sym typeface="Open Sauce"/>
                  </a:rPr>
                  <a:t>G</a:t>
                </a:r>
                <a:r>
                  <a:rPr lang="en-US" sz="1500">
                    <a:solidFill>
                      <a:srgbClr val="FFFFFF"/>
                    </a:solidFill>
                    <a:latin typeface="Open Sauce"/>
                    <a:ea typeface="Open Sauce"/>
                    <a:cs typeface="Open Sauce"/>
                    <a:sym typeface="Open Sauce"/>
                  </a:rPr>
                  <a:t>enerate Final Response</a:t>
                </a:r>
              </a:p>
            </p:txBody>
          </p:sp>
        </p:grpSp>
        <p:grpSp>
          <p:nvGrpSpPr>
            <p:cNvPr name="Group 64" id="64"/>
            <p:cNvGrpSpPr/>
            <p:nvPr/>
          </p:nvGrpSpPr>
          <p:grpSpPr>
            <a:xfrm rot="0">
              <a:off x="191627" y="6936730"/>
              <a:ext cx="3250548" cy="921202"/>
              <a:chOff x="0" y="0"/>
              <a:chExt cx="642084" cy="181966"/>
            </a:xfrm>
          </p:grpSpPr>
          <p:sp>
            <p:nvSpPr>
              <p:cNvPr name="Freeform 65" id="65"/>
              <p:cNvSpPr/>
              <p:nvPr/>
            </p:nvSpPr>
            <p:spPr>
              <a:xfrm flipH="false" flipV="false" rot="0">
                <a:off x="0" y="0"/>
                <a:ext cx="642083" cy="181966"/>
              </a:xfrm>
              <a:custGeom>
                <a:avLst/>
                <a:gdLst/>
                <a:ahLst/>
                <a:cxnLst/>
                <a:rect r="r" b="b" t="t" l="l"/>
                <a:pathLst>
                  <a:path h="181966" w="642083">
                    <a:moveTo>
                      <a:pt x="63513" y="0"/>
                    </a:moveTo>
                    <a:lnTo>
                      <a:pt x="578571" y="0"/>
                    </a:lnTo>
                    <a:cubicBezTo>
                      <a:pt x="613648" y="0"/>
                      <a:pt x="642083" y="28436"/>
                      <a:pt x="642083" y="63513"/>
                    </a:cubicBezTo>
                    <a:lnTo>
                      <a:pt x="642083" y="118453"/>
                    </a:lnTo>
                    <a:cubicBezTo>
                      <a:pt x="642083" y="153530"/>
                      <a:pt x="613648" y="181966"/>
                      <a:pt x="578571" y="181966"/>
                    </a:cubicBezTo>
                    <a:lnTo>
                      <a:pt x="63513" y="181966"/>
                    </a:lnTo>
                    <a:cubicBezTo>
                      <a:pt x="28436" y="181966"/>
                      <a:pt x="0" y="153530"/>
                      <a:pt x="0" y="118453"/>
                    </a:cubicBezTo>
                    <a:lnTo>
                      <a:pt x="0" y="63513"/>
                    </a:lnTo>
                    <a:cubicBezTo>
                      <a:pt x="0" y="28436"/>
                      <a:pt x="28436" y="0"/>
                      <a:pt x="63513" y="0"/>
                    </a:cubicBezTo>
                    <a:close/>
                  </a:path>
                </a:pathLst>
              </a:custGeom>
              <a:solidFill>
                <a:srgbClr val="309BAE"/>
              </a:solidFill>
            </p:spPr>
          </p:sp>
          <p:sp>
            <p:nvSpPr>
              <p:cNvPr name="TextBox 66" id="66"/>
              <p:cNvSpPr txBox="true"/>
              <p:nvPr/>
            </p:nvSpPr>
            <p:spPr>
              <a:xfrm>
                <a:off x="0" y="0"/>
                <a:ext cx="642084" cy="181966"/>
              </a:xfrm>
              <a:prstGeom prst="rect">
                <a:avLst/>
              </a:prstGeom>
            </p:spPr>
            <p:txBody>
              <a:bodyPr anchor="ctr" rtlCol="false" tIns="50800" lIns="50800" bIns="50800" rIns="50800"/>
              <a:lstStyle/>
              <a:p>
                <a:pPr algn="ctr">
                  <a:lnSpc>
                    <a:spcPts val="1800"/>
                  </a:lnSpc>
                </a:pPr>
                <a:r>
                  <a:rPr lang="en-US" sz="1500">
                    <a:solidFill>
                      <a:srgbClr val="FFFFFF"/>
                    </a:solidFill>
                    <a:latin typeface="Open Sauce"/>
                    <a:ea typeface="Open Sauce"/>
                    <a:cs typeface="Open Sauce"/>
                    <a:sym typeface="Open Sauce"/>
                  </a:rPr>
                  <a:t>R</a:t>
                </a:r>
                <a:r>
                  <a:rPr lang="en-US" sz="1500">
                    <a:solidFill>
                      <a:srgbClr val="FFFFFF"/>
                    </a:solidFill>
                    <a:latin typeface="Open Sauce"/>
                    <a:ea typeface="Open Sauce"/>
                    <a:cs typeface="Open Sauce"/>
                    <a:sym typeface="Open Sauce"/>
                  </a:rPr>
                  <a:t>etrieve Similar Policies</a:t>
                </a:r>
              </a:p>
            </p:txBody>
          </p:sp>
        </p:grpSp>
        <p:grpSp>
          <p:nvGrpSpPr>
            <p:cNvPr name="Group 67" id="67"/>
            <p:cNvGrpSpPr/>
            <p:nvPr/>
          </p:nvGrpSpPr>
          <p:grpSpPr>
            <a:xfrm rot="0">
              <a:off x="140827" y="9801032"/>
              <a:ext cx="3250548" cy="711580"/>
              <a:chOff x="0" y="0"/>
              <a:chExt cx="642084" cy="140559"/>
            </a:xfrm>
          </p:grpSpPr>
          <p:sp>
            <p:nvSpPr>
              <p:cNvPr name="Freeform 68" id="68"/>
              <p:cNvSpPr/>
              <p:nvPr/>
            </p:nvSpPr>
            <p:spPr>
              <a:xfrm flipH="false" flipV="false" rot="0">
                <a:off x="0" y="0"/>
                <a:ext cx="642083" cy="140559"/>
              </a:xfrm>
              <a:custGeom>
                <a:avLst/>
                <a:gdLst/>
                <a:ahLst/>
                <a:cxnLst/>
                <a:rect r="r" b="b" t="t" l="l"/>
                <a:pathLst>
                  <a:path h="140559" w="642083">
                    <a:moveTo>
                      <a:pt x="63513" y="0"/>
                    </a:moveTo>
                    <a:lnTo>
                      <a:pt x="578571" y="0"/>
                    </a:lnTo>
                    <a:cubicBezTo>
                      <a:pt x="613648" y="0"/>
                      <a:pt x="642083" y="28436"/>
                      <a:pt x="642083" y="63513"/>
                    </a:cubicBezTo>
                    <a:lnTo>
                      <a:pt x="642083" y="77046"/>
                    </a:lnTo>
                    <a:cubicBezTo>
                      <a:pt x="642083" y="112123"/>
                      <a:pt x="613648" y="140559"/>
                      <a:pt x="578571" y="140559"/>
                    </a:cubicBezTo>
                    <a:lnTo>
                      <a:pt x="63513" y="140559"/>
                    </a:lnTo>
                    <a:cubicBezTo>
                      <a:pt x="28436" y="140559"/>
                      <a:pt x="0" y="112123"/>
                      <a:pt x="0" y="77046"/>
                    </a:cubicBezTo>
                    <a:lnTo>
                      <a:pt x="0" y="63513"/>
                    </a:lnTo>
                    <a:cubicBezTo>
                      <a:pt x="0" y="28436"/>
                      <a:pt x="28436" y="0"/>
                      <a:pt x="63513" y="0"/>
                    </a:cubicBezTo>
                    <a:close/>
                  </a:path>
                </a:pathLst>
              </a:custGeom>
              <a:solidFill>
                <a:srgbClr val="309BAE"/>
              </a:solidFill>
            </p:spPr>
          </p:sp>
          <p:sp>
            <p:nvSpPr>
              <p:cNvPr name="TextBox 69" id="69"/>
              <p:cNvSpPr txBox="true"/>
              <p:nvPr/>
            </p:nvSpPr>
            <p:spPr>
              <a:xfrm>
                <a:off x="0" y="0"/>
                <a:ext cx="642084" cy="140559"/>
              </a:xfrm>
              <a:prstGeom prst="rect">
                <a:avLst/>
              </a:prstGeom>
            </p:spPr>
            <p:txBody>
              <a:bodyPr anchor="ctr" rtlCol="false" tIns="50800" lIns="50800" bIns="50800" rIns="50800"/>
              <a:lstStyle/>
              <a:p>
                <a:pPr algn="ctr">
                  <a:lnSpc>
                    <a:spcPts val="1800"/>
                  </a:lnSpc>
                </a:pPr>
                <a:r>
                  <a:rPr lang="en-US" sz="1500">
                    <a:solidFill>
                      <a:srgbClr val="FFFFFF"/>
                    </a:solidFill>
                    <a:latin typeface="Open Sauce"/>
                    <a:ea typeface="Open Sauce"/>
                    <a:cs typeface="Open Sauce"/>
                    <a:sym typeface="Open Sauce"/>
                  </a:rPr>
                  <a:t>D</a:t>
                </a:r>
                <a:r>
                  <a:rPr lang="en-US" sz="1500">
                    <a:solidFill>
                      <a:srgbClr val="FFFFFF"/>
                    </a:solidFill>
                    <a:latin typeface="Open Sauce"/>
                    <a:ea typeface="Open Sauce"/>
                    <a:cs typeface="Open Sauce"/>
                    <a:sym typeface="Open Sauce"/>
                  </a:rPr>
                  <a:t>isplay Answer</a:t>
                </a:r>
              </a:p>
            </p:txBody>
          </p:sp>
        </p:grpSp>
        <p:grpSp>
          <p:nvGrpSpPr>
            <p:cNvPr name="Group 70" id="70"/>
            <p:cNvGrpSpPr/>
            <p:nvPr/>
          </p:nvGrpSpPr>
          <p:grpSpPr>
            <a:xfrm rot="0">
              <a:off x="1502266" y="7845232"/>
              <a:ext cx="451469" cy="610352"/>
              <a:chOff x="0" y="0"/>
              <a:chExt cx="509352" cy="688604"/>
            </a:xfrm>
          </p:grpSpPr>
          <p:sp>
            <p:nvSpPr>
              <p:cNvPr name="Freeform 71" id="71"/>
              <p:cNvSpPr/>
              <p:nvPr/>
            </p:nvSpPr>
            <p:spPr>
              <a:xfrm flipH="false" flipV="false" rot="0">
                <a:off x="0" y="0"/>
                <a:ext cx="509352" cy="688604"/>
              </a:xfrm>
              <a:custGeom>
                <a:avLst/>
                <a:gdLst/>
                <a:ahLst/>
                <a:cxnLst/>
                <a:rect r="r" b="b" t="t" l="l"/>
                <a:pathLst>
                  <a:path h="688604" w="509352">
                    <a:moveTo>
                      <a:pt x="254676" y="688604"/>
                    </a:moveTo>
                    <a:lnTo>
                      <a:pt x="0" y="282204"/>
                    </a:lnTo>
                    <a:lnTo>
                      <a:pt x="203200" y="282204"/>
                    </a:lnTo>
                    <a:lnTo>
                      <a:pt x="203200" y="0"/>
                    </a:lnTo>
                    <a:lnTo>
                      <a:pt x="306152" y="0"/>
                    </a:lnTo>
                    <a:lnTo>
                      <a:pt x="306152" y="282204"/>
                    </a:lnTo>
                    <a:lnTo>
                      <a:pt x="509352" y="282204"/>
                    </a:lnTo>
                    <a:lnTo>
                      <a:pt x="254676" y="688604"/>
                    </a:lnTo>
                    <a:close/>
                  </a:path>
                </a:pathLst>
              </a:custGeom>
              <a:solidFill>
                <a:srgbClr val="309BAE"/>
              </a:solidFill>
            </p:spPr>
          </p:sp>
          <p:sp>
            <p:nvSpPr>
              <p:cNvPr name="TextBox 72" id="72"/>
              <p:cNvSpPr txBox="true"/>
              <p:nvPr/>
            </p:nvSpPr>
            <p:spPr>
              <a:xfrm>
                <a:off x="203200" y="-28575"/>
                <a:ext cx="102952" cy="615579"/>
              </a:xfrm>
              <a:prstGeom prst="rect">
                <a:avLst/>
              </a:prstGeom>
            </p:spPr>
            <p:txBody>
              <a:bodyPr anchor="ctr" rtlCol="false" tIns="50800" lIns="50800" bIns="50800" rIns="50800"/>
              <a:lstStyle/>
              <a:p>
                <a:pPr algn="ctr">
                  <a:lnSpc>
                    <a:spcPts val="1960"/>
                  </a:lnSpc>
                </a:pPr>
              </a:p>
            </p:txBody>
          </p:sp>
        </p:grpSp>
        <p:grpSp>
          <p:nvGrpSpPr>
            <p:cNvPr name="Group 73" id="73"/>
            <p:cNvGrpSpPr/>
            <p:nvPr/>
          </p:nvGrpSpPr>
          <p:grpSpPr>
            <a:xfrm rot="0">
              <a:off x="1502266" y="9331884"/>
              <a:ext cx="451469" cy="610352"/>
              <a:chOff x="0" y="0"/>
              <a:chExt cx="509352" cy="688604"/>
            </a:xfrm>
          </p:grpSpPr>
          <p:sp>
            <p:nvSpPr>
              <p:cNvPr name="Freeform 74" id="74"/>
              <p:cNvSpPr/>
              <p:nvPr/>
            </p:nvSpPr>
            <p:spPr>
              <a:xfrm flipH="false" flipV="false" rot="0">
                <a:off x="0" y="0"/>
                <a:ext cx="509352" cy="688604"/>
              </a:xfrm>
              <a:custGeom>
                <a:avLst/>
                <a:gdLst/>
                <a:ahLst/>
                <a:cxnLst/>
                <a:rect r="r" b="b" t="t" l="l"/>
                <a:pathLst>
                  <a:path h="688604" w="509352">
                    <a:moveTo>
                      <a:pt x="254676" y="688604"/>
                    </a:moveTo>
                    <a:lnTo>
                      <a:pt x="0" y="282204"/>
                    </a:lnTo>
                    <a:lnTo>
                      <a:pt x="203200" y="282204"/>
                    </a:lnTo>
                    <a:lnTo>
                      <a:pt x="203200" y="0"/>
                    </a:lnTo>
                    <a:lnTo>
                      <a:pt x="306152" y="0"/>
                    </a:lnTo>
                    <a:lnTo>
                      <a:pt x="306152" y="282204"/>
                    </a:lnTo>
                    <a:lnTo>
                      <a:pt x="509352" y="282204"/>
                    </a:lnTo>
                    <a:lnTo>
                      <a:pt x="254676" y="688604"/>
                    </a:lnTo>
                    <a:close/>
                  </a:path>
                </a:pathLst>
              </a:custGeom>
              <a:solidFill>
                <a:srgbClr val="309BAE"/>
              </a:solidFill>
            </p:spPr>
          </p:sp>
          <p:sp>
            <p:nvSpPr>
              <p:cNvPr name="TextBox 75" id="75"/>
              <p:cNvSpPr txBox="true"/>
              <p:nvPr/>
            </p:nvSpPr>
            <p:spPr>
              <a:xfrm>
                <a:off x="203200" y="-28575"/>
                <a:ext cx="102952" cy="615579"/>
              </a:xfrm>
              <a:prstGeom prst="rect">
                <a:avLst/>
              </a:prstGeom>
            </p:spPr>
            <p:txBody>
              <a:bodyPr anchor="ctr" rtlCol="false" tIns="50800" lIns="50800" bIns="50800" rIns="50800"/>
              <a:lstStyle/>
              <a:p>
                <a:pPr algn="ctr">
                  <a:lnSpc>
                    <a:spcPts val="1960"/>
                  </a:lnSpc>
                </a:pPr>
              </a:p>
            </p:txBody>
          </p:sp>
        </p:gr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590489" y="1123950"/>
            <a:ext cx="15668811" cy="1111257"/>
          </a:xfrm>
          <a:prstGeom prst="rect">
            <a:avLst/>
          </a:prstGeom>
        </p:spPr>
        <p:txBody>
          <a:bodyPr anchor="t" rtlCol="false" tIns="0" lIns="0" bIns="0" rIns="0">
            <a:spAutoFit/>
          </a:bodyPr>
          <a:lstStyle/>
          <a:p>
            <a:pPr algn="ctr"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TECHNOLOGIES USED</a:t>
            </a:r>
          </a:p>
        </p:txBody>
      </p:sp>
      <p:sp>
        <p:nvSpPr>
          <p:cNvPr name="Freeform 4" id="4"/>
          <p:cNvSpPr/>
          <p:nvPr/>
        </p:nvSpPr>
        <p:spPr>
          <a:xfrm flipH="false" flipV="false" rot="0">
            <a:off x="-8153289" y="493643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5" id="5"/>
          <p:cNvSpPr/>
          <p:nvPr/>
        </p:nvSpPr>
        <p:spPr>
          <a:xfrm flipH="false" flipV="false" rot="0">
            <a:off x="11275201" y="-772630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grpSp>
        <p:nvGrpSpPr>
          <p:cNvPr name="Group 6" id="6"/>
          <p:cNvGrpSpPr/>
          <p:nvPr/>
        </p:nvGrpSpPr>
        <p:grpSpPr>
          <a:xfrm rot="0">
            <a:off x="6758572" y="2897478"/>
            <a:ext cx="6082359" cy="5574295"/>
            <a:chOff x="0" y="0"/>
            <a:chExt cx="8109812" cy="7432393"/>
          </a:xfrm>
        </p:grpSpPr>
        <p:sp>
          <p:nvSpPr>
            <p:cNvPr name="TextBox 7" id="7"/>
            <p:cNvSpPr txBox="true"/>
            <p:nvPr/>
          </p:nvSpPr>
          <p:spPr>
            <a:xfrm rot="0">
              <a:off x="96101" y="-57150"/>
              <a:ext cx="3288075" cy="740919"/>
            </a:xfrm>
            <a:prstGeom prst="rect">
              <a:avLst/>
            </a:prstGeom>
          </p:spPr>
          <p:txBody>
            <a:bodyPr anchor="t" rtlCol="false" tIns="0" lIns="0" bIns="0" rIns="0">
              <a:spAutoFit/>
            </a:bodyPr>
            <a:lstStyle/>
            <a:p>
              <a:pPr algn="just" marL="734053" indent="-367026" lvl="1">
                <a:lnSpc>
                  <a:spcPts val="4691"/>
                </a:lnSpc>
                <a:buFont typeface="Arial"/>
                <a:buChar char="•"/>
              </a:pPr>
              <a:r>
                <a:rPr lang="en-US" sz="3399">
                  <a:solidFill>
                    <a:srgbClr val="185079"/>
                  </a:solidFill>
                  <a:latin typeface="Open Sauce"/>
                  <a:ea typeface="Open Sauce"/>
                  <a:cs typeface="Open Sauce"/>
                  <a:sym typeface="Open Sauce"/>
                </a:rPr>
                <a:t>Python</a:t>
              </a:r>
            </a:p>
          </p:txBody>
        </p:sp>
        <p:sp>
          <p:nvSpPr>
            <p:cNvPr name="TextBox 8" id="8"/>
            <p:cNvSpPr txBox="true"/>
            <p:nvPr/>
          </p:nvSpPr>
          <p:spPr>
            <a:xfrm rot="0">
              <a:off x="0" y="1079737"/>
              <a:ext cx="2772464" cy="740919"/>
            </a:xfrm>
            <a:prstGeom prst="rect">
              <a:avLst/>
            </a:prstGeom>
          </p:spPr>
          <p:txBody>
            <a:bodyPr anchor="t" rtlCol="false" tIns="0" lIns="0" bIns="0" rIns="0">
              <a:spAutoFit/>
            </a:bodyPr>
            <a:lstStyle/>
            <a:p>
              <a:pPr algn="just" marL="734053" indent="-367026" lvl="1">
                <a:lnSpc>
                  <a:spcPts val="4691"/>
                </a:lnSpc>
                <a:buFont typeface="Arial"/>
                <a:buChar char="•"/>
              </a:pPr>
              <a:r>
                <a:rPr lang="en-US" sz="3399">
                  <a:solidFill>
                    <a:srgbClr val="185079"/>
                  </a:solidFill>
                  <a:latin typeface="Open Sauce"/>
                  <a:ea typeface="Open Sauce"/>
                  <a:cs typeface="Open Sauce"/>
                  <a:sym typeface="Open Sauce"/>
                </a:rPr>
                <a:t>Flask</a:t>
              </a:r>
            </a:p>
          </p:txBody>
        </p:sp>
        <p:sp>
          <p:nvSpPr>
            <p:cNvPr name="TextBox 9" id="9"/>
            <p:cNvSpPr txBox="true"/>
            <p:nvPr/>
          </p:nvSpPr>
          <p:spPr>
            <a:xfrm rot="0">
              <a:off x="0" y="2169906"/>
              <a:ext cx="6179315" cy="740919"/>
            </a:xfrm>
            <a:prstGeom prst="rect">
              <a:avLst/>
            </a:prstGeom>
          </p:spPr>
          <p:txBody>
            <a:bodyPr anchor="t" rtlCol="false" tIns="0" lIns="0" bIns="0" rIns="0">
              <a:spAutoFit/>
            </a:bodyPr>
            <a:lstStyle/>
            <a:p>
              <a:pPr algn="just" marL="734053" indent="-367026" lvl="1">
                <a:lnSpc>
                  <a:spcPts val="4691"/>
                </a:lnSpc>
                <a:buFont typeface="Arial"/>
                <a:buChar char="•"/>
              </a:pPr>
              <a:r>
                <a:rPr lang="en-US" sz="3399">
                  <a:solidFill>
                    <a:srgbClr val="185079"/>
                  </a:solidFill>
                  <a:latin typeface="Open Sauce"/>
                  <a:ea typeface="Open Sauce"/>
                  <a:cs typeface="Open Sauce"/>
                  <a:sym typeface="Open Sauce"/>
                </a:rPr>
                <a:t>HTML/CSS/JS</a:t>
              </a:r>
            </a:p>
          </p:txBody>
        </p:sp>
        <p:sp>
          <p:nvSpPr>
            <p:cNvPr name="TextBox 10" id="10"/>
            <p:cNvSpPr txBox="true"/>
            <p:nvPr/>
          </p:nvSpPr>
          <p:spPr>
            <a:xfrm rot="0">
              <a:off x="0" y="3133075"/>
              <a:ext cx="2864321" cy="740919"/>
            </a:xfrm>
            <a:prstGeom prst="rect">
              <a:avLst/>
            </a:prstGeom>
          </p:spPr>
          <p:txBody>
            <a:bodyPr anchor="t" rtlCol="false" tIns="0" lIns="0" bIns="0" rIns="0">
              <a:spAutoFit/>
            </a:bodyPr>
            <a:lstStyle/>
            <a:p>
              <a:pPr algn="just" marL="734053" indent="-367026" lvl="1">
                <a:lnSpc>
                  <a:spcPts val="4691"/>
                </a:lnSpc>
                <a:buFont typeface="Arial"/>
                <a:buChar char="•"/>
              </a:pPr>
              <a:r>
                <a:rPr lang="en-US" sz="3399">
                  <a:solidFill>
                    <a:srgbClr val="185079"/>
                  </a:solidFill>
                  <a:latin typeface="Open Sauce"/>
                  <a:ea typeface="Open Sauce"/>
                  <a:cs typeface="Open Sauce"/>
                  <a:sym typeface="Open Sauce"/>
                </a:rPr>
                <a:t>FAISS</a:t>
              </a:r>
            </a:p>
          </p:txBody>
        </p:sp>
        <p:sp>
          <p:nvSpPr>
            <p:cNvPr name="TextBox 11" id="11"/>
            <p:cNvSpPr txBox="true"/>
            <p:nvPr/>
          </p:nvSpPr>
          <p:spPr>
            <a:xfrm rot="0">
              <a:off x="0" y="4096244"/>
              <a:ext cx="8109812" cy="740919"/>
            </a:xfrm>
            <a:prstGeom prst="rect">
              <a:avLst/>
            </a:prstGeom>
          </p:spPr>
          <p:txBody>
            <a:bodyPr anchor="t" rtlCol="false" tIns="0" lIns="0" bIns="0" rIns="0">
              <a:spAutoFit/>
            </a:bodyPr>
            <a:lstStyle/>
            <a:p>
              <a:pPr algn="just" marL="734053" indent="-367026" lvl="1">
                <a:lnSpc>
                  <a:spcPts val="4691"/>
                </a:lnSpc>
                <a:buFont typeface="Arial"/>
                <a:buChar char="•"/>
              </a:pPr>
              <a:r>
                <a:rPr lang="en-US" sz="3399">
                  <a:solidFill>
                    <a:srgbClr val="185079"/>
                  </a:solidFill>
                  <a:latin typeface="Open Sauce"/>
                  <a:ea typeface="Open Sauce"/>
                  <a:cs typeface="Open Sauce"/>
                  <a:sym typeface="Open Sauce"/>
                </a:rPr>
                <a:t>Sentence Transformers</a:t>
              </a:r>
            </a:p>
          </p:txBody>
        </p:sp>
        <p:sp>
          <p:nvSpPr>
            <p:cNvPr name="TextBox 12" id="12"/>
            <p:cNvSpPr txBox="true"/>
            <p:nvPr/>
          </p:nvSpPr>
          <p:spPr>
            <a:xfrm rot="0">
              <a:off x="0" y="5188555"/>
              <a:ext cx="4628782" cy="740919"/>
            </a:xfrm>
            <a:prstGeom prst="rect">
              <a:avLst/>
            </a:prstGeom>
          </p:spPr>
          <p:txBody>
            <a:bodyPr anchor="t" rtlCol="false" tIns="0" lIns="0" bIns="0" rIns="0">
              <a:spAutoFit/>
            </a:bodyPr>
            <a:lstStyle/>
            <a:p>
              <a:pPr algn="just" marL="734053" indent="-367026" lvl="1">
                <a:lnSpc>
                  <a:spcPts val="4691"/>
                </a:lnSpc>
                <a:buFont typeface="Arial"/>
                <a:buChar char="•"/>
              </a:pPr>
              <a:r>
                <a:rPr lang="en-US" sz="3399">
                  <a:solidFill>
                    <a:srgbClr val="185079"/>
                  </a:solidFill>
                  <a:latin typeface="Open Sauce"/>
                  <a:ea typeface="Open Sauce"/>
                  <a:cs typeface="Open Sauce"/>
                  <a:sym typeface="Open Sauce"/>
                </a:rPr>
                <a:t>Watchdog</a:t>
              </a:r>
            </a:p>
          </p:txBody>
        </p:sp>
        <p:sp>
          <p:nvSpPr>
            <p:cNvPr name="TextBox 13" id="13"/>
            <p:cNvSpPr txBox="true"/>
            <p:nvPr/>
          </p:nvSpPr>
          <p:spPr>
            <a:xfrm rot="0">
              <a:off x="96101" y="6691474"/>
              <a:ext cx="3958806" cy="740919"/>
            </a:xfrm>
            <a:prstGeom prst="rect">
              <a:avLst/>
            </a:prstGeom>
          </p:spPr>
          <p:txBody>
            <a:bodyPr anchor="t" rtlCol="false" tIns="0" lIns="0" bIns="0" rIns="0">
              <a:spAutoFit/>
            </a:bodyPr>
            <a:lstStyle/>
            <a:p>
              <a:pPr algn="just" marL="734053" indent="-367026" lvl="1">
                <a:lnSpc>
                  <a:spcPts val="4691"/>
                </a:lnSpc>
                <a:buFont typeface="Arial"/>
                <a:buChar char="•"/>
              </a:pPr>
              <a:r>
                <a:rPr lang="en-US" sz="3399">
                  <a:solidFill>
                    <a:srgbClr val="185079"/>
                  </a:solidFill>
                  <a:latin typeface="Open Sauce"/>
                  <a:ea typeface="Open Sauce"/>
                  <a:cs typeface="Open Sauce"/>
                  <a:sym typeface="Open Sauce"/>
                </a:rPr>
                <a:t>Ngrok</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838828"/>
            <a:ext cx="16527613" cy="2197107"/>
          </a:xfrm>
          <a:prstGeom prst="rect">
            <a:avLst/>
          </a:prstGeom>
        </p:spPr>
        <p:txBody>
          <a:bodyPr anchor="t" rtlCol="false" tIns="0" lIns="0" bIns="0" rIns="0">
            <a:spAutoFit/>
          </a:bodyPr>
          <a:lstStyle/>
          <a:p>
            <a:pPr algn="ctr">
              <a:lnSpc>
                <a:spcPts val="8550"/>
              </a:lnSpc>
            </a:pPr>
            <a:r>
              <a:rPr lang="en-US" b="true" sz="7917" spc="-467">
                <a:solidFill>
                  <a:srgbClr val="185079"/>
                </a:solidFill>
                <a:latin typeface="Open Sauce Semi-Bold"/>
                <a:ea typeface="Open Sauce Semi-Bold"/>
                <a:cs typeface="Open Sauce Semi-Bold"/>
                <a:sym typeface="Open Sauce Semi-Bold"/>
              </a:rPr>
              <a:t>FAISS  </a:t>
            </a:r>
          </a:p>
          <a:p>
            <a:pPr algn="just"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(FACEBOOK AI SIMI</a:t>
            </a:r>
            <a:r>
              <a:rPr lang="en-US" b="true" sz="7917" spc="-467" strike="noStrike" u="none">
                <a:solidFill>
                  <a:srgbClr val="185079"/>
                </a:solidFill>
                <a:latin typeface="Open Sauce Semi-Bold"/>
                <a:ea typeface="Open Sauce Semi-Bold"/>
                <a:cs typeface="Open Sauce Semi-Bold"/>
                <a:sym typeface="Open Sauce Semi-Bold"/>
              </a:rPr>
              <a:t>LARITY SEARCH)</a:t>
            </a:r>
          </a:p>
        </p:txBody>
      </p:sp>
      <p:sp>
        <p:nvSpPr>
          <p:cNvPr name="TextBox 4" id="4"/>
          <p:cNvSpPr txBox="true"/>
          <p:nvPr/>
        </p:nvSpPr>
        <p:spPr>
          <a:xfrm rot="0">
            <a:off x="3691063" y="3491127"/>
            <a:ext cx="10905875" cy="1207135"/>
          </a:xfrm>
          <a:prstGeom prst="rect">
            <a:avLst/>
          </a:prstGeom>
        </p:spPr>
        <p:txBody>
          <a:bodyPr anchor="t" rtlCol="false" tIns="0" lIns="0" bIns="0" rIns="0">
            <a:spAutoFit/>
          </a:bodyPr>
          <a:lstStyle/>
          <a:p>
            <a:pPr algn="ctr" marL="496567" indent="-248284" lvl="1">
              <a:lnSpc>
                <a:spcPts val="3219"/>
              </a:lnSpc>
              <a:spcBef>
                <a:spcPct val="0"/>
              </a:spcBef>
              <a:buFont typeface="Arial"/>
              <a:buChar char="•"/>
            </a:pPr>
            <a:r>
              <a:rPr lang="en-US" b="true" sz="2299">
                <a:solidFill>
                  <a:srgbClr val="185079"/>
                </a:solidFill>
                <a:latin typeface="Open Sauce Bold"/>
                <a:ea typeface="Open Sauce Bold"/>
                <a:cs typeface="Open Sauce Bold"/>
                <a:sym typeface="Open Sauce Bold"/>
              </a:rPr>
              <a:t>FAISS</a:t>
            </a:r>
            <a:r>
              <a:rPr lang="en-US" b="true" sz="2299" strike="noStrike" u="none">
                <a:solidFill>
                  <a:srgbClr val="185079"/>
                </a:solidFill>
                <a:latin typeface="Open Sauce Bold"/>
                <a:ea typeface="Open Sauce Bold"/>
                <a:cs typeface="Open Sauce Bold"/>
                <a:sym typeface="Open Sauce Bold"/>
              </a:rPr>
              <a:t> stands </a:t>
            </a:r>
            <a:r>
              <a:rPr lang="en-US" b="true" sz="2299" strike="noStrike" u="none">
                <a:solidFill>
                  <a:srgbClr val="185079"/>
                </a:solidFill>
                <a:latin typeface="Open Sauce Bold"/>
                <a:ea typeface="Open Sauce Bold"/>
                <a:cs typeface="Open Sauce Bold"/>
                <a:sym typeface="Open Sauce Bold"/>
              </a:rPr>
              <a:t>f</a:t>
            </a:r>
            <a:r>
              <a:rPr lang="en-US" b="true" sz="2299" strike="noStrike" u="none">
                <a:solidFill>
                  <a:srgbClr val="185079"/>
                </a:solidFill>
                <a:latin typeface="Open Sauce Bold"/>
                <a:ea typeface="Open Sauce Bold"/>
                <a:cs typeface="Open Sauce Bold"/>
                <a:sym typeface="Open Sauce Bold"/>
              </a:rPr>
              <a:t>or </a:t>
            </a:r>
            <a:r>
              <a:rPr lang="en-US" b="true" sz="2299" strike="noStrike" u="none">
                <a:solidFill>
                  <a:srgbClr val="185079"/>
                </a:solidFill>
                <a:latin typeface="Open Sauce Bold"/>
                <a:ea typeface="Open Sauce Bold"/>
                <a:cs typeface="Open Sauce Bold"/>
                <a:sym typeface="Open Sauce Bold"/>
              </a:rPr>
              <a:t>F</a:t>
            </a:r>
            <a:r>
              <a:rPr lang="en-US" b="true" sz="2299" strike="noStrike" u="none">
                <a:solidFill>
                  <a:srgbClr val="185079"/>
                </a:solidFill>
                <a:latin typeface="Open Sauce Bold"/>
                <a:ea typeface="Open Sauce Bold"/>
                <a:cs typeface="Open Sauce Bold"/>
                <a:sym typeface="Open Sauce Bold"/>
              </a:rPr>
              <a:t>a</a:t>
            </a:r>
            <a:r>
              <a:rPr lang="en-US" b="true" sz="2299" strike="noStrike" u="none">
                <a:solidFill>
                  <a:srgbClr val="185079"/>
                </a:solidFill>
                <a:latin typeface="Open Sauce Bold"/>
                <a:ea typeface="Open Sauce Bold"/>
                <a:cs typeface="Open Sauce Bold"/>
                <a:sym typeface="Open Sauce Bold"/>
              </a:rPr>
              <a:t>c</a:t>
            </a:r>
            <a:r>
              <a:rPr lang="en-US" b="true" sz="2299" strike="noStrike" u="none">
                <a:solidFill>
                  <a:srgbClr val="185079"/>
                </a:solidFill>
                <a:latin typeface="Open Sauce Bold"/>
                <a:ea typeface="Open Sauce Bold"/>
                <a:cs typeface="Open Sauce Bold"/>
                <a:sym typeface="Open Sauce Bold"/>
              </a:rPr>
              <a:t>e</a:t>
            </a:r>
            <a:r>
              <a:rPr lang="en-US" b="true" sz="2299" strike="noStrike" u="none">
                <a:solidFill>
                  <a:srgbClr val="185079"/>
                </a:solidFill>
                <a:latin typeface="Open Sauce Bold"/>
                <a:ea typeface="Open Sauce Bold"/>
                <a:cs typeface="Open Sauce Bold"/>
                <a:sym typeface="Open Sauce Bold"/>
              </a:rPr>
              <a:t>b</a:t>
            </a:r>
            <a:r>
              <a:rPr lang="en-US" b="true" sz="2299" strike="noStrike" u="none">
                <a:solidFill>
                  <a:srgbClr val="185079"/>
                </a:solidFill>
                <a:latin typeface="Open Sauce Bold"/>
                <a:ea typeface="Open Sauce Bold"/>
                <a:cs typeface="Open Sauce Bold"/>
                <a:sym typeface="Open Sauce Bold"/>
              </a:rPr>
              <a:t>oo</a:t>
            </a:r>
            <a:r>
              <a:rPr lang="en-US" b="true" sz="2299" strike="noStrike" u="none">
                <a:solidFill>
                  <a:srgbClr val="185079"/>
                </a:solidFill>
                <a:latin typeface="Open Sauce Bold"/>
                <a:ea typeface="Open Sauce Bold"/>
                <a:cs typeface="Open Sauce Bold"/>
                <a:sym typeface="Open Sauce Bold"/>
              </a:rPr>
              <a:t>k</a:t>
            </a:r>
            <a:r>
              <a:rPr lang="en-US" b="true" sz="2299" strike="noStrike" u="none">
                <a:solidFill>
                  <a:srgbClr val="185079"/>
                </a:solidFill>
                <a:latin typeface="Open Sauce Bold"/>
                <a:ea typeface="Open Sauce Bold"/>
                <a:cs typeface="Open Sauce Bold"/>
                <a:sym typeface="Open Sauce Bold"/>
              </a:rPr>
              <a:t> </a:t>
            </a:r>
            <a:r>
              <a:rPr lang="en-US" b="true" sz="2299" strike="noStrike" u="none">
                <a:solidFill>
                  <a:srgbClr val="185079"/>
                </a:solidFill>
                <a:latin typeface="Open Sauce Bold"/>
                <a:ea typeface="Open Sauce Bold"/>
                <a:cs typeface="Open Sauce Bold"/>
                <a:sym typeface="Open Sauce Bold"/>
              </a:rPr>
              <a:t>AI</a:t>
            </a:r>
            <a:r>
              <a:rPr lang="en-US" b="true" sz="2299" strike="noStrike" u="none">
                <a:solidFill>
                  <a:srgbClr val="185079"/>
                </a:solidFill>
                <a:latin typeface="Open Sauce Bold"/>
                <a:ea typeface="Open Sauce Bold"/>
                <a:cs typeface="Open Sauce Bold"/>
                <a:sym typeface="Open Sauce Bold"/>
              </a:rPr>
              <a:t> </a:t>
            </a:r>
            <a:r>
              <a:rPr lang="en-US" b="true" sz="2299" strike="noStrike" u="none">
                <a:solidFill>
                  <a:srgbClr val="185079"/>
                </a:solidFill>
                <a:latin typeface="Open Sauce Bold"/>
                <a:ea typeface="Open Sauce Bold"/>
                <a:cs typeface="Open Sauce Bold"/>
                <a:sym typeface="Open Sauce Bold"/>
              </a:rPr>
              <a:t>S</a:t>
            </a:r>
            <a:r>
              <a:rPr lang="en-US" b="true" sz="2299" strike="noStrike" u="none">
                <a:solidFill>
                  <a:srgbClr val="185079"/>
                </a:solidFill>
                <a:latin typeface="Open Sauce Bold"/>
                <a:ea typeface="Open Sauce Bold"/>
                <a:cs typeface="Open Sauce Bold"/>
                <a:sym typeface="Open Sauce Bold"/>
              </a:rPr>
              <a:t>imilarit</a:t>
            </a:r>
            <a:r>
              <a:rPr lang="en-US" b="true" sz="2299" strike="noStrike" u="none">
                <a:solidFill>
                  <a:srgbClr val="185079"/>
                </a:solidFill>
                <a:latin typeface="Open Sauce Bold"/>
                <a:ea typeface="Open Sauce Bold"/>
                <a:cs typeface="Open Sauce Bold"/>
                <a:sym typeface="Open Sauce Bold"/>
              </a:rPr>
              <a:t>y</a:t>
            </a:r>
            <a:r>
              <a:rPr lang="en-US" b="true" sz="2299" strike="noStrike" u="none">
                <a:solidFill>
                  <a:srgbClr val="185079"/>
                </a:solidFill>
                <a:latin typeface="Open Sauce Bold"/>
                <a:ea typeface="Open Sauce Bold"/>
                <a:cs typeface="Open Sauce Bold"/>
                <a:sym typeface="Open Sauce Bold"/>
              </a:rPr>
              <a:t> </a:t>
            </a:r>
            <a:r>
              <a:rPr lang="en-US" b="true" sz="2299" strike="noStrike" u="none">
                <a:solidFill>
                  <a:srgbClr val="185079"/>
                </a:solidFill>
                <a:latin typeface="Open Sauce Bold"/>
                <a:ea typeface="Open Sauce Bold"/>
                <a:cs typeface="Open Sauce Bold"/>
                <a:sym typeface="Open Sauce Bold"/>
              </a:rPr>
              <a:t>S</a:t>
            </a:r>
            <a:r>
              <a:rPr lang="en-US" b="true" sz="2299" strike="noStrike" u="none">
                <a:solidFill>
                  <a:srgbClr val="185079"/>
                </a:solidFill>
                <a:latin typeface="Open Sauce Bold"/>
                <a:ea typeface="Open Sauce Bold"/>
                <a:cs typeface="Open Sauce Bold"/>
                <a:sym typeface="Open Sauce Bold"/>
              </a:rPr>
              <a:t>ea</a:t>
            </a:r>
            <a:r>
              <a:rPr lang="en-US" b="true" sz="2299" strike="noStrike" u="none">
                <a:solidFill>
                  <a:srgbClr val="185079"/>
                </a:solidFill>
                <a:latin typeface="Open Sauce Bold"/>
                <a:ea typeface="Open Sauce Bold"/>
                <a:cs typeface="Open Sauce Bold"/>
                <a:sym typeface="Open Sauce Bold"/>
              </a:rPr>
              <a:t>r</a:t>
            </a:r>
            <a:r>
              <a:rPr lang="en-US" b="true" sz="2299" strike="noStrike" u="none">
                <a:solidFill>
                  <a:srgbClr val="185079"/>
                </a:solidFill>
                <a:latin typeface="Open Sauce Bold"/>
                <a:ea typeface="Open Sauce Bold"/>
                <a:cs typeface="Open Sauce Bold"/>
                <a:sym typeface="Open Sauce Bold"/>
              </a:rPr>
              <a:t>c</a:t>
            </a:r>
            <a:r>
              <a:rPr lang="en-US" b="true" sz="2299" strike="noStrike" u="none">
                <a:solidFill>
                  <a:srgbClr val="185079"/>
                </a:solidFill>
                <a:latin typeface="Open Sauce Bold"/>
                <a:ea typeface="Open Sauce Bold"/>
                <a:cs typeface="Open Sauce Bold"/>
                <a:sym typeface="Open Sauce Bold"/>
              </a:rPr>
              <a:t>h</a:t>
            </a:r>
            <a:r>
              <a:rPr lang="en-US" b="true" sz="2299" strike="noStrike" u="none">
                <a:solidFill>
                  <a:srgbClr val="185079"/>
                </a:solidFill>
                <a:latin typeface="Open Sauce Bold"/>
                <a:ea typeface="Open Sauce Bold"/>
                <a:cs typeface="Open Sauce Bold"/>
                <a:sym typeface="Open Sauce Bold"/>
              </a:rPr>
              <a:t>.</a:t>
            </a:r>
          </a:p>
          <a:p>
            <a:pPr algn="ctr" marL="496567" indent="-248284" lvl="1">
              <a:lnSpc>
                <a:spcPts val="3219"/>
              </a:lnSpc>
              <a:spcBef>
                <a:spcPct val="0"/>
              </a:spcBef>
              <a:buFont typeface="Arial"/>
              <a:buChar char="•"/>
            </a:pPr>
            <a:r>
              <a:rPr lang="en-US" b="true" sz="2299" strike="noStrike" u="none">
                <a:solidFill>
                  <a:srgbClr val="185079"/>
                </a:solidFill>
                <a:latin typeface="Open Sauce Bold"/>
                <a:ea typeface="Open Sauce Bold"/>
                <a:cs typeface="Open Sauce Bold"/>
                <a:sym typeface="Open Sauce Bold"/>
              </a:rPr>
              <a:t>De</a:t>
            </a:r>
            <a:r>
              <a:rPr lang="en-US" b="true" sz="2299" strike="noStrike" u="none">
                <a:solidFill>
                  <a:srgbClr val="185079"/>
                </a:solidFill>
                <a:latin typeface="Open Sauce Bold"/>
                <a:ea typeface="Open Sauce Bold"/>
                <a:cs typeface="Open Sauce Bold"/>
                <a:sym typeface="Open Sauce Bold"/>
              </a:rPr>
              <a:t>v</a:t>
            </a:r>
            <a:r>
              <a:rPr lang="en-US" b="true" sz="2299" strike="noStrike" u="none">
                <a:solidFill>
                  <a:srgbClr val="185079"/>
                </a:solidFill>
                <a:latin typeface="Open Sauce Bold"/>
                <a:ea typeface="Open Sauce Bold"/>
                <a:cs typeface="Open Sauce Bold"/>
                <a:sym typeface="Open Sauce Bold"/>
              </a:rPr>
              <a:t>eloped </a:t>
            </a:r>
            <a:r>
              <a:rPr lang="en-US" b="true" sz="2299" strike="noStrike" u="none">
                <a:solidFill>
                  <a:srgbClr val="185079"/>
                </a:solidFill>
                <a:latin typeface="Open Sauce Bold"/>
                <a:ea typeface="Open Sauce Bold"/>
                <a:cs typeface="Open Sauce Bold"/>
                <a:sym typeface="Open Sauce Bold"/>
              </a:rPr>
              <a:t>by</a:t>
            </a:r>
            <a:r>
              <a:rPr lang="en-US" b="true" sz="2299" strike="noStrike" u="none">
                <a:solidFill>
                  <a:srgbClr val="185079"/>
                </a:solidFill>
                <a:latin typeface="Open Sauce Bold"/>
                <a:ea typeface="Open Sauce Bold"/>
                <a:cs typeface="Open Sauce Bold"/>
                <a:sym typeface="Open Sauce Bold"/>
              </a:rPr>
              <a:t> </a:t>
            </a:r>
            <a:r>
              <a:rPr lang="en-US" b="true" sz="2299" strike="noStrike" u="none">
                <a:solidFill>
                  <a:srgbClr val="185079"/>
                </a:solidFill>
                <a:latin typeface="Open Sauce Bold"/>
                <a:ea typeface="Open Sauce Bold"/>
                <a:cs typeface="Open Sauce Bold"/>
                <a:sym typeface="Open Sauce Bold"/>
              </a:rPr>
              <a:t>Me</a:t>
            </a:r>
            <a:r>
              <a:rPr lang="en-US" b="true" sz="2299" strike="noStrike" u="none">
                <a:solidFill>
                  <a:srgbClr val="185079"/>
                </a:solidFill>
                <a:latin typeface="Open Sauce Bold"/>
                <a:ea typeface="Open Sauce Bold"/>
                <a:cs typeface="Open Sauce Bold"/>
                <a:sym typeface="Open Sauce Bold"/>
              </a:rPr>
              <a:t>ta </a:t>
            </a:r>
            <a:r>
              <a:rPr lang="en-US" b="true" sz="2299" strike="noStrike" u="none">
                <a:solidFill>
                  <a:srgbClr val="185079"/>
                </a:solidFill>
                <a:latin typeface="Open Sauce Bold"/>
                <a:ea typeface="Open Sauce Bold"/>
                <a:cs typeface="Open Sauce Bold"/>
                <a:sym typeface="Open Sauce Bold"/>
              </a:rPr>
              <a:t>AI</a:t>
            </a:r>
            <a:r>
              <a:rPr lang="en-US" b="true" sz="2299" strike="noStrike" u="none">
                <a:solidFill>
                  <a:srgbClr val="185079"/>
                </a:solidFill>
                <a:latin typeface="Open Sauce Bold"/>
                <a:ea typeface="Open Sauce Bold"/>
                <a:cs typeface="Open Sauce Bold"/>
                <a:sym typeface="Open Sauce Bold"/>
              </a:rPr>
              <a:t> </a:t>
            </a:r>
            <a:r>
              <a:rPr lang="en-US" b="true" sz="2299" strike="noStrike" u="none">
                <a:solidFill>
                  <a:srgbClr val="185079"/>
                </a:solidFill>
                <a:latin typeface="Open Sauce Bold"/>
                <a:ea typeface="Open Sauce Bold"/>
                <a:cs typeface="Open Sauce Bold"/>
                <a:sym typeface="Open Sauce Bold"/>
              </a:rPr>
              <a:t>R</a:t>
            </a:r>
            <a:r>
              <a:rPr lang="en-US" b="true" sz="2299" strike="noStrike" u="none">
                <a:solidFill>
                  <a:srgbClr val="185079"/>
                </a:solidFill>
                <a:latin typeface="Open Sauce Bold"/>
                <a:ea typeface="Open Sauce Bold"/>
                <a:cs typeface="Open Sauce Bold"/>
                <a:sym typeface="Open Sauce Bold"/>
              </a:rPr>
              <a:t>ese</a:t>
            </a:r>
            <a:r>
              <a:rPr lang="en-US" b="true" sz="2299" strike="noStrike" u="none">
                <a:solidFill>
                  <a:srgbClr val="185079"/>
                </a:solidFill>
                <a:latin typeface="Open Sauce Bold"/>
                <a:ea typeface="Open Sauce Bold"/>
                <a:cs typeface="Open Sauce Bold"/>
                <a:sym typeface="Open Sauce Bold"/>
              </a:rPr>
              <a:t>a</a:t>
            </a:r>
            <a:r>
              <a:rPr lang="en-US" b="true" sz="2299" strike="noStrike" u="none">
                <a:solidFill>
                  <a:srgbClr val="185079"/>
                </a:solidFill>
                <a:latin typeface="Open Sauce Bold"/>
                <a:ea typeface="Open Sauce Bold"/>
                <a:cs typeface="Open Sauce Bold"/>
                <a:sym typeface="Open Sauce Bold"/>
              </a:rPr>
              <a:t>r</a:t>
            </a:r>
            <a:r>
              <a:rPr lang="en-US" b="true" sz="2299" strike="noStrike" u="none">
                <a:solidFill>
                  <a:srgbClr val="185079"/>
                </a:solidFill>
                <a:latin typeface="Open Sauce Bold"/>
                <a:ea typeface="Open Sauce Bold"/>
                <a:cs typeface="Open Sauce Bold"/>
                <a:sym typeface="Open Sauce Bold"/>
              </a:rPr>
              <a:t>ch.</a:t>
            </a:r>
          </a:p>
          <a:p>
            <a:pPr algn="ctr" marL="518157" indent="-259078" lvl="1">
              <a:lnSpc>
                <a:spcPts val="3359"/>
              </a:lnSpc>
              <a:spcBef>
                <a:spcPct val="0"/>
              </a:spcBef>
              <a:buFont typeface="Arial"/>
              <a:buChar char="•"/>
            </a:pPr>
            <a:r>
              <a:rPr lang="en-US" b="true" sz="2399" strike="noStrike" u="none">
                <a:solidFill>
                  <a:srgbClr val="185079"/>
                </a:solidFill>
                <a:latin typeface="Open Sauce Bold"/>
                <a:ea typeface="Open Sauce Bold"/>
                <a:cs typeface="Open Sauce Bold"/>
                <a:sym typeface="Open Sauce Bold"/>
              </a:rPr>
              <a:t>It</a:t>
            </a:r>
            <a:r>
              <a:rPr lang="en-US" b="true" sz="2399" strike="noStrike" u="none">
                <a:solidFill>
                  <a:srgbClr val="185079"/>
                </a:solidFill>
                <a:latin typeface="Open Sauce Bold"/>
                <a:ea typeface="Open Sauce Bold"/>
                <a:cs typeface="Open Sauce Bold"/>
                <a:sym typeface="Open Sauce Bold"/>
              </a:rPr>
              <a:t> i</a:t>
            </a:r>
            <a:r>
              <a:rPr lang="en-US" b="true" sz="2399" strike="noStrike" u="none">
                <a:solidFill>
                  <a:srgbClr val="185079"/>
                </a:solidFill>
                <a:latin typeface="Open Sauce Bold"/>
                <a:ea typeface="Open Sauce Bold"/>
                <a:cs typeface="Open Sauce Bold"/>
                <a:sym typeface="Open Sauce Bold"/>
              </a:rPr>
              <a:t>s</a:t>
            </a:r>
            <a:r>
              <a:rPr lang="en-US" b="true" sz="2399" strike="noStrike" u="none">
                <a:solidFill>
                  <a:srgbClr val="185079"/>
                </a:solidFill>
                <a:latin typeface="Open Sauce Bold"/>
                <a:ea typeface="Open Sauce Bold"/>
                <a:cs typeface="Open Sauce Bold"/>
                <a:sym typeface="Open Sauce Bold"/>
              </a:rPr>
              <a:t> a </a:t>
            </a:r>
            <a:r>
              <a:rPr lang="en-US" b="true" sz="2399" strike="noStrike" u="none">
                <a:solidFill>
                  <a:srgbClr val="185079"/>
                </a:solidFill>
                <a:latin typeface="Open Sauce Bold"/>
                <a:ea typeface="Open Sauce Bold"/>
                <a:cs typeface="Open Sauce Bold"/>
                <a:sym typeface="Open Sauce Bold"/>
              </a:rPr>
              <a:t>lib</a:t>
            </a:r>
            <a:r>
              <a:rPr lang="en-US" b="true" sz="2399" strike="noStrike" u="none">
                <a:solidFill>
                  <a:srgbClr val="185079"/>
                </a:solidFill>
                <a:latin typeface="Open Sauce Bold"/>
                <a:ea typeface="Open Sauce Bold"/>
                <a:cs typeface="Open Sauce Bold"/>
                <a:sym typeface="Open Sauce Bold"/>
              </a:rPr>
              <a:t>rar</a:t>
            </a:r>
            <a:r>
              <a:rPr lang="en-US" b="true" sz="2399" strike="noStrike" u="none">
                <a:solidFill>
                  <a:srgbClr val="185079"/>
                </a:solidFill>
                <a:latin typeface="Open Sauce Bold"/>
                <a:ea typeface="Open Sauce Bold"/>
                <a:cs typeface="Open Sauce Bold"/>
                <a:sym typeface="Open Sauce Bold"/>
              </a:rPr>
              <a:t>y</a:t>
            </a:r>
            <a:r>
              <a:rPr lang="en-US" b="true" sz="2399" strike="noStrike" u="none">
                <a:solidFill>
                  <a:srgbClr val="185079"/>
                </a:solidFill>
                <a:latin typeface="Open Sauce Bold"/>
                <a:ea typeface="Open Sauce Bold"/>
                <a:cs typeface="Open Sauce Bold"/>
                <a:sym typeface="Open Sauce Bold"/>
              </a:rPr>
              <a:t> used </a:t>
            </a:r>
            <a:r>
              <a:rPr lang="en-US" b="true" sz="2399" strike="noStrike" u="none">
                <a:solidFill>
                  <a:srgbClr val="185079"/>
                </a:solidFill>
                <a:latin typeface="Open Sauce Bold"/>
                <a:ea typeface="Open Sauce Bold"/>
                <a:cs typeface="Open Sauce Bold"/>
                <a:sym typeface="Open Sauce Bold"/>
              </a:rPr>
              <a:t>f</a:t>
            </a:r>
            <a:r>
              <a:rPr lang="en-US" b="true" sz="2399" strike="noStrike" u="none">
                <a:solidFill>
                  <a:srgbClr val="185079"/>
                </a:solidFill>
                <a:latin typeface="Open Sauce Bold"/>
                <a:ea typeface="Open Sauce Bold"/>
                <a:cs typeface="Open Sauce Bold"/>
                <a:sym typeface="Open Sauce Bold"/>
              </a:rPr>
              <a:t>or </a:t>
            </a:r>
            <a:r>
              <a:rPr lang="en-US" b="true" sz="2399" strike="noStrike" u="none">
                <a:solidFill>
                  <a:srgbClr val="185079"/>
                </a:solidFill>
                <a:latin typeface="Open Sauce Bold"/>
                <a:ea typeface="Open Sauce Bold"/>
                <a:cs typeface="Open Sauce Bold"/>
                <a:sym typeface="Open Sauce Bold"/>
              </a:rPr>
              <a:t>fa</a:t>
            </a:r>
            <a:r>
              <a:rPr lang="en-US" b="true" sz="2399" strike="noStrike" u="none">
                <a:solidFill>
                  <a:srgbClr val="185079"/>
                </a:solidFill>
                <a:latin typeface="Open Sauce Bold"/>
                <a:ea typeface="Open Sauce Bold"/>
                <a:cs typeface="Open Sauce Bold"/>
                <a:sym typeface="Open Sauce Bold"/>
              </a:rPr>
              <a:t>st </a:t>
            </a:r>
            <a:r>
              <a:rPr lang="en-US" b="true" sz="2399" strike="noStrike" u="none">
                <a:solidFill>
                  <a:srgbClr val="185079"/>
                </a:solidFill>
                <a:latin typeface="Open Sauce Bold"/>
                <a:ea typeface="Open Sauce Bold"/>
                <a:cs typeface="Open Sauce Bold"/>
                <a:sym typeface="Open Sauce Bold"/>
              </a:rPr>
              <a:t>s</a:t>
            </a:r>
            <a:r>
              <a:rPr lang="en-US" b="true" sz="2399" strike="noStrike" u="none">
                <a:solidFill>
                  <a:srgbClr val="185079"/>
                </a:solidFill>
                <a:latin typeface="Open Sauce Bold"/>
                <a:ea typeface="Open Sauce Bold"/>
                <a:cs typeface="Open Sauce Bold"/>
                <a:sym typeface="Open Sauce Bold"/>
              </a:rPr>
              <a:t>i</a:t>
            </a:r>
            <a:r>
              <a:rPr lang="en-US" b="true" sz="2399" strike="noStrike" u="none">
                <a:solidFill>
                  <a:srgbClr val="185079"/>
                </a:solidFill>
                <a:latin typeface="Open Sauce Bold"/>
                <a:ea typeface="Open Sauce Bold"/>
                <a:cs typeface="Open Sauce Bold"/>
                <a:sym typeface="Open Sauce Bold"/>
              </a:rPr>
              <a:t>mi</a:t>
            </a:r>
            <a:r>
              <a:rPr lang="en-US" b="true" sz="2399" strike="noStrike" u="none">
                <a:solidFill>
                  <a:srgbClr val="185079"/>
                </a:solidFill>
                <a:latin typeface="Open Sauce Bold"/>
                <a:ea typeface="Open Sauce Bold"/>
                <a:cs typeface="Open Sauce Bold"/>
                <a:sym typeface="Open Sauce Bold"/>
              </a:rPr>
              <a:t>la</a:t>
            </a:r>
            <a:r>
              <a:rPr lang="en-US" b="true" sz="2399" strike="noStrike" u="none">
                <a:solidFill>
                  <a:srgbClr val="185079"/>
                </a:solidFill>
                <a:latin typeface="Open Sauce Bold"/>
                <a:ea typeface="Open Sauce Bold"/>
                <a:cs typeface="Open Sauce Bold"/>
                <a:sym typeface="Open Sauce Bold"/>
              </a:rPr>
              <a:t>r</a:t>
            </a:r>
            <a:r>
              <a:rPr lang="en-US" b="true" sz="2399" strike="noStrike" u="none">
                <a:solidFill>
                  <a:srgbClr val="185079"/>
                </a:solidFill>
                <a:latin typeface="Open Sauce Bold"/>
                <a:ea typeface="Open Sauce Bold"/>
                <a:cs typeface="Open Sauce Bold"/>
                <a:sym typeface="Open Sauce Bold"/>
              </a:rPr>
              <a:t>i</a:t>
            </a:r>
            <a:r>
              <a:rPr lang="en-US" b="true" sz="2399" strike="noStrike" u="none">
                <a:solidFill>
                  <a:srgbClr val="185079"/>
                </a:solidFill>
                <a:latin typeface="Open Sauce Bold"/>
                <a:ea typeface="Open Sauce Bold"/>
                <a:cs typeface="Open Sauce Bold"/>
                <a:sym typeface="Open Sauce Bold"/>
              </a:rPr>
              <a:t>ty</a:t>
            </a:r>
            <a:r>
              <a:rPr lang="en-US" b="true" sz="2399" strike="noStrike" u="none">
                <a:solidFill>
                  <a:srgbClr val="185079"/>
                </a:solidFill>
                <a:latin typeface="Open Sauce Bold"/>
                <a:ea typeface="Open Sauce Bold"/>
                <a:cs typeface="Open Sauce Bold"/>
                <a:sym typeface="Open Sauce Bold"/>
              </a:rPr>
              <a:t> se</a:t>
            </a:r>
            <a:r>
              <a:rPr lang="en-US" b="true" sz="2399" strike="noStrike" u="none">
                <a:solidFill>
                  <a:srgbClr val="185079"/>
                </a:solidFill>
                <a:latin typeface="Open Sauce Bold"/>
                <a:ea typeface="Open Sauce Bold"/>
                <a:cs typeface="Open Sauce Bold"/>
                <a:sym typeface="Open Sauce Bold"/>
              </a:rPr>
              <a:t>a</a:t>
            </a:r>
            <a:r>
              <a:rPr lang="en-US" b="true" sz="2399" strike="noStrike" u="none">
                <a:solidFill>
                  <a:srgbClr val="185079"/>
                </a:solidFill>
                <a:latin typeface="Open Sauce Bold"/>
                <a:ea typeface="Open Sauce Bold"/>
                <a:cs typeface="Open Sauce Bold"/>
                <a:sym typeface="Open Sauce Bold"/>
              </a:rPr>
              <a:t>r</a:t>
            </a:r>
            <a:r>
              <a:rPr lang="en-US" b="true" sz="2399" strike="noStrike" u="none">
                <a:solidFill>
                  <a:srgbClr val="185079"/>
                </a:solidFill>
                <a:latin typeface="Open Sauce Bold"/>
                <a:ea typeface="Open Sauce Bold"/>
                <a:cs typeface="Open Sauce Bold"/>
                <a:sym typeface="Open Sauce Bold"/>
              </a:rPr>
              <a:t>ch</a:t>
            </a:r>
            <a:r>
              <a:rPr lang="en-US" b="true" sz="2399" strike="noStrike" u="none">
                <a:solidFill>
                  <a:srgbClr val="185079"/>
                </a:solidFill>
                <a:latin typeface="Open Sauce Bold"/>
                <a:ea typeface="Open Sauce Bold"/>
                <a:cs typeface="Open Sauce Bold"/>
                <a:sym typeface="Open Sauce Bold"/>
              </a:rPr>
              <a:t> and </a:t>
            </a:r>
            <a:r>
              <a:rPr lang="en-US" b="true" sz="2399" strike="noStrike" u="none">
                <a:solidFill>
                  <a:srgbClr val="185079"/>
                </a:solidFill>
                <a:latin typeface="Open Sauce Bold"/>
                <a:ea typeface="Open Sauce Bold"/>
                <a:cs typeface="Open Sauce Bold"/>
                <a:sym typeface="Open Sauce Bold"/>
              </a:rPr>
              <a:t>v</a:t>
            </a:r>
            <a:r>
              <a:rPr lang="en-US" b="true" sz="2399" strike="noStrike" u="none">
                <a:solidFill>
                  <a:srgbClr val="185079"/>
                </a:solidFill>
                <a:latin typeface="Open Sauce Bold"/>
                <a:ea typeface="Open Sauce Bold"/>
                <a:cs typeface="Open Sauce Bold"/>
                <a:sym typeface="Open Sauce Bold"/>
              </a:rPr>
              <a:t>e</a:t>
            </a:r>
            <a:r>
              <a:rPr lang="en-US" b="true" sz="2399" strike="noStrike" u="none">
                <a:solidFill>
                  <a:srgbClr val="185079"/>
                </a:solidFill>
                <a:latin typeface="Open Sauce Bold"/>
                <a:ea typeface="Open Sauce Bold"/>
                <a:cs typeface="Open Sauce Bold"/>
                <a:sym typeface="Open Sauce Bold"/>
              </a:rPr>
              <a:t>c</a:t>
            </a:r>
            <a:r>
              <a:rPr lang="en-US" b="true" sz="2399" strike="noStrike" u="none">
                <a:solidFill>
                  <a:srgbClr val="185079"/>
                </a:solidFill>
                <a:latin typeface="Open Sauce Bold"/>
                <a:ea typeface="Open Sauce Bold"/>
                <a:cs typeface="Open Sauce Bold"/>
                <a:sym typeface="Open Sauce Bold"/>
              </a:rPr>
              <a:t>t</a:t>
            </a:r>
            <a:r>
              <a:rPr lang="en-US" b="true" sz="2399" strike="noStrike" u="none">
                <a:solidFill>
                  <a:srgbClr val="185079"/>
                </a:solidFill>
                <a:latin typeface="Open Sauce Bold"/>
                <a:ea typeface="Open Sauce Bold"/>
                <a:cs typeface="Open Sauce Bold"/>
                <a:sym typeface="Open Sauce Bold"/>
              </a:rPr>
              <a:t>or</a:t>
            </a:r>
            <a:r>
              <a:rPr lang="en-US" b="true" sz="2399" strike="noStrike" u="none">
                <a:solidFill>
                  <a:srgbClr val="185079"/>
                </a:solidFill>
                <a:latin typeface="Open Sauce Bold"/>
                <a:ea typeface="Open Sauce Bold"/>
                <a:cs typeface="Open Sauce Bold"/>
                <a:sym typeface="Open Sauce Bold"/>
              </a:rPr>
              <a:t> </a:t>
            </a:r>
            <a:r>
              <a:rPr lang="en-US" b="true" sz="2399" strike="noStrike" u="none">
                <a:solidFill>
                  <a:srgbClr val="185079"/>
                </a:solidFill>
                <a:latin typeface="Open Sauce Bold"/>
                <a:ea typeface="Open Sauce Bold"/>
                <a:cs typeface="Open Sauce Bold"/>
                <a:sym typeface="Open Sauce Bold"/>
              </a:rPr>
              <a:t>se</a:t>
            </a:r>
            <a:r>
              <a:rPr lang="en-US" b="true" sz="2399" strike="noStrike" u="none">
                <a:solidFill>
                  <a:srgbClr val="185079"/>
                </a:solidFill>
                <a:latin typeface="Open Sauce Bold"/>
                <a:ea typeface="Open Sauce Bold"/>
                <a:cs typeface="Open Sauce Bold"/>
                <a:sym typeface="Open Sauce Bold"/>
              </a:rPr>
              <a:t>ar</a:t>
            </a:r>
            <a:r>
              <a:rPr lang="en-US" b="true" sz="2399" strike="noStrike" u="none">
                <a:solidFill>
                  <a:srgbClr val="185079"/>
                </a:solidFill>
                <a:latin typeface="Open Sauce Bold"/>
                <a:ea typeface="Open Sauce Bold"/>
                <a:cs typeface="Open Sauce Bold"/>
                <a:sym typeface="Open Sauce Bold"/>
              </a:rPr>
              <a:t>ch</a:t>
            </a:r>
            <a:r>
              <a:rPr lang="en-US" b="true" sz="2399" strike="noStrike" u="none">
                <a:solidFill>
                  <a:srgbClr val="185079"/>
                </a:solidFill>
                <a:latin typeface="Open Sauce Bold"/>
                <a:ea typeface="Open Sauce Bold"/>
                <a:cs typeface="Open Sauce Bold"/>
                <a:sym typeface="Open Sauce Bold"/>
              </a:rPr>
              <a:t>.</a:t>
            </a:r>
          </a:p>
        </p:txBody>
      </p:sp>
      <p:sp>
        <p:nvSpPr>
          <p:cNvPr name="Freeform 5" id="5"/>
          <p:cNvSpPr/>
          <p:nvPr/>
        </p:nvSpPr>
        <p:spPr>
          <a:xfrm flipH="false" flipV="false" rot="0">
            <a:off x="-8153289" y="-809206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6" id="6"/>
          <p:cNvSpPr/>
          <p:nvPr/>
        </p:nvSpPr>
        <p:spPr>
          <a:xfrm flipH="false" flipV="false" rot="0">
            <a:off x="11275201" y="468873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
        <p:nvSpPr>
          <p:cNvPr name="Freeform 7" id="7"/>
          <p:cNvSpPr/>
          <p:nvPr/>
        </p:nvSpPr>
        <p:spPr>
          <a:xfrm flipH="false" flipV="false" rot="0">
            <a:off x="3295678" y="5711772"/>
            <a:ext cx="11301259" cy="3559897"/>
          </a:xfrm>
          <a:custGeom>
            <a:avLst/>
            <a:gdLst/>
            <a:ahLst/>
            <a:cxnLst/>
            <a:rect r="r" b="b" t="t" l="l"/>
            <a:pathLst>
              <a:path h="3559897" w="11301259">
                <a:moveTo>
                  <a:pt x="0" y="0"/>
                </a:moveTo>
                <a:lnTo>
                  <a:pt x="11301259" y="0"/>
                </a:lnTo>
                <a:lnTo>
                  <a:pt x="11301259" y="3559897"/>
                </a:lnTo>
                <a:lnTo>
                  <a:pt x="0" y="3559897"/>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1171575"/>
            <a:ext cx="16527613" cy="1111257"/>
          </a:xfrm>
          <a:prstGeom prst="rect">
            <a:avLst/>
          </a:prstGeom>
        </p:spPr>
        <p:txBody>
          <a:bodyPr anchor="t" rtlCol="false" tIns="0" lIns="0" bIns="0" rIns="0">
            <a:spAutoFit/>
          </a:bodyPr>
          <a:lstStyle/>
          <a:p>
            <a:pPr algn="ctr"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WATCHDOG AUTOMATION</a:t>
            </a:r>
          </a:p>
        </p:txBody>
      </p:sp>
      <p:sp>
        <p:nvSpPr>
          <p:cNvPr name="TextBox 4" id="4"/>
          <p:cNvSpPr txBox="true"/>
          <p:nvPr/>
        </p:nvSpPr>
        <p:spPr>
          <a:xfrm rot="0">
            <a:off x="4224463" y="3345789"/>
            <a:ext cx="9596012" cy="2267586"/>
          </a:xfrm>
          <a:prstGeom prst="rect">
            <a:avLst/>
          </a:prstGeom>
        </p:spPr>
        <p:txBody>
          <a:bodyPr anchor="t" rtlCol="false" tIns="0" lIns="0" bIns="0" rIns="0">
            <a:spAutoFit/>
          </a:bodyPr>
          <a:lstStyle/>
          <a:p>
            <a:pPr algn="l" marL="561336" indent="-280668" lvl="1">
              <a:lnSpc>
                <a:spcPts val="3639"/>
              </a:lnSpc>
              <a:spcBef>
                <a:spcPct val="0"/>
              </a:spcBef>
              <a:buFont typeface="Arial"/>
              <a:buChar char="•"/>
            </a:pPr>
            <a:r>
              <a:rPr lang="en-US" sz="2599">
                <a:solidFill>
                  <a:srgbClr val="185079"/>
                </a:solidFill>
                <a:latin typeface="Open Sauce"/>
                <a:ea typeface="Open Sauce"/>
                <a:cs typeface="Open Sauce"/>
                <a:sym typeface="Open Sauce"/>
              </a:rPr>
              <a:t>Watchdog</a:t>
            </a:r>
            <a:r>
              <a:rPr lang="en-US" sz="2599" strike="noStrike" u="none">
                <a:solidFill>
                  <a:srgbClr val="185079"/>
                </a:solidFill>
                <a:latin typeface="Open Sauce"/>
                <a:ea typeface="Open Sauce"/>
                <a:cs typeface="Open Sauce"/>
                <a:sym typeface="Open Sauce"/>
              </a:rPr>
              <a:t> monitors the uploads folder continuously.</a:t>
            </a:r>
          </a:p>
          <a:p>
            <a:pPr algn="l" marL="561336" indent="-280668" lvl="1">
              <a:lnSpc>
                <a:spcPts val="3639"/>
              </a:lnSpc>
              <a:spcBef>
                <a:spcPct val="0"/>
              </a:spcBef>
              <a:buFont typeface="Arial"/>
              <a:buChar char="•"/>
            </a:pPr>
            <a:r>
              <a:rPr lang="en-US" sz="2599" strike="noStrike" u="none">
                <a:solidFill>
                  <a:srgbClr val="185079"/>
                </a:solidFill>
                <a:latin typeface="Open Sauce"/>
                <a:ea typeface="Open Sauce"/>
                <a:cs typeface="Open Sauce"/>
                <a:sym typeface="Open Sauce"/>
              </a:rPr>
              <a:t>Detects newly added HR docume</a:t>
            </a:r>
            <a:r>
              <a:rPr lang="en-US" sz="2599" strike="noStrike" u="none">
                <a:solidFill>
                  <a:srgbClr val="185079"/>
                </a:solidFill>
                <a:latin typeface="Open Sauce"/>
                <a:ea typeface="Open Sauce"/>
                <a:cs typeface="Open Sauce"/>
                <a:sym typeface="Open Sauce"/>
              </a:rPr>
              <a:t>n</a:t>
            </a:r>
            <a:r>
              <a:rPr lang="en-US" sz="2599" strike="noStrike" u="none">
                <a:solidFill>
                  <a:srgbClr val="185079"/>
                </a:solidFill>
                <a:latin typeface="Open Sauce"/>
                <a:ea typeface="Open Sauce"/>
                <a:cs typeface="Open Sauce"/>
                <a:sym typeface="Open Sauce"/>
              </a:rPr>
              <a:t>ts a</a:t>
            </a:r>
            <a:r>
              <a:rPr lang="en-US" sz="2599" strike="noStrike" u="none">
                <a:solidFill>
                  <a:srgbClr val="185079"/>
                </a:solidFill>
                <a:latin typeface="Open Sauce"/>
                <a:ea typeface="Open Sauce"/>
                <a:cs typeface="Open Sauce"/>
                <a:sym typeface="Open Sauce"/>
              </a:rPr>
              <a:t>u</a:t>
            </a:r>
            <a:r>
              <a:rPr lang="en-US" sz="2599" strike="noStrike" u="none">
                <a:solidFill>
                  <a:srgbClr val="185079"/>
                </a:solidFill>
                <a:latin typeface="Open Sauce"/>
                <a:ea typeface="Open Sauce"/>
                <a:cs typeface="Open Sauce"/>
                <a:sym typeface="Open Sauce"/>
              </a:rPr>
              <a:t>t</a:t>
            </a:r>
            <a:r>
              <a:rPr lang="en-US" sz="2599" strike="noStrike" u="none">
                <a:solidFill>
                  <a:srgbClr val="185079"/>
                </a:solidFill>
                <a:latin typeface="Open Sauce"/>
                <a:ea typeface="Open Sauce"/>
                <a:cs typeface="Open Sauce"/>
                <a:sym typeface="Open Sauce"/>
              </a:rPr>
              <a:t>omat</a:t>
            </a:r>
            <a:r>
              <a:rPr lang="en-US" sz="2599" strike="noStrike" u="none">
                <a:solidFill>
                  <a:srgbClr val="185079"/>
                </a:solidFill>
                <a:latin typeface="Open Sauce"/>
                <a:ea typeface="Open Sauce"/>
                <a:cs typeface="Open Sauce"/>
                <a:sym typeface="Open Sauce"/>
              </a:rPr>
              <a:t>icall</a:t>
            </a:r>
            <a:r>
              <a:rPr lang="en-US" sz="2599" strike="noStrike" u="none">
                <a:solidFill>
                  <a:srgbClr val="185079"/>
                </a:solidFill>
                <a:latin typeface="Open Sauce"/>
                <a:ea typeface="Open Sauce"/>
                <a:cs typeface="Open Sauce"/>
                <a:sym typeface="Open Sauce"/>
              </a:rPr>
              <a:t>y.</a:t>
            </a:r>
          </a:p>
          <a:p>
            <a:pPr algn="l" marL="561336" indent="-280668" lvl="1">
              <a:lnSpc>
                <a:spcPts val="3639"/>
              </a:lnSpc>
              <a:spcBef>
                <a:spcPct val="0"/>
              </a:spcBef>
              <a:buFont typeface="Arial"/>
              <a:buChar char="•"/>
            </a:pPr>
            <a:r>
              <a:rPr lang="en-US" sz="2599" strike="noStrike" u="none">
                <a:solidFill>
                  <a:srgbClr val="185079"/>
                </a:solidFill>
                <a:latin typeface="Open Sauce"/>
                <a:ea typeface="Open Sauce"/>
                <a:cs typeface="Open Sauce"/>
                <a:sym typeface="Open Sauce"/>
              </a:rPr>
              <a:t>Tr</a:t>
            </a:r>
            <a:r>
              <a:rPr lang="en-US" sz="2599" strike="noStrike" u="none">
                <a:solidFill>
                  <a:srgbClr val="185079"/>
                </a:solidFill>
                <a:latin typeface="Open Sauce"/>
                <a:ea typeface="Open Sauce"/>
                <a:cs typeface="Open Sauce"/>
                <a:sym typeface="Open Sauce"/>
              </a:rPr>
              <a:t>i</a:t>
            </a:r>
            <a:r>
              <a:rPr lang="en-US" sz="2599" strike="noStrike" u="none">
                <a:solidFill>
                  <a:srgbClr val="185079"/>
                </a:solidFill>
                <a:latin typeface="Open Sauce"/>
                <a:ea typeface="Open Sauce"/>
                <a:cs typeface="Open Sauce"/>
                <a:sym typeface="Open Sauce"/>
              </a:rPr>
              <a:t>gge</a:t>
            </a:r>
            <a:r>
              <a:rPr lang="en-US" sz="2599" strike="noStrike" u="none">
                <a:solidFill>
                  <a:srgbClr val="185079"/>
                </a:solidFill>
                <a:latin typeface="Open Sauce"/>
                <a:ea typeface="Open Sauce"/>
                <a:cs typeface="Open Sauce"/>
                <a:sym typeface="Open Sauce"/>
              </a:rPr>
              <a:t>rs document processing i</a:t>
            </a:r>
            <a:r>
              <a:rPr lang="en-US" sz="2599" strike="noStrike" u="none">
                <a:solidFill>
                  <a:srgbClr val="185079"/>
                </a:solidFill>
                <a:latin typeface="Open Sauce"/>
                <a:ea typeface="Open Sauce"/>
                <a:cs typeface="Open Sauce"/>
                <a:sym typeface="Open Sauce"/>
              </a:rPr>
              <a:t>nst</a:t>
            </a:r>
            <a:r>
              <a:rPr lang="en-US" sz="2599" strike="noStrike" u="none">
                <a:solidFill>
                  <a:srgbClr val="185079"/>
                </a:solidFill>
                <a:latin typeface="Open Sauce"/>
                <a:ea typeface="Open Sauce"/>
                <a:cs typeface="Open Sauce"/>
                <a:sym typeface="Open Sauce"/>
              </a:rPr>
              <a:t>ant</a:t>
            </a:r>
            <a:r>
              <a:rPr lang="en-US" sz="2599" strike="noStrike" u="none">
                <a:solidFill>
                  <a:srgbClr val="185079"/>
                </a:solidFill>
                <a:latin typeface="Open Sauce"/>
                <a:ea typeface="Open Sauce"/>
                <a:cs typeface="Open Sauce"/>
                <a:sym typeface="Open Sauce"/>
              </a:rPr>
              <a:t>l</a:t>
            </a:r>
            <a:r>
              <a:rPr lang="en-US" sz="2599" strike="noStrike" u="none">
                <a:solidFill>
                  <a:srgbClr val="185079"/>
                </a:solidFill>
                <a:latin typeface="Open Sauce"/>
                <a:ea typeface="Open Sauce"/>
                <a:cs typeface="Open Sauce"/>
                <a:sym typeface="Open Sauce"/>
              </a:rPr>
              <a:t>y</a:t>
            </a:r>
            <a:r>
              <a:rPr lang="en-US" sz="2599" strike="noStrike" u="none">
                <a:solidFill>
                  <a:srgbClr val="185079"/>
                </a:solidFill>
                <a:latin typeface="Open Sauce"/>
                <a:ea typeface="Open Sauce"/>
                <a:cs typeface="Open Sauce"/>
                <a:sym typeface="Open Sauce"/>
              </a:rPr>
              <a:t>.</a:t>
            </a:r>
          </a:p>
          <a:p>
            <a:pPr algn="l" marL="561336" indent="-280668" lvl="1">
              <a:lnSpc>
                <a:spcPts val="3639"/>
              </a:lnSpc>
              <a:spcBef>
                <a:spcPct val="0"/>
              </a:spcBef>
              <a:buFont typeface="Arial"/>
              <a:buChar char="•"/>
            </a:pPr>
            <a:r>
              <a:rPr lang="en-US" sz="2599" strike="noStrike" u="none">
                <a:solidFill>
                  <a:srgbClr val="185079"/>
                </a:solidFill>
                <a:latin typeface="Open Sauce"/>
                <a:ea typeface="Open Sauce"/>
                <a:cs typeface="Open Sauce"/>
                <a:sym typeface="Open Sauce"/>
              </a:rPr>
              <a:t>R</a:t>
            </a:r>
            <a:r>
              <a:rPr lang="en-US" sz="2599" strike="noStrike" u="none">
                <a:solidFill>
                  <a:srgbClr val="185079"/>
                </a:solidFill>
                <a:latin typeface="Open Sauce"/>
                <a:ea typeface="Open Sauce"/>
                <a:cs typeface="Open Sauce"/>
                <a:sym typeface="Open Sauce"/>
              </a:rPr>
              <a:t>educ</a:t>
            </a:r>
            <a:r>
              <a:rPr lang="en-US" sz="2599" strike="noStrike" u="none">
                <a:solidFill>
                  <a:srgbClr val="185079"/>
                </a:solidFill>
                <a:latin typeface="Open Sauce"/>
                <a:ea typeface="Open Sauce"/>
                <a:cs typeface="Open Sauce"/>
                <a:sym typeface="Open Sauce"/>
              </a:rPr>
              <a:t>es</a:t>
            </a:r>
            <a:r>
              <a:rPr lang="en-US" sz="2599" strike="noStrike" u="none">
                <a:solidFill>
                  <a:srgbClr val="185079"/>
                </a:solidFill>
                <a:latin typeface="Open Sauce"/>
                <a:ea typeface="Open Sauce"/>
                <a:cs typeface="Open Sauce"/>
                <a:sym typeface="Open Sauce"/>
              </a:rPr>
              <a:t> manual effor</a:t>
            </a:r>
            <a:r>
              <a:rPr lang="en-US" sz="2599" strike="noStrike" u="none">
                <a:solidFill>
                  <a:srgbClr val="185079"/>
                </a:solidFill>
                <a:latin typeface="Open Sauce"/>
                <a:ea typeface="Open Sauce"/>
                <a:cs typeface="Open Sauce"/>
                <a:sym typeface="Open Sauce"/>
              </a:rPr>
              <a:t>t.</a:t>
            </a:r>
          </a:p>
          <a:p>
            <a:pPr algn="l" marL="561336" indent="-280668" lvl="1">
              <a:lnSpc>
                <a:spcPts val="3639"/>
              </a:lnSpc>
              <a:spcBef>
                <a:spcPct val="0"/>
              </a:spcBef>
              <a:buFont typeface="Arial"/>
              <a:buChar char="•"/>
            </a:pPr>
            <a:r>
              <a:rPr lang="en-US" sz="2599" strike="noStrike" u="none">
                <a:solidFill>
                  <a:srgbClr val="185079"/>
                </a:solidFill>
                <a:latin typeface="Open Sauce"/>
                <a:ea typeface="Open Sauce"/>
                <a:cs typeface="Open Sauce"/>
                <a:sym typeface="Open Sauce"/>
              </a:rPr>
              <a:t>Keeps</a:t>
            </a:r>
            <a:r>
              <a:rPr lang="en-US" sz="2599" strike="noStrike" u="none">
                <a:solidFill>
                  <a:srgbClr val="185079"/>
                </a:solidFill>
                <a:latin typeface="Open Sauce"/>
                <a:ea typeface="Open Sauce"/>
                <a:cs typeface="Open Sauce"/>
                <a:sym typeface="Open Sauce"/>
              </a:rPr>
              <a:t> HR knowledge base</a:t>
            </a:r>
            <a:r>
              <a:rPr lang="en-US" sz="2599" strike="noStrike" u="none">
                <a:solidFill>
                  <a:srgbClr val="185079"/>
                </a:solidFill>
                <a:latin typeface="Open Sauce"/>
                <a:ea typeface="Open Sauce"/>
                <a:cs typeface="Open Sauce"/>
                <a:sym typeface="Open Sauce"/>
              </a:rPr>
              <a:t> upd</a:t>
            </a:r>
            <a:r>
              <a:rPr lang="en-US" sz="2599" strike="noStrike" u="none">
                <a:solidFill>
                  <a:srgbClr val="185079"/>
                </a:solidFill>
                <a:latin typeface="Open Sauce"/>
                <a:ea typeface="Open Sauce"/>
                <a:cs typeface="Open Sauce"/>
                <a:sym typeface="Open Sauce"/>
              </a:rPr>
              <a:t>ated in real time.</a:t>
            </a:r>
          </a:p>
        </p:txBody>
      </p:sp>
      <p:sp>
        <p:nvSpPr>
          <p:cNvPr name="Freeform 5" id="5"/>
          <p:cNvSpPr/>
          <p:nvPr/>
        </p:nvSpPr>
        <p:spPr>
          <a:xfrm flipH="false" flipV="false" rot="0">
            <a:off x="-8153289" y="-809206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6" id="6"/>
          <p:cNvSpPr/>
          <p:nvPr/>
        </p:nvSpPr>
        <p:spPr>
          <a:xfrm flipH="false" flipV="false" rot="0">
            <a:off x="11275201" y="468873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
        <p:nvSpPr>
          <p:cNvPr name="TextBox 7" id="7"/>
          <p:cNvSpPr txBox="true"/>
          <p:nvPr/>
        </p:nvSpPr>
        <p:spPr>
          <a:xfrm rot="0">
            <a:off x="1168122" y="6721422"/>
            <a:ext cx="15970805" cy="1116331"/>
          </a:xfrm>
          <a:prstGeom prst="rect">
            <a:avLst/>
          </a:prstGeom>
        </p:spPr>
        <p:txBody>
          <a:bodyPr anchor="t" rtlCol="false" tIns="0" lIns="0" bIns="0" rIns="0">
            <a:spAutoFit/>
          </a:bodyPr>
          <a:lstStyle/>
          <a:p>
            <a:pPr algn="ctr">
              <a:lnSpc>
                <a:spcPts val="4691"/>
              </a:lnSpc>
              <a:spcBef>
                <a:spcPct val="0"/>
              </a:spcBef>
            </a:pPr>
            <a:r>
              <a:rPr lang="en-US" b="true" sz="3399">
                <a:solidFill>
                  <a:srgbClr val="185079"/>
                </a:solidFill>
                <a:latin typeface="Open Sauce Bold"/>
                <a:ea typeface="Open Sauce Bold"/>
                <a:cs typeface="Open Sauce Bold"/>
                <a:sym typeface="Open Sauce Bold"/>
              </a:rPr>
              <a:t>Workflow:</a:t>
            </a:r>
          </a:p>
          <a:p>
            <a:pPr algn="ctr">
              <a:lnSpc>
                <a:spcPts val="4277"/>
              </a:lnSpc>
              <a:spcBef>
                <a:spcPct val="0"/>
              </a:spcBef>
            </a:pPr>
            <a:r>
              <a:rPr lang="en-US" sz="3099">
                <a:solidFill>
                  <a:srgbClr val="185079"/>
                </a:solidFill>
                <a:latin typeface="Open Sauce"/>
                <a:ea typeface="Open Sauce"/>
                <a:cs typeface="Open Sauce"/>
                <a:sym typeface="Open Sauce"/>
              </a:rPr>
              <a:t>Upload File → Watchdog Detects → Text Extraction → Embeddings → FAISS Update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1381125"/>
            <a:ext cx="16527613" cy="1111257"/>
          </a:xfrm>
          <a:prstGeom prst="rect">
            <a:avLst/>
          </a:prstGeom>
        </p:spPr>
        <p:txBody>
          <a:bodyPr anchor="t" rtlCol="false" tIns="0" lIns="0" bIns="0" rIns="0">
            <a:spAutoFit/>
          </a:bodyPr>
          <a:lstStyle/>
          <a:p>
            <a:pPr algn="ctr"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ADVANTAGES</a:t>
            </a:r>
          </a:p>
        </p:txBody>
      </p:sp>
      <p:sp>
        <p:nvSpPr>
          <p:cNvPr name="TextBox 4" id="4"/>
          <p:cNvSpPr txBox="true"/>
          <p:nvPr/>
        </p:nvSpPr>
        <p:spPr>
          <a:xfrm rot="0">
            <a:off x="6036892" y="2869539"/>
            <a:ext cx="6000309" cy="4874261"/>
          </a:xfrm>
          <a:prstGeom prst="rect">
            <a:avLst/>
          </a:prstGeom>
        </p:spPr>
        <p:txBody>
          <a:bodyPr anchor="t" rtlCol="false" tIns="0" lIns="0" bIns="0" rIns="0">
            <a:spAutoFit/>
          </a:bodyPr>
          <a:lstStyle/>
          <a:p>
            <a:pPr algn="l">
              <a:lnSpc>
                <a:spcPts val="4339"/>
              </a:lnSpc>
            </a:pPr>
          </a:p>
          <a:p>
            <a:pPr algn="l" marL="669283" indent="-334641" lvl="1">
              <a:lnSpc>
                <a:spcPts val="4339"/>
              </a:lnSpc>
              <a:spcBef>
                <a:spcPct val="0"/>
              </a:spcBef>
              <a:buFont typeface="Arial"/>
              <a:buChar char="•"/>
            </a:pPr>
            <a:r>
              <a:rPr lang="en-US" sz="3099">
                <a:solidFill>
                  <a:srgbClr val="185079"/>
                </a:solidFill>
                <a:latin typeface="Open Sauce"/>
                <a:ea typeface="Open Sauce"/>
                <a:cs typeface="Open Sauce"/>
                <a:sym typeface="Open Sauce"/>
              </a:rPr>
              <a:t>Save</a:t>
            </a:r>
            <a:r>
              <a:rPr lang="en-US" sz="3099" strike="noStrike" u="none">
                <a:solidFill>
                  <a:srgbClr val="185079"/>
                </a:solidFill>
                <a:latin typeface="Open Sauce"/>
                <a:ea typeface="Open Sauce"/>
                <a:cs typeface="Open Sauce"/>
                <a:sym typeface="Open Sauce"/>
              </a:rPr>
              <a:t>s HR team time</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Faster employee support</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Easy po</a:t>
            </a:r>
            <a:r>
              <a:rPr lang="en-US" sz="3099" strike="noStrike" u="none">
                <a:solidFill>
                  <a:srgbClr val="185079"/>
                </a:solidFill>
                <a:latin typeface="Open Sauce"/>
                <a:ea typeface="Open Sauce"/>
                <a:cs typeface="Open Sauce"/>
                <a:sym typeface="Open Sauce"/>
              </a:rPr>
              <a:t>l</a:t>
            </a:r>
            <a:r>
              <a:rPr lang="en-US" sz="3099" strike="noStrike" u="none">
                <a:solidFill>
                  <a:srgbClr val="185079"/>
                </a:solidFill>
                <a:latin typeface="Open Sauce"/>
                <a:ea typeface="Open Sauce"/>
                <a:cs typeface="Open Sauce"/>
                <a:sym typeface="Open Sauce"/>
              </a:rPr>
              <a:t>icy</a:t>
            </a:r>
            <a:r>
              <a:rPr lang="en-US" sz="3099" strike="noStrike" u="none">
                <a:solidFill>
                  <a:srgbClr val="185079"/>
                </a:solidFill>
                <a:latin typeface="Open Sauce"/>
                <a:ea typeface="Open Sauce"/>
                <a:cs typeface="Open Sauce"/>
                <a:sym typeface="Open Sauce"/>
              </a:rPr>
              <a:t> acc</a:t>
            </a:r>
            <a:r>
              <a:rPr lang="en-US" sz="3099" strike="noStrike" u="none">
                <a:solidFill>
                  <a:srgbClr val="185079"/>
                </a:solidFill>
                <a:latin typeface="Open Sauce"/>
                <a:ea typeface="Open Sauce"/>
                <a:cs typeface="Open Sauce"/>
                <a:sym typeface="Open Sauce"/>
              </a:rPr>
              <a:t>e</a:t>
            </a:r>
            <a:r>
              <a:rPr lang="en-US" sz="3099" strike="noStrike" u="none">
                <a:solidFill>
                  <a:srgbClr val="185079"/>
                </a:solidFill>
                <a:latin typeface="Open Sauce"/>
                <a:ea typeface="Open Sauce"/>
                <a:cs typeface="Open Sauce"/>
                <a:sym typeface="Open Sauce"/>
              </a:rPr>
              <a:t>s</a:t>
            </a:r>
            <a:r>
              <a:rPr lang="en-US" sz="3099" strike="noStrike" u="none">
                <a:solidFill>
                  <a:srgbClr val="185079"/>
                </a:solidFill>
                <a:latin typeface="Open Sauce"/>
                <a:ea typeface="Open Sauce"/>
                <a:cs typeface="Open Sauce"/>
                <a:sym typeface="Open Sauce"/>
              </a:rPr>
              <a:t>s</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Accurate responses</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Reduces manual searching</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Scalabl</a:t>
            </a:r>
            <a:r>
              <a:rPr lang="en-US" sz="3099" strike="noStrike" u="none">
                <a:solidFill>
                  <a:srgbClr val="185079"/>
                </a:solidFill>
                <a:latin typeface="Open Sauce"/>
                <a:ea typeface="Open Sauce"/>
                <a:cs typeface="Open Sauce"/>
                <a:sym typeface="Open Sauce"/>
              </a:rPr>
              <a:t>e architecture</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User-friendly interface</a:t>
            </a:r>
          </a:p>
          <a:p>
            <a:pPr algn="l">
              <a:lnSpc>
                <a:spcPts val="4339"/>
              </a:lnSpc>
              <a:spcBef>
                <a:spcPct val="0"/>
              </a:spcBef>
            </a:pPr>
          </a:p>
        </p:txBody>
      </p:sp>
      <p:sp>
        <p:nvSpPr>
          <p:cNvPr name="Freeform 5" id="5"/>
          <p:cNvSpPr/>
          <p:nvPr/>
        </p:nvSpPr>
        <p:spPr>
          <a:xfrm flipH="false" flipV="false" rot="0">
            <a:off x="-8153289" y="-809206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6" id="6"/>
          <p:cNvSpPr/>
          <p:nvPr/>
        </p:nvSpPr>
        <p:spPr>
          <a:xfrm flipH="false" flipV="false" rot="0">
            <a:off x="11275201" y="468873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1390650"/>
            <a:ext cx="16527613" cy="1111257"/>
          </a:xfrm>
          <a:prstGeom prst="rect">
            <a:avLst/>
          </a:prstGeom>
        </p:spPr>
        <p:txBody>
          <a:bodyPr anchor="t" rtlCol="false" tIns="0" lIns="0" bIns="0" rIns="0">
            <a:spAutoFit/>
          </a:bodyPr>
          <a:lstStyle/>
          <a:p>
            <a:pPr algn="ctr"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CHALLENGES</a:t>
            </a:r>
          </a:p>
        </p:txBody>
      </p:sp>
      <p:sp>
        <p:nvSpPr>
          <p:cNvPr name="TextBox 4" id="4"/>
          <p:cNvSpPr txBox="true"/>
          <p:nvPr/>
        </p:nvSpPr>
        <p:spPr>
          <a:xfrm rot="0">
            <a:off x="4814269" y="3002889"/>
            <a:ext cx="9185074" cy="2702561"/>
          </a:xfrm>
          <a:prstGeom prst="rect">
            <a:avLst/>
          </a:prstGeom>
        </p:spPr>
        <p:txBody>
          <a:bodyPr anchor="t" rtlCol="false" tIns="0" lIns="0" bIns="0" rIns="0">
            <a:spAutoFit/>
          </a:bodyPr>
          <a:lstStyle/>
          <a:p>
            <a:pPr algn="l" marL="669283" indent="-334641" lvl="1">
              <a:lnSpc>
                <a:spcPts val="4339"/>
              </a:lnSpc>
              <a:spcBef>
                <a:spcPct val="0"/>
              </a:spcBef>
              <a:buFont typeface="Arial"/>
              <a:buChar char="•"/>
            </a:pPr>
            <a:r>
              <a:rPr lang="en-US" sz="3099">
                <a:solidFill>
                  <a:srgbClr val="185079"/>
                </a:solidFill>
                <a:latin typeface="Open Sauce"/>
                <a:ea typeface="Open Sauce"/>
                <a:cs typeface="Open Sauce"/>
                <a:sym typeface="Open Sauce"/>
              </a:rPr>
              <a:t>Extr</a:t>
            </a:r>
            <a:r>
              <a:rPr lang="en-US" sz="3099">
                <a:solidFill>
                  <a:srgbClr val="185079"/>
                </a:solidFill>
                <a:latin typeface="Open Sauce"/>
                <a:ea typeface="Open Sauce"/>
                <a:cs typeface="Open Sauce"/>
                <a:sym typeface="Open Sauce"/>
              </a:rPr>
              <a:t>acting</a:t>
            </a:r>
            <a:r>
              <a:rPr lang="en-US" sz="3099">
                <a:solidFill>
                  <a:srgbClr val="185079"/>
                </a:solidFill>
                <a:latin typeface="Open Sauce"/>
                <a:ea typeface="Open Sauce"/>
                <a:cs typeface="Open Sauce"/>
                <a:sym typeface="Open Sauce"/>
              </a:rPr>
              <a:t> te</a:t>
            </a:r>
            <a:r>
              <a:rPr lang="en-US" sz="3099" strike="noStrike" u="none">
                <a:solidFill>
                  <a:srgbClr val="185079"/>
                </a:solidFill>
                <a:latin typeface="Open Sauce"/>
                <a:ea typeface="Open Sauce"/>
                <a:cs typeface="Open Sauce"/>
                <a:sym typeface="Open Sauce"/>
              </a:rPr>
              <a:t>xt fro</a:t>
            </a:r>
            <a:r>
              <a:rPr lang="en-US" sz="3099">
                <a:solidFill>
                  <a:srgbClr val="185079"/>
                </a:solidFill>
                <a:latin typeface="Open Sauce"/>
                <a:ea typeface="Open Sauce"/>
                <a:cs typeface="Open Sauce"/>
                <a:sym typeface="Open Sauce"/>
              </a:rPr>
              <a:t>m </a:t>
            </a:r>
            <a:r>
              <a:rPr lang="en-US" sz="3099" strike="noStrike" u="none">
                <a:solidFill>
                  <a:srgbClr val="185079"/>
                </a:solidFill>
                <a:latin typeface="Open Sauce"/>
                <a:ea typeface="Open Sauce"/>
                <a:cs typeface="Open Sauce"/>
                <a:sym typeface="Open Sauce"/>
              </a:rPr>
              <a:t>d</a:t>
            </a:r>
            <a:r>
              <a:rPr lang="en-US" sz="3099">
                <a:solidFill>
                  <a:srgbClr val="185079"/>
                </a:solidFill>
                <a:latin typeface="Open Sauce"/>
                <a:ea typeface="Open Sauce"/>
                <a:cs typeface="Open Sauce"/>
                <a:sym typeface="Open Sauce"/>
              </a:rPr>
              <a:t>i</a:t>
            </a:r>
            <a:r>
              <a:rPr lang="en-US" sz="3099" strike="noStrike" u="none">
                <a:solidFill>
                  <a:srgbClr val="185079"/>
                </a:solidFill>
                <a:latin typeface="Open Sauce"/>
                <a:ea typeface="Open Sauce"/>
                <a:cs typeface="Open Sauce"/>
                <a:sym typeface="Open Sauce"/>
              </a:rPr>
              <a:t>ff</a:t>
            </a:r>
            <a:r>
              <a:rPr lang="en-US" sz="3099">
                <a:solidFill>
                  <a:srgbClr val="185079"/>
                </a:solidFill>
                <a:latin typeface="Open Sauce"/>
                <a:ea typeface="Open Sauce"/>
                <a:cs typeface="Open Sauce"/>
                <a:sym typeface="Open Sauce"/>
              </a:rPr>
              <a:t>ere</a:t>
            </a:r>
            <a:r>
              <a:rPr lang="en-US" sz="3099" strike="noStrike" u="none">
                <a:solidFill>
                  <a:srgbClr val="185079"/>
                </a:solidFill>
                <a:latin typeface="Open Sauce"/>
                <a:ea typeface="Open Sauce"/>
                <a:cs typeface="Open Sauce"/>
                <a:sym typeface="Open Sauce"/>
              </a:rPr>
              <a:t>nt fi</a:t>
            </a:r>
            <a:r>
              <a:rPr lang="en-US" sz="3099">
                <a:solidFill>
                  <a:srgbClr val="185079"/>
                </a:solidFill>
                <a:latin typeface="Open Sauce"/>
                <a:ea typeface="Open Sauce"/>
                <a:cs typeface="Open Sauce"/>
                <a:sym typeface="Open Sauce"/>
              </a:rPr>
              <a:t>le </a:t>
            </a:r>
            <a:r>
              <a:rPr lang="en-US" sz="3099" strike="noStrike" u="none">
                <a:solidFill>
                  <a:srgbClr val="185079"/>
                </a:solidFill>
                <a:latin typeface="Open Sauce"/>
                <a:ea typeface="Open Sauce"/>
                <a:cs typeface="Open Sauce"/>
                <a:sym typeface="Open Sauce"/>
              </a:rPr>
              <a:t>f</a:t>
            </a:r>
            <a:r>
              <a:rPr lang="en-US" sz="3099">
                <a:solidFill>
                  <a:srgbClr val="185079"/>
                </a:solidFill>
                <a:latin typeface="Open Sauce"/>
                <a:ea typeface="Open Sauce"/>
                <a:cs typeface="Open Sauce"/>
                <a:sym typeface="Open Sauce"/>
              </a:rPr>
              <a:t>or</a:t>
            </a:r>
            <a:r>
              <a:rPr lang="en-US" sz="3099" strike="noStrike" u="none">
                <a:solidFill>
                  <a:srgbClr val="185079"/>
                </a:solidFill>
                <a:latin typeface="Open Sauce"/>
                <a:ea typeface="Open Sauce"/>
                <a:cs typeface="Open Sauce"/>
                <a:sym typeface="Open Sauce"/>
              </a:rPr>
              <a:t>ma</a:t>
            </a:r>
            <a:r>
              <a:rPr lang="en-US" sz="3099">
                <a:solidFill>
                  <a:srgbClr val="185079"/>
                </a:solidFill>
                <a:latin typeface="Open Sauce"/>
                <a:ea typeface="Open Sauce"/>
                <a:cs typeface="Open Sauce"/>
                <a:sym typeface="Open Sauce"/>
              </a:rPr>
              <a:t>t</a:t>
            </a:r>
            <a:r>
              <a:rPr lang="en-US" sz="3099" strike="noStrike" u="none">
                <a:solidFill>
                  <a:srgbClr val="185079"/>
                </a:solidFill>
                <a:latin typeface="Open Sauce"/>
                <a:ea typeface="Open Sauce"/>
                <a:cs typeface="Open Sauce"/>
                <a:sym typeface="Open Sauce"/>
              </a:rPr>
              <a:t>s</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H</a:t>
            </a:r>
            <a:r>
              <a:rPr lang="en-US" sz="3099">
                <a:solidFill>
                  <a:srgbClr val="185079"/>
                </a:solidFill>
                <a:latin typeface="Open Sauce"/>
                <a:ea typeface="Open Sauce"/>
                <a:cs typeface="Open Sauce"/>
                <a:sym typeface="Open Sauce"/>
              </a:rPr>
              <a:t>a</a:t>
            </a:r>
            <a:r>
              <a:rPr lang="en-US" sz="3099" strike="noStrike" u="none">
                <a:solidFill>
                  <a:srgbClr val="185079"/>
                </a:solidFill>
                <a:latin typeface="Open Sauce"/>
                <a:ea typeface="Open Sauce"/>
                <a:cs typeface="Open Sauce"/>
                <a:sym typeface="Open Sauce"/>
              </a:rPr>
              <a:t>nd</a:t>
            </a:r>
            <a:r>
              <a:rPr lang="en-US" sz="3099">
                <a:solidFill>
                  <a:srgbClr val="185079"/>
                </a:solidFill>
                <a:latin typeface="Open Sauce"/>
                <a:ea typeface="Open Sauce"/>
                <a:cs typeface="Open Sauce"/>
                <a:sym typeface="Open Sauce"/>
              </a:rPr>
              <a:t>li</a:t>
            </a:r>
            <a:r>
              <a:rPr lang="en-US" sz="3099" strike="noStrike" u="none">
                <a:solidFill>
                  <a:srgbClr val="185079"/>
                </a:solidFill>
                <a:latin typeface="Open Sauce"/>
                <a:ea typeface="Open Sauce"/>
                <a:cs typeface="Open Sauce"/>
                <a:sym typeface="Open Sauce"/>
              </a:rPr>
              <a:t>ng</a:t>
            </a:r>
            <a:r>
              <a:rPr lang="en-US" sz="3099">
                <a:solidFill>
                  <a:srgbClr val="185079"/>
                </a:solidFill>
                <a:latin typeface="Open Sauce"/>
                <a:ea typeface="Open Sauce"/>
                <a:cs typeface="Open Sauce"/>
                <a:sym typeface="Open Sauce"/>
              </a:rPr>
              <a:t> </a:t>
            </a:r>
            <a:r>
              <a:rPr lang="en-US" sz="3099" strike="noStrike" u="none">
                <a:solidFill>
                  <a:srgbClr val="185079"/>
                </a:solidFill>
                <a:latin typeface="Open Sauce"/>
                <a:ea typeface="Open Sauce"/>
                <a:cs typeface="Open Sauce"/>
                <a:sym typeface="Open Sauce"/>
              </a:rPr>
              <a:t>l</a:t>
            </a:r>
            <a:r>
              <a:rPr lang="en-US" sz="3099">
                <a:solidFill>
                  <a:srgbClr val="185079"/>
                </a:solidFill>
                <a:latin typeface="Open Sauce"/>
                <a:ea typeface="Open Sauce"/>
                <a:cs typeface="Open Sauce"/>
                <a:sym typeface="Open Sauce"/>
              </a:rPr>
              <a:t>ar</a:t>
            </a:r>
            <a:r>
              <a:rPr lang="en-US" sz="3099" strike="noStrike" u="none">
                <a:solidFill>
                  <a:srgbClr val="185079"/>
                </a:solidFill>
                <a:latin typeface="Open Sauce"/>
                <a:ea typeface="Open Sauce"/>
                <a:cs typeface="Open Sauce"/>
                <a:sym typeface="Open Sauce"/>
              </a:rPr>
              <a:t>g</a:t>
            </a:r>
            <a:r>
              <a:rPr lang="en-US" sz="3099">
                <a:solidFill>
                  <a:srgbClr val="185079"/>
                </a:solidFill>
                <a:latin typeface="Open Sauce"/>
                <a:ea typeface="Open Sauce"/>
                <a:cs typeface="Open Sauce"/>
                <a:sym typeface="Open Sauce"/>
              </a:rPr>
              <a:t>e </a:t>
            </a:r>
            <a:r>
              <a:rPr lang="en-US" sz="3099" strike="noStrike" u="none">
                <a:solidFill>
                  <a:srgbClr val="185079"/>
                </a:solidFill>
                <a:latin typeface="Open Sauce"/>
                <a:ea typeface="Open Sauce"/>
                <a:cs typeface="Open Sauce"/>
                <a:sym typeface="Open Sauce"/>
              </a:rPr>
              <a:t>H</a:t>
            </a:r>
            <a:r>
              <a:rPr lang="en-US" sz="3099">
                <a:solidFill>
                  <a:srgbClr val="185079"/>
                </a:solidFill>
                <a:latin typeface="Open Sauce"/>
                <a:ea typeface="Open Sauce"/>
                <a:cs typeface="Open Sauce"/>
                <a:sym typeface="Open Sauce"/>
              </a:rPr>
              <a:t>R</a:t>
            </a:r>
            <a:r>
              <a:rPr lang="en-US" sz="3099" strike="noStrike" u="none">
                <a:solidFill>
                  <a:srgbClr val="185079"/>
                </a:solidFill>
                <a:latin typeface="Open Sauce"/>
                <a:ea typeface="Open Sauce"/>
                <a:cs typeface="Open Sauce"/>
                <a:sym typeface="Open Sauce"/>
              </a:rPr>
              <a:t> </a:t>
            </a:r>
            <a:r>
              <a:rPr lang="en-US" sz="3099">
                <a:solidFill>
                  <a:srgbClr val="185079"/>
                </a:solidFill>
                <a:latin typeface="Open Sauce"/>
                <a:ea typeface="Open Sauce"/>
                <a:cs typeface="Open Sauce"/>
                <a:sym typeface="Open Sauce"/>
              </a:rPr>
              <a:t>d</a:t>
            </a:r>
            <a:r>
              <a:rPr lang="en-US" sz="3099" strike="noStrike" u="none">
                <a:solidFill>
                  <a:srgbClr val="185079"/>
                </a:solidFill>
                <a:latin typeface="Open Sauce"/>
                <a:ea typeface="Open Sauce"/>
                <a:cs typeface="Open Sauce"/>
                <a:sym typeface="Open Sauce"/>
              </a:rPr>
              <a:t>oc</a:t>
            </a:r>
            <a:r>
              <a:rPr lang="en-US" sz="3099">
                <a:solidFill>
                  <a:srgbClr val="185079"/>
                </a:solidFill>
                <a:latin typeface="Open Sauce"/>
                <a:ea typeface="Open Sauce"/>
                <a:cs typeface="Open Sauce"/>
                <a:sym typeface="Open Sauce"/>
              </a:rPr>
              <a:t>u</a:t>
            </a:r>
            <a:r>
              <a:rPr lang="en-US" sz="3099" strike="noStrike" u="none">
                <a:solidFill>
                  <a:srgbClr val="185079"/>
                </a:solidFill>
                <a:latin typeface="Open Sauce"/>
                <a:ea typeface="Open Sauce"/>
                <a:cs typeface="Open Sauce"/>
                <a:sym typeface="Open Sauce"/>
              </a:rPr>
              <a:t>m</a:t>
            </a:r>
            <a:r>
              <a:rPr lang="en-US" sz="3099">
                <a:solidFill>
                  <a:srgbClr val="185079"/>
                </a:solidFill>
                <a:latin typeface="Open Sauce"/>
                <a:ea typeface="Open Sauce"/>
                <a:cs typeface="Open Sauce"/>
                <a:sym typeface="Open Sauce"/>
              </a:rPr>
              <a:t>e</a:t>
            </a:r>
            <a:r>
              <a:rPr lang="en-US" sz="3099" strike="noStrike" u="none">
                <a:solidFill>
                  <a:srgbClr val="185079"/>
                </a:solidFill>
                <a:latin typeface="Open Sauce"/>
                <a:ea typeface="Open Sauce"/>
                <a:cs typeface="Open Sauce"/>
                <a:sym typeface="Open Sauce"/>
              </a:rPr>
              <a:t>nt</a:t>
            </a:r>
            <a:r>
              <a:rPr lang="en-US" sz="3099">
                <a:solidFill>
                  <a:srgbClr val="185079"/>
                </a:solidFill>
                <a:latin typeface="Open Sauce"/>
                <a:ea typeface="Open Sauce"/>
                <a:cs typeface="Open Sauce"/>
                <a:sym typeface="Open Sauce"/>
              </a:rPr>
              <a:t>s</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I</a:t>
            </a:r>
            <a:r>
              <a:rPr lang="en-US" sz="3099">
                <a:solidFill>
                  <a:srgbClr val="185079"/>
                </a:solidFill>
                <a:latin typeface="Open Sauce"/>
                <a:ea typeface="Open Sauce"/>
                <a:cs typeface="Open Sauce"/>
                <a:sym typeface="Open Sauce"/>
              </a:rPr>
              <a:t>m</a:t>
            </a:r>
            <a:r>
              <a:rPr lang="en-US" sz="3099" strike="noStrike" u="none">
                <a:solidFill>
                  <a:srgbClr val="185079"/>
                </a:solidFill>
                <a:latin typeface="Open Sauce"/>
                <a:ea typeface="Open Sauce"/>
                <a:cs typeface="Open Sauce"/>
                <a:sym typeface="Open Sauce"/>
              </a:rPr>
              <a:t>provi</a:t>
            </a:r>
            <a:r>
              <a:rPr lang="en-US" sz="3099">
                <a:solidFill>
                  <a:srgbClr val="185079"/>
                </a:solidFill>
                <a:latin typeface="Open Sauce"/>
                <a:ea typeface="Open Sauce"/>
                <a:cs typeface="Open Sauce"/>
                <a:sym typeface="Open Sauce"/>
              </a:rPr>
              <a:t>n</a:t>
            </a:r>
            <a:r>
              <a:rPr lang="en-US" sz="3099" strike="noStrike" u="none">
                <a:solidFill>
                  <a:srgbClr val="185079"/>
                </a:solidFill>
                <a:latin typeface="Open Sauce"/>
                <a:ea typeface="Open Sauce"/>
                <a:cs typeface="Open Sauce"/>
                <a:sym typeface="Open Sauce"/>
              </a:rPr>
              <a:t>g</a:t>
            </a:r>
            <a:r>
              <a:rPr lang="en-US" sz="3099">
                <a:solidFill>
                  <a:srgbClr val="185079"/>
                </a:solidFill>
                <a:latin typeface="Open Sauce"/>
                <a:ea typeface="Open Sauce"/>
                <a:cs typeface="Open Sauce"/>
                <a:sym typeface="Open Sauce"/>
              </a:rPr>
              <a:t> </a:t>
            </a:r>
            <a:r>
              <a:rPr lang="en-US" sz="3099" strike="noStrike" u="none">
                <a:solidFill>
                  <a:srgbClr val="185079"/>
                </a:solidFill>
                <a:latin typeface="Open Sauce"/>
                <a:ea typeface="Open Sauce"/>
                <a:cs typeface="Open Sauce"/>
                <a:sym typeface="Open Sauce"/>
              </a:rPr>
              <a:t>r</a:t>
            </a:r>
            <a:r>
              <a:rPr lang="en-US" sz="3099">
                <a:solidFill>
                  <a:srgbClr val="185079"/>
                </a:solidFill>
                <a:latin typeface="Open Sauce"/>
                <a:ea typeface="Open Sauce"/>
                <a:cs typeface="Open Sauce"/>
                <a:sym typeface="Open Sauce"/>
              </a:rPr>
              <a:t>e</a:t>
            </a:r>
            <a:r>
              <a:rPr lang="en-US" sz="3099" strike="noStrike" u="none">
                <a:solidFill>
                  <a:srgbClr val="185079"/>
                </a:solidFill>
                <a:latin typeface="Open Sauce"/>
                <a:ea typeface="Open Sauce"/>
                <a:cs typeface="Open Sauce"/>
                <a:sym typeface="Open Sauce"/>
              </a:rPr>
              <a:t>t</a:t>
            </a:r>
            <a:r>
              <a:rPr lang="en-US" sz="3099">
                <a:solidFill>
                  <a:srgbClr val="185079"/>
                </a:solidFill>
                <a:latin typeface="Open Sauce"/>
                <a:ea typeface="Open Sauce"/>
                <a:cs typeface="Open Sauce"/>
                <a:sym typeface="Open Sauce"/>
              </a:rPr>
              <a:t>ri</a:t>
            </a:r>
            <a:r>
              <a:rPr lang="en-US" sz="3099" strike="noStrike" u="none">
                <a:solidFill>
                  <a:srgbClr val="185079"/>
                </a:solidFill>
                <a:latin typeface="Open Sauce"/>
                <a:ea typeface="Open Sauce"/>
                <a:cs typeface="Open Sauce"/>
                <a:sym typeface="Open Sauce"/>
              </a:rPr>
              <a:t>ev</a:t>
            </a:r>
            <a:r>
              <a:rPr lang="en-US" sz="3099">
                <a:solidFill>
                  <a:srgbClr val="185079"/>
                </a:solidFill>
                <a:latin typeface="Open Sauce"/>
                <a:ea typeface="Open Sauce"/>
                <a:cs typeface="Open Sauce"/>
                <a:sym typeface="Open Sauce"/>
              </a:rPr>
              <a:t>al</a:t>
            </a:r>
            <a:r>
              <a:rPr lang="en-US" sz="3099">
                <a:solidFill>
                  <a:srgbClr val="185079"/>
                </a:solidFill>
                <a:latin typeface="Open Sauce"/>
                <a:ea typeface="Open Sauce"/>
                <a:cs typeface="Open Sauce"/>
                <a:sym typeface="Open Sauce"/>
              </a:rPr>
              <a:t> a</a:t>
            </a:r>
            <a:r>
              <a:rPr lang="en-US" sz="3099" strike="noStrike" u="none">
                <a:solidFill>
                  <a:srgbClr val="185079"/>
                </a:solidFill>
                <a:latin typeface="Open Sauce"/>
                <a:ea typeface="Open Sauce"/>
                <a:cs typeface="Open Sauce"/>
                <a:sym typeface="Open Sauce"/>
              </a:rPr>
              <a:t>ccu</a:t>
            </a:r>
            <a:r>
              <a:rPr lang="en-US" sz="3099">
                <a:solidFill>
                  <a:srgbClr val="185079"/>
                </a:solidFill>
                <a:latin typeface="Open Sauce"/>
                <a:ea typeface="Open Sauce"/>
                <a:cs typeface="Open Sauce"/>
                <a:sym typeface="Open Sauce"/>
              </a:rPr>
              <a:t>r</a:t>
            </a:r>
            <a:r>
              <a:rPr lang="en-US" sz="3099" strike="noStrike" u="none">
                <a:solidFill>
                  <a:srgbClr val="185079"/>
                </a:solidFill>
                <a:latin typeface="Open Sauce"/>
                <a:ea typeface="Open Sauce"/>
                <a:cs typeface="Open Sauce"/>
                <a:sym typeface="Open Sauce"/>
              </a:rPr>
              <a:t>a</a:t>
            </a:r>
            <a:r>
              <a:rPr lang="en-US" sz="3099">
                <a:solidFill>
                  <a:srgbClr val="185079"/>
                </a:solidFill>
                <a:latin typeface="Open Sauce"/>
                <a:ea typeface="Open Sauce"/>
                <a:cs typeface="Open Sauce"/>
                <a:sym typeface="Open Sauce"/>
              </a:rPr>
              <a:t>c</a:t>
            </a:r>
            <a:r>
              <a:rPr lang="en-US" sz="3099" strike="noStrike" u="none">
                <a:solidFill>
                  <a:srgbClr val="185079"/>
                </a:solidFill>
                <a:latin typeface="Open Sauce"/>
                <a:ea typeface="Open Sauce"/>
                <a:cs typeface="Open Sauce"/>
                <a:sym typeface="Open Sauce"/>
              </a:rPr>
              <a:t>y</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Manag</a:t>
            </a:r>
            <a:r>
              <a:rPr lang="en-US" sz="3099">
                <a:solidFill>
                  <a:srgbClr val="185079"/>
                </a:solidFill>
                <a:latin typeface="Open Sauce"/>
                <a:ea typeface="Open Sauce"/>
                <a:cs typeface="Open Sauce"/>
                <a:sym typeface="Open Sauce"/>
              </a:rPr>
              <a:t>i</a:t>
            </a:r>
            <a:r>
              <a:rPr lang="en-US" sz="3099" strike="noStrike" u="none">
                <a:solidFill>
                  <a:srgbClr val="185079"/>
                </a:solidFill>
                <a:latin typeface="Open Sauce"/>
                <a:ea typeface="Open Sauce"/>
                <a:cs typeface="Open Sauce"/>
                <a:sym typeface="Open Sauce"/>
              </a:rPr>
              <a:t>ng </a:t>
            </a:r>
            <a:r>
              <a:rPr lang="en-US" sz="3099">
                <a:solidFill>
                  <a:srgbClr val="185079"/>
                </a:solidFill>
                <a:latin typeface="Open Sauce"/>
                <a:ea typeface="Open Sauce"/>
                <a:cs typeface="Open Sauce"/>
                <a:sym typeface="Open Sauce"/>
              </a:rPr>
              <a:t>e</a:t>
            </a:r>
            <a:r>
              <a:rPr lang="en-US" sz="3099" strike="noStrike" u="none">
                <a:solidFill>
                  <a:srgbClr val="185079"/>
                </a:solidFill>
                <a:latin typeface="Open Sauce"/>
                <a:ea typeface="Open Sauce"/>
                <a:cs typeface="Open Sauce"/>
                <a:sym typeface="Open Sauce"/>
              </a:rPr>
              <a:t>mb</a:t>
            </a:r>
            <a:r>
              <a:rPr lang="en-US" sz="3099">
                <a:solidFill>
                  <a:srgbClr val="185079"/>
                </a:solidFill>
                <a:latin typeface="Open Sauce"/>
                <a:ea typeface="Open Sauce"/>
                <a:cs typeface="Open Sauce"/>
                <a:sym typeface="Open Sauce"/>
              </a:rPr>
              <a:t>e</a:t>
            </a:r>
            <a:r>
              <a:rPr lang="en-US" sz="3099" strike="noStrike" u="none">
                <a:solidFill>
                  <a:srgbClr val="185079"/>
                </a:solidFill>
                <a:latin typeface="Open Sauce"/>
                <a:ea typeface="Open Sauce"/>
                <a:cs typeface="Open Sauce"/>
                <a:sym typeface="Open Sauce"/>
              </a:rPr>
              <a:t>dding</a:t>
            </a:r>
            <a:r>
              <a:rPr lang="en-US" sz="3099">
                <a:solidFill>
                  <a:srgbClr val="185079"/>
                </a:solidFill>
                <a:latin typeface="Open Sauce"/>
                <a:ea typeface="Open Sauce"/>
                <a:cs typeface="Open Sauce"/>
                <a:sym typeface="Open Sauce"/>
              </a:rPr>
              <a:t>s</a:t>
            </a:r>
            <a:r>
              <a:rPr lang="en-US" sz="3099" strike="noStrike" u="none">
                <a:solidFill>
                  <a:srgbClr val="185079"/>
                </a:solidFill>
                <a:latin typeface="Open Sauce"/>
                <a:ea typeface="Open Sauce"/>
                <a:cs typeface="Open Sauce"/>
                <a:sym typeface="Open Sauce"/>
              </a:rPr>
              <a:t> </a:t>
            </a:r>
            <a:r>
              <a:rPr lang="en-US" sz="3099">
                <a:solidFill>
                  <a:srgbClr val="185079"/>
                </a:solidFill>
                <a:latin typeface="Open Sauce"/>
                <a:ea typeface="Open Sauce"/>
                <a:cs typeface="Open Sauce"/>
                <a:sym typeface="Open Sauce"/>
              </a:rPr>
              <a:t>e</a:t>
            </a:r>
            <a:r>
              <a:rPr lang="en-US" sz="3099" strike="noStrike" u="none">
                <a:solidFill>
                  <a:srgbClr val="185079"/>
                </a:solidFill>
                <a:latin typeface="Open Sauce"/>
                <a:ea typeface="Open Sauce"/>
                <a:cs typeface="Open Sauce"/>
                <a:sym typeface="Open Sauce"/>
              </a:rPr>
              <a:t>f</a:t>
            </a:r>
            <a:r>
              <a:rPr lang="en-US" sz="3099">
                <a:solidFill>
                  <a:srgbClr val="185079"/>
                </a:solidFill>
                <a:latin typeface="Open Sauce"/>
                <a:ea typeface="Open Sauce"/>
                <a:cs typeface="Open Sauce"/>
                <a:sym typeface="Open Sauce"/>
              </a:rPr>
              <a:t>f</a:t>
            </a:r>
            <a:r>
              <a:rPr lang="en-US" sz="3099" strike="noStrike" u="none">
                <a:solidFill>
                  <a:srgbClr val="185079"/>
                </a:solidFill>
                <a:latin typeface="Open Sauce"/>
                <a:ea typeface="Open Sauce"/>
                <a:cs typeface="Open Sauce"/>
                <a:sym typeface="Open Sauce"/>
              </a:rPr>
              <a:t>ic</a:t>
            </a:r>
            <a:r>
              <a:rPr lang="en-US" sz="3099">
                <a:solidFill>
                  <a:srgbClr val="185079"/>
                </a:solidFill>
                <a:latin typeface="Open Sauce"/>
                <a:ea typeface="Open Sauce"/>
                <a:cs typeface="Open Sauce"/>
                <a:sym typeface="Open Sauce"/>
              </a:rPr>
              <a:t>ien</a:t>
            </a:r>
            <a:r>
              <a:rPr lang="en-US" sz="3099" strike="noStrike" u="none">
                <a:solidFill>
                  <a:srgbClr val="185079"/>
                </a:solidFill>
                <a:latin typeface="Open Sauce"/>
                <a:ea typeface="Open Sauce"/>
                <a:cs typeface="Open Sauce"/>
                <a:sym typeface="Open Sauce"/>
              </a:rPr>
              <a:t>t</a:t>
            </a:r>
            <a:r>
              <a:rPr lang="en-US" sz="3099">
                <a:solidFill>
                  <a:srgbClr val="185079"/>
                </a:solidFill>
                <a:latin typeface="Open Sauce"/>
                <a:ea typeface="Open Sauce"/>
                <a:cs typeface="Open Sauce"/>
                <a:sym typeface="Open Sauce"/>
              </a:rPr>
              <a:t>ly</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Des</a:t>
            </a:r>
            <a:r>
              <a:rPr lang="en-US" sz="3099">
                <a:solidFill>
                  <a:srgbClr val="185079"/>
                </a:solidFill>
                <a:latin typeface="Open Sauce"/>
                <a:ea typeface="Open Sauce"/>
                <a:cs typeface="Open Sauce"/>
                <a:sym typeface="Open Sauce"/>
              </a:rPr>
              <a:t>i</a:t>
            </a:r>
            <a:r>
              <a:rPr lang="en-US" sz="3099" strike="noStrike" u="none">
                <a:solidFill>
                  <a:srgbClr val="185079"/>
                </a:solidFill>
                <a:latin typeface="Open Sauce"/>
                <a:ea typeface="Open Sauce"/>
                <a:cs typeface="Open Sauce"/>
                <a:sym typeface="Open Sauce"/>
              </a:rPr>
              <a:t>g</a:t>
            </a:r>
            <a:r>
              <a:rPr lang="en-US" sz="3099">
                <a:solidFill>
                  <a:srgbClr val="185079"/>
                </a:solidFill>
                <a:latin typeface="Open Sauce"/>
                <a:ea typeface="Open Sauce"/>
                <a:cs typeface="Open Sauce"/>
                <a:sym typeface="Open Sauce"/>
              </a:rPr>
              <a:t>n</a:t>
            </a:r>
            <a:r>
              <a:rPr lang="en-US" sz="3099" strike="noStrike" u="none">
                <a:solidFill>
                  <a:srgbClr val="185079"/>
                </a:solidFill>
                <a:latin typeface="Open Sauce"/>
                <a:ea typeface="Open Sauce"/>
                <a:cs typeface="Open Sauce"/>
                <a:sym typeface="Open Sauce"/>
              </a:rPr>
              <a:t>ing </a:t>
            </a:r>
            <a:r>
              <a:rPr lang="en-US" sz="3099">
                <a:solidFill>
                  <a:srgbClr val="185079"/>
                </a:solidFill>
                <a:latin typeface="Open Sauce"/>
                <a:ea typeface="Open Sauce"/>
                <a:cs typeface="Open Sauce"/>
                <a:sym typeface="Open Sauce"/>
              </a:rPr>
              <a:t>re</a:t>
            </a:r>
            <a:r>
              <a:rPr lang="en-US" sz="3099" strike="noStrike" u="none">
                <a:solidFill>
                  <a:srgbClr val="185079"/>
                </a:solidFill>
                <a:latin typeface="Open Sauce"/>
                <a:ea typeface="Open Sauce"/>
                <a:cs typeface="Open Sauce"/>
                <a:sym typeface="Open Sauce"/>
              </a:rPr>
              <a:t>sponsive UI</a:t>
            </a:r>
          </a:p>
        </p:txBody>
      </p:sp>
      <p:sp>
        <p:nvSpPr>
          <p:cNvPr name="Freeform 5" id="5"/>
          <p:cNvSpPr/>
          <p:nvPr/>
        </p:nvSpPr>
        <p:spPr>
          <a:xfrm flipH="false" flipV="false" rot="0">
            <a:off x="-8153289" y="-809206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6" id="6"/>
          <p:cNvSpPr/>
          <p:nvPr/>
        </p:nvSpPr>
        <p:spPr>
          <a:xfrm flipH="false" flipV="false" rot="0">
            <a:off x="11275201" y="468873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1390650"/>
            <a:ext cx="16527613" cy="1111257"/>
          </a:xfrm>
          <a:prstGeom prst="rect">
            <a:avLst/>
          </a:prstGeom>
        </p:spPr>
        <p:txBody>
          <a:bodyPr anchor="t" rtlCol="false" tIns="0" lIns="0" bIns="0" rIns="0">
            <a:spAutoFit/>
          </a:bodyPr>
          <a:lstStyle/>
          <a:p>
            <a:pPr algn="ctr"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FUTURE ENHANCEMENTS</a:t>
            </a:r>
          </a:p>
        </p:txBody>
      </p:sp>
      <p:sp>
        <p:nvSpPr>
          <p:cNvPr name="TextBox 4" id="4"/>
          <p:cNvSpPr txBox="true"/>
          <p:nvPr/>
        </p:nvSpPr>
        <p:spPr>
          <a:xfrm rot="0">
            <a:off x="5775363" y="3002889"/>
            <a:ext cx="7053336" cy="3788411"/>
          </a:xfrm>
          <a:prstGeom prst="rect">
            <a:avLst/>
          </a:prstGeom>
        </p:spPr>
        <p:txBody>
          <a:bodyPr anchor="t" rtlCol="false" tIns="0" lIns="0" bIns="0" rIns="0">
            <a:spAutoFit/>
          </a:bodyPr>
          <a:lstStyle/>
          <a:p>
            <a:pPr algn="l" marL="669283" indent="-334641" lvl="1">
              <a:lnSpc>
                <a:spcPts val="4339"/>
              </a:lnSpc>
              <a:spcBef>
                <a:spcPct val="0"/>
              </a:spcBef>
              <a:buFont typeface="Arial"/>
              <a:buChar char="•"/>
            </a:pPr>
            <a:r>
              <a:rPr lang="en-US" sz="3099">
                <a:solidFill>
                  <a:srgbClr val="185079"/>
                </a:solidFill>
                <a:latin typeface="Open Sauce"/>
                <a:ea typeface="Open Sauce"/>
                <a:cs typeface="Open Sauce"/>
                <a:sym typeface="Open Sauce"/>
              </a:rPr>
              <a:t>V</a:t>
            </a:r>
            <a:r>
              <a:rPr lang="en-US" sz="3099" strike="noStrike" u="none">
                <a:solidFill>
                  <a:srgbClr val="185079"/>
                </a:solidFill>
                <a:latin typeface="Open Sauce"/>
                <a:ea typeface="Open Sauce"/>
                <a:cs typeface="Open Sauce"/>
                <a:sym typeface="Open Sauce"/>
              </a:rPr>
              <a:t>o</a:t>
            </a:r>
            <a:r>
              <a:rPr lang="en-US" sz="3099">
                <a:solidFill>
                  <a:srgbClr val="185079"/>
                </a:solidFill>
                <a:latin typeface="Open Sauce"/>
                <a:ea typeface="Open Sauce"/>
                <a:cs typeface="Open Sauce"/>
                <a:sym typeface="Open Sauce"/>
              </a:rPr>
              <a:t>ice-e</a:t>
            </a:r>
            <a:r>
              <a:rPr lang="en-US" sz="3099" strike="noStrike" u="none">
                <a:solidFill>
                  <a:srgbClr val="185079"/>
                </a:solidFill>
                <a:latin typeface="Open Sauce"/>
                <a:ea typeface="Open Sauce"/>
                <a:cs typeface="Open Sauce"/>
                <a:sym typeface="Open Sauce"/>
              </a:rPr>
              <a:t>nab</a:t>
            </a:r>
            <a:r>
              <a:rPr lang="en-US" sz="3099">
                <a:solidFill>
                  <a:srgbClr val="185079"/>
                </a:solidFill>
                <a:latin typeface="Open Sauce"/>
                <a:ea typeface="Open Sauce"/>
                <a:cs typeface="Open Sauce"/>
                <a:sym typeface="Open Sauce"/>
              </a:rPr>
              <a:t>led HR </a:t>
            </a:r>
            <a:r>
              <a:rPr lang="en-US" sz="3099" strike="noStrike" u="none">
                <a:solidFill>
                  <a:srgbClr val="185079"/>
                </a:solidFill>
                <a:latin typeface="Open Sauce"/>
                <a:ea typeface="Open Sauce"/>
                <a:cs typeface="Open Sauce"/>
                <a:sym typeface="Open Sauce"/>
              </a:rPr>
              <a:t>assist</a:t>
            </a:r>
            <a:r>
              <a:rPr lang="en-US" sz="3099">
                <a:solidFill>
                  <a:srgbClr val="185079"/>
                </a:solidFill>
                <a:latin typeface="Open Sauce"/>
                <a:ea typeface="Open Sauce"/>
                <a:cs typeface="Open Sauce"/>
                <a:sym typeface="Open Sauce"/>
              </a:rPr>
              <a:t>a</a:t>
            </a:r>
            <a:r>
              <a:rPr lang="en-US" sz="3099" strike="noStrike" u="none">
                <a:solidFill>
                  <a:srgbClr val="185079"/>
                </a:solidFill>
                <a:latin typeface="Open Sauce"/>
                <a:ea typeface="Open Sauce"/>
                <a:cs typeface="Open Sauce"/>
                <a:sym typeface="Open Sauce"/>
              </a:rPr>
              <a:t>nt</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Mu</a:t>
            </a:r>
            <a:r>
              <a:rPr lang="en-US" sz="3099">
                <a:solidFill>
                  <a:srgbClr val="185079"/>
                </a:solidFill>
                <a:latin typeface="Open Sauce"/>
                <a:ea typeface="Open Sauce"/>
                <a:cs typeface="Open Sauce"/>
                <a:sym typeface="Open Sauce"/>
              </a:rPr>
              <a:t>lti-la</a:t>
            </a:r>
            <a:r>
              <a:rPr lang="en-US" sz="3099" strike="noStrike" u="none">
                <a:solidFill>
                  <a:srgbClr val="185079"/>
                </a:solidFill>
                <a:latin typeface="Open Sauce"/>
                <a:ea typeface="Open Sauce"/>
                <a:cs typeface="Open Sauce"/>
                <a:sym typeface="Open Sauce"/>
              </a:rPr>
              <a:t>ngu</a:t>
            </a:r>
            <a:r>
              <a:rPr lang="en-US" sz="3099">
                <a:solidFill>
                  <a:srgbClr val="185079"/>
                </a:solidFill>
                <a:latin typeface="Open Sauce"/>
                <a:ea typeface="Open Sauce"/>
                <a:cs typeface="Open Sauce"/>
                <a:sym typeface="Open Sauce"/>
              </a:rPr>
              <a:t>a</a:t>
            </a:r>
            <a:r>
              <a:rPr lang="en-US" sz="3099" strike="noStrike" u="none">
                <a:solidFill>
                  <a:srgbClr val="185079"/>
                </a:solidFill>
                <a:latin typeface="Open Sauce"/>
                <a:ea typeface="Open Sauce"/>
                <a:cs typeface="Open Sauce"/>
                <a:sym typeface="Open Sauce"/>
              </a:rPr>
              <a:t>g</a:t>
            </a:r>
            <a:r>
              <a:rPr lang="en-US" sz="3099">
                <a:solidFill>
                  <a:srgbClr val="185079"/>
                </a:solidFill>
                <a:latin typeface="Open Sauce"/>
                <a:ea typeface="Open Sauce"/>
                <a:cs typeface="Open Sauce"/>
                <a:sym typeface="Open Sauce"/>
              </a:rPr>
              <a:t>e supp</a:t>
            </a:r>
            <a:r>
              <a:rPr lang="en-US" sz="3099" strike="noStrike" u="none">
                <a:solidFill>
                  <a:srgbClr val="185079"/>
                </a:solidFill>
                <a:latin typeface="Open Sauce"/>
                <a:ea typeface="Open Sauce"/>
                <a:cs typeface="Open Sauce"/>
                <a:sym typeface="Open Sauce"/>
              </a:rPr>
              <a:t>ort</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E</a:t>
            </a:r>
            <a:r>
              <a:rPr lang="en-US" sz="3099">
                <a:solidFill>
                  <a:srgbClr val="185079"/>
                </a:solidFill>
                <a:latin typeface="Open Sauce"/>
                <a:ea typeface="Open Sauce"/>
                <a:cs typeface="Open Sauce"/>
                <a:sym typeface="Open Sauce"/>
              </a:rPr>
              <a:t>m</a:t>
            </a:r>
            <a:r>
              <a:rPr lang="en-US" sz="3099" strike="noStrike" u="none">
                <a:solidFill>
                  <a:srgbClr val="185079"/>
                </a:solidFill>
                <a:latin typeface="Open Sauce"/>
                <a:ea typeface="Open Sauce"/>
                <a:cs typeface="Open Sauce"/>
                <a:sym typeface="Open Sauce"/>
              </a:rPr>
              <a:t>ploy</a:t>
            </a:r>
            <a:r>
              <a:rPr lang="en-US" sz="3099">
                <a:solidFill>
                  <a:srgbClr val="185079"/>
                </a:solidFill>
                <a:latin typeface="Open Sauce"/>
                <a:ea typeface="Open Sauce"/>
                <a:cs typeface="Open Sauce"/>
                <a:sym typeface="Open Sauce"/>
              </a:rPr>
              <a:t>e</a:t>
            </a:r>
            <a:r>
              <a:rPr lang="en-US" sz="3099" strike="noStrike" u="none">
                <a:solidFill>
                  <a:srgbClr val="185079"/>
                </a:solidFill>
                <a:latin typeface="Open Sauce"/>
                <a:ea typeface="Open Sauce"/>
                <a:cs typeface="Open Sauce"/>
                <a:sym typeface="Open Sauce"/>
              </a:rPr>
              <a:t>e</a:t>
            </a:r>
            <a:r>
              <a:rPr lang="en-US" sz="3099">
                <a:solidFill>
                  <a:srgbClr val="185079"/>
                </a:solidFill>
                <a:latin typeface="Open Sauce"/>
                <a:ea typeface="Open Sauce"/>
                <a:cs typeface="Open Sauce"/>
                <a:sym typeface="Open Sauce"/>
              </a:rPr>
              <a:t> a</a:t>
            </a:r>
            <a:r>
              <a:rPr lang="en-US" sz="3099" strike="noStrike" u="none">
                <a:solidFill>
                  <a:srgbClr val="185079"/>
                </a:solidFill>
                <a:latin typeface="Open Sauce"/>
                <a:ea typeface="Open Sauce"/>
                <a:cs typeface="Open Sauce"/>
                <a:sym typeface="Open Sauce"/>
              </a:rPr>
              <a:t>uthenticat</a:t>
            </a:r>
            <a:r>
              <a:rPr lang="en-US" sz="3099">
                <a:solidFill>
                  <a:srgbClr val="185079"/>
                </a:solidFill>
                <a:latin typeface="Open Sauce"/>
                <a:ea typeface="Open Sauce"/>
                <a:cs typeface="Open Sauce"/>
                <a:sym typeface="Open Sauce"/>
              </a:rPr>
              <a:t>io</a:t>
            </a:r>
            <a:r>
              <a:rPr lang="en-US" sz="3099" strike="noStrike" u="none">
                <a:solidFill>
                  <a:srgbClr val="185079"/>
                </a:solidFill>
                <a:latin typeface="Open Sauce"/>
                <a:ea typeface="Open Sauce"/>
                <a:cs typeface="Open Sauce"/>
                <a:sym typeface="Open Sauce"/>
              </a:rPr>
              <a:t>n</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Cloud d</a:t>
            </a:r>
            <a:r>
              <a:rPr lang="en-US" sz="3099">
                <a:solidFill>
                  <a:srgbClr val="185079"/>
                </a:solidFill>
                <a:latin typeface="Open Sauce"/>
                <a:ea typeface="Open Sauce"/>
                <a:cs typeface="Open Sauce"/>
                <a:sym typeface="Open Sauce"/>
              </a:rPr>
              <a:t>eploy</a:t>
            </a:r>
            <a:r>
              <a:rPr lang="en-US" sz="3099" strike="noStrike" u="none">
                <a:solidFill>
                  <a:srgbClr val="185079"/>
                </a:solidFill>
                <a:latin typeface="Open Sauce"/>
                <a:ea typeface="Open Sauce"/>
                <a:cs typeface="Open Sauce"/>
                <a:sym typeface="Open Sauce"/>
              </a:rPr>
              <a:t>ment</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GPT-bas</a:t>
            </a:r>
            <a:r>
              <a:rPr lang="en-US" sz="3099">
                <a:solidFill>
                  <a:srgbClr val="185079"/>
                </a:solidFill>
                <a:latin typeface="Open Sauce"/>
                <a:ea typeface="Open Sauce"/>
                <a:cs typeface="Open Sauce"/>
                <a:sym typeface="Open Sauce"/>
              </a:rPr>
              <a:t>e</a:t>
            </a:r>
            <a:r>
              <a:rPr lang="en-US" sz="3099" strike="noStrike" u="none">
                <a:solidFill>
                  <a:srgbClr val="185079"/>
                </a:solidFill>
                <a:latin typeface="Open Sauce"/>
                <a:ea typeface="Open Sauce"/>
                <a:cs typeface="Open Sauce"/>
                <a:sym typeface="Open Sauce"/>
              </a:rPr>
              <a:t>d an</a:t>
            </a:r>
            <a:r>
              <a:rPr lang="en-US" sz="3099">
                <a:solidFill>
                  <a:srgbClr val="185079"/>
                </a:solidFill>
                <a:latin typeface="Open Sauce"/>
                <a:ea typeface="Open Sauce"/>
                <a:cs typeface="Open Sauce"/>
                <a:sym typeface="Open Sauce"/>
              </a:rPr>
              <a:t>swer</a:t>
            </a:r>
            <a:r>
              <a:rPr lang="en-US" sz="3099" strike="noStrike" u="none">
                <a:solidFill>
                  <a:srgbClr val="185079"/>
                </a:solidFill>
                <a:latin typeface="Open Sauce"/>
                <a:ea typeface="Open Sauce"/>
                <a:cs typeface="Open Sauce"/>
                <a:sym typeface="Open Sauce"/>
              </a:rPr>
              <a:t> g</a:t>
            </a:r>
            <a:r>
              <a:rPr lang="en-US" sz="3099">
                <a:solidFill>
                  <a:srgbClr val="185079"/>
                </a:solidFill>
                <a:latin typeface="Open Sauce"/>
                <a:ea typeface="Open Sauce"/>
                <a:cs typeface="Open Sauce"/>
                <a:sym typeface="Open Sauce"/>
              </a:rPr>
              <a:t>enerat</a:t>
            </a:r>
            <a:r>
              <a:rPr lang="en-US" sz="3099" strike="noStrike" u="none">
                <a:solidFill>
                  <a:srgbClr val="185079"/>
                </a:solidFill>
                <a:latin typeface="Open Sauce"/>
                <a:ea typeface="Open Sauce"/>
                <a:cs typeface="Open Sauce"/>
                <a:sym typeface="Open Sauce"/>
              </a:rPr>
              <a:t>ion</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Adm</a:t>
            </a:r>
            <a:r>
              <a:rPr lang="en-US" sz="3099">
                <a:solidFill>
                  <a:srgbClr val="185079"/>
                </a:solidFill>
                <a:latin typeface="Open Sauce"/>
                <a:ea typeface="Open Sauce"/>
                <a:cs typeface="Open Sauce"/>
                <a:sym typeface="Open Sauce"/>
              </a:rPr>
              <a:t>in dashboard</a:t>
            </a:r>
          </a:p>
          <a:p>
            <a:pPr algn="l" marL="669283" indent="-334641" lvl="1">
              <a:lnSpc>
                <a:spcPts val="4339"/>
              </a:lnSpc>
              <a:spcBef>
                <a:spcPct val="0"/>
              </a:spcBef>
              <a:buFont typeface="Arial"/>
              <a:buChar char="•"/>
            </a:pPr>
            <a:r>
              <a:rPr lang="en-US" sz="3099" strike="noStrike" u="none">
                <a:solidFill>
                  <a:srgbClr val="185079"/>
                </a:solidFill>
                <a:latin typeface="Open Sauce"/>
                <a:ea typeface="Open Sauce"/>
                <a:cs typeface="Open Sauce"/>
                <a:sym typeface="Open Sauce"/>
              </a:rPr>
              <a:t>Database integ</a:t>
            </a:r>
            <a:r>
              <a:rPr lang="en-US" sz="3099">
                <a:solidFill>
                  <a:srgbClr val="185079"/>
                </a:solidFill>
                <a:latin typeface="Open Sauce"/>
                <a:ea typeface="Open Sauce"/>
                <a:cs typeface="Open Sauce"/>
                <a:sym typeface="Open Sauce"/>
              </a:rPr>
              <a:t>rati</a:t>
            </a:r>
            <a:r>
              <a:rPr lang="en-US" sz="3099" strike="noStrike" u="none">
                <a:solidFill>
                  <a:srgbClr val="185079"/>
                </a:solidFill>
                <a:latin typeface="Open Sauce"/>
                <a:ea typeface="Open Sauce"/>
                <a:cs typeface="Open Sauce"/>
                <a:sym typeface="Open Sauce"/>
              </a:rPr>
              <a:t>on</a:t>
            </a:r>
          </a:p>
        </p:txBody>
      </p:sp>
      <p:sp>
        <p:nvSpPr>
          <p:cNvPr name="Freeform 5" id="5"/>
          <p:cNvSpPr/>
          <p:nvPr/>
        </p:nvSpPr>
        <p:spPr>
          <a:xfrm flipH="false" flipV="false" rot="0">
            <a:off x="-8153289" y="-809206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6" id="6"/>
          <p:cNvSpPr/>
          <p:nvPr/>
        </p:nvSpPr>
        <p:spPr>
          <a:xfrm flipH="false" flipV="false" rot="0">
            <a:off x="11275201" y="468873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1390650"/>
            <a:ext cx="16527613" cy="1111257"/>
          </a:xfrm>
          <a:prstGeom prst="rect">
            <a:avLst/>
          </a:prstGeom>
        </p:spPr>
        <p:txBody>
          <a:bodyPr anchor="t" rtlCol="false" tIns="0" lIns="0" bIns="0" rIns="0">
            <a:spAutoFit/>
          </a:bodyPr>
          <a:lstStyle/>
          <a:p>
            <a:pPr algn="ctr"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SCREENSHOTS</a:t>
            </a:r>
          </a:p>
        </p:txBody>
      </p:sp>
      <p:sp>
        <p:nvSpPr>
          <p:cNvPr name="Freeform 4" id="4"/>
          <p:cNvSpPr/>
          <p:nvPr/>
        </p:nvSpPr>
        <p:spPr>
          <a:xfrm flipH="false" flipV="false" rot="0">
            <a:off x="-8153289" y="-809206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5" id="5"/>
          <p:cNvSpPr/>
          <p:nvPr/>
        </p:nvSpPr>
        <p:spPr>
          <a:xfrm flipH="false" flipV="false" rot="0">
            <a:off x="11275201" y="468873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
        <p:nvSpPr>
          <p:cNvPr name="Freeform 6" id="6"/>
          <p:cNvSpPr/>
          <p:nvPr/>
        </p:nvSpPr>
        <p:spPr>
          <a:xfrm flipH="false" flipV="false" rot="0">
            <a:off x="9496325" y="3350551"/>
            <a:ext cx="7762975" cy="3590376"/>
          </a:xfrm>
          <a:custGeom>
            <a:avLst/>
            <a:gdLst/>
            <a:ahLst/>
            <a:cxnLst/>
            <a:rect r="r" b="b" t="t" l="l"/>
            <a:pathLst>
              <a:path h="3590376" w="7762975">
                <a:moveTo>
                  <a:pt x="0" y="0"/>
                </a:moveTo>
                <a:lnTo>
                  <a:pt x="7762975" y="0"/>
                </a:lnTo>
                <a:lnTo>
                  <a:pt x="7762975" y="3590376"/>
                </a:lnTo>
                <a:lnTo>
                  <a:pt x="0" y="3590376"/>
                </a:lnTo>
                <a:lnTo>
                  <a:pt x="0" y="0"/>
                </a:lnTo>
                <a:close/>
              </a:path>
            </a:pathLst>
          </a:custGeom>
          <a:blipFill>
            <a:blip r:embed="rId4"/>
            <a:stretch>
              <a:fillRect l="0" t="0" r="0" b="0"/>
            </a:stretch>
          </a:blipFill>
        </p:spPr>
      </p:sp>
      <p:sp>
        <p:nvSpPr>
          <p:cNvPr name="Freeform 7" id="7"/>
          <p:cNvSpPr/>
          <p:nvPr/>
        </p:nvSpPr>
        <p:spPr>
          <a:xfrm flipH="false" flipV="false" rot="0">
            <a:off x="1898904" y="3350551"/>
            <a:ext cx="7393602" cy="3585897"/>
          </a:xfrm>
          <a:custGeom>
            <a:avLst/>
            <a:gdLst/>
            <a:ahLst/>
            <a:cxnLst/>
            <a:rect r="r" b="b" t="t" l="l"/>
            <a:pathLst>
              <a:path h="3585897" w="7393602">
                <a:moveTo>
                  <a:pt x="0" y="0"/>
                </a:moveTo>
                <a:lnTo>
                  <a:pt x="7393603" y="0"/>
                </a:lnTo>
                <a:lnTo>
                  <a:pt x="7393603" y="3585898"/>
                </a:lnTo>
                <a:lnTo>
                  <a:pt x="0" y="3585898"/>
                </a:lnTo>
                <a:lnTo>
                  <a:pt x="0" y="0"/>
                </a:lnTo>
                <a:close/>
              </a:path>
            </a:pathLst>
          </a:custGeom>
          <a:blipFill>
            <a:blip r:embed="rId5"/>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1390650"/>
            <a:ext cx="16527613" cy="1111257"/>
          </a:xfrm>
          <a:prstGeom prst="rect">
            <a:avLst/>
          </a:prstGeom>
        </p:spPr>
        <p:txBody>
          <a:bodyPr anchor="t" rtlCol="false" tIns="0" lIns="0" bIns="0" rIns="0">
            <a:spAutoFit/>
          </a:bodyPr>
          <a:lstStyle/>
          <a:p>
            <a:pPr algn="ctr"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SCREENSHOTS</a:t>
            </a:r>
          </a:p>
        </p:txBody>
      </p:sp>
      <p:sp>
        <p:nvSpPr>
          <p:cNvPr name="Freeform 4" id="4"/>
          <p:cNvSpPr/>
          <p:nvPr/>
        </p:nvSpPr>
        <p:spPr>
          <a:xfrm flipH="false" flipV="false" rot="0">
            <a:off x="-8153289" y="-809206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5" id="5"/>
          <p:cNvSpPr/>
          <p:nvPr/>
        </p:nvSpPr>
        <p:spPr>
          <a:xfrm flipH="false" flipV="false" rot="0">
            <a:off x="11275201" y="468873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
        <p:nvSpPr>
          <p:cNvPr name="Freeform 6" id="6"/>
          <p:cNvSpPr/>
          <p:nvPr/>
        </p:nvSpPr>
        <p:spPr>
          <a:xfrm flipH="false" flipV="false" rot="0">
            <a:off x="9496325" y="3350551"/>
            <a:ext cx="7762975" cy="3590376"/>
          </a:xfrm>
          <a:custGeom>
            <a:avLst/>
            <a:gdLst/>
            <a:ahLst/>
            <a:cxnLst/>
            <a:rect r="r" b="b" t="t" l="l"/>
            <a:pathLst>
              <a:path h="3590376" w="7762975">
                <a:moveTo>
                  <a:pt x="0" y="0"/>
                </a:moveTo>
                <a:lnTo>
                  <a:pt x="7762975" y="0"/>
                </a:lnTo>
                <a:lnTo>
                  <a:pt x="7762975" y="3590376"/>
                </a:lnTo>
                <a:lnTo>
                  <a:pt x="0" y="3590376"/>
                </a:lnTo>
                <a:lnTo>
                  <a:pt x="0" y="0"/>
                </a:lnTo>
                <a:close/>
              </a:path>
            </a:pathLst>
          </a:custGeom>
          <a:blipFill>
            <a:blip r:embed="rId4"/>
            <a:stretch>
              <a:fillRect l="0" t="0" r="0" b="0"/>
            </a:stretch>
          </a:blipFill>
        </p:spPr>
      </p:sp>
      <p:sp>
        <p:nvSpPr>
          <p:cNvPr name="Freeform 7" id="7"/>
          <p:cNvSpPr/>
          <p:nvPr/>
        </p:nvSpPr>
        <p:spPr>
          <a:xfrm flipH="false" flipV="false" rot="0">
            <a:off x="1898904" y="3350551"/>
            <a:ext cx="7393602" cy="3585897"/>
          </a:xfrm>
          <a:custGeom>
            <a:avLst/>
            <a:gdLst/>
            <a:ahLst/>
            <a:cxnLst/>
            <a:rect r="r" b="b" t="t" l="l"/>
            <a:pathLst>
              <a:path h="3585897" w="7393602">
                <a:moveTo>
                  <a:pt x="0" y="0"/>
                </a:moveTo>
                <a:lnTo>
                  <a:pt x="7393603" y="0"/>
                </a:lnTo>
                <a:lnTo>
                  <a:pt x="7393603" y="3585898"/>
                </a:lnTo>
                <a:lnTo>
                  <a:pt x="0" y="3585898"/>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grpSp>
        <p:nvGrpSpPr>
          <p:cNvPr name="Group 3" id="3"/>
          <p:cNvGrpSpPr/>
          <p:nvPr/>
        </p:nvGrpSpPr>
        <p:grpSpPr>
          <a:xfrm rot="0">
            <a:off x="775837" y="757775"/>
            <a:ext cx="16736327" cy="8771450"/>
            <a:chOff x="0" y="0"/>
            <a:chExt cx="4407921" cy="2310176"/>
          </a:xfrm>
        </p:grpSpPr>
        <p:sp>
          <p:nvSpPr>
            <p:cNvPr name="Freeform 4" id="4"/>
            <p:cNvSpPr/>
            <p:nvPr/>
          </p:nvSpPr>
          <p:spPr>
            <a:xfrm flipH="false" flipV="false" rot="0">
              <a:off x="0" y="0"/>
              <a:ext cx="4407921" cy="2310176"/>
            </a:xfrm>
            <a:custGeom>
              <a:avLst/>
              <a:gdLst/>
              <a:ahLst/>
              <a:cxnLst/>
              <a:rect r="r" b="b" t="t" l="l"/>
              <a:pathLst>
                <a:path h="2310176" w="4407921">
                  <a:moveTo>
                    <a:pt x="16190" y="0"/>
                  </a:moveTo>
                  <a:lnTo>
                    <a:pt x="4391731" y="0"/>
                  </a:lnTo>
                  <a:cubicBezTo>
                    <a:pt x="4400672" y="0"/>
                    <a:pt x="4407921" y="7249"/>
                    <a:pt x="4407921" y="16190"/>
                  </a:cubicBezTo>
                  <a:lnTo>
                    <a:pt x="4407921" y="2293986"/>
                  </a:lnTo>
                  <a:cubicBezTo>
                    <a:pt x="4407921" y="2302927"/>
                    <a:pt x="4400672" y="2310176"/>
                    <a:pt x="4391731" y="2310176"/>
                  </a:cubicBezTo>
                  <a:lnTo>
                    <a:pt x="16190" y="2310176"/>
                  </a:lnTo>
                  <a:cubicBezTo>
                    <a:pt x="7249" y="2310176"/>
                    <a:pt x="0" y="2302927"/>
                    <a:pt x="0" y="2293986"/>
                  </a:cubicBezTo>
                  <a:lnTo>
                    <a:pt x="0" y="16190"/>
                  </a:lnTo>
                  <a:cubicBezTo>
                    <a:pt x="0" y="7249"/>
                    <a:pt x="7249" y="0"/>
                    <a:pt x="16190" y="0"/>
                  </a:cubicBezTo>
                  <a:close/>
                </a:path>
              </a:pathLst>
            </a:custGeom>
            <a:solidFill>
              <a:srgbClr val="BBD6E1"/>
            </a:solidFill>
          </p:spPr>
        </p:sp>
        <p:sp>
          <p:nvSpPr>
            <p:cNvPr name="TextBox 5" id="5"/>
            <p:cNvSpPr txBox="true"/>
            <p:nvPr/>
          </p:nvSpPr>
          <p:spPr>
            <a:xfrm>
              <a:off x="0" y="-38100"/>
              <a:ext cx="4407921" cy="234827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4708439" y="2419103"/>
            <a:ext cx="8871123" cy="1111257"/>
          </a:xfrm>
          <a:prstGeom prst="rect">
            <a:avLst/>
          </a:prstGeom>
        </p:spPr>
        <p:txBody>
          <a:bodyPr anchor="t" rtlCol="false" tIns="0" lIns="0" bIns="0" rIns="0">
            <a:spAutoFit/>
          </a:bodyPr>
          <a:lstStyle/>
          <a:p>
            <a:pPr algn="ctr"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C</a:t>
            </a:r>
            <a:r>
              <a:rPr lang="en-US" b="true" sz="7917" spc="-467" strike="noStrike" u="none">
                <a:solidFill>
                  <a:srgbClr val="185079"/>
                </a:solidFill>
                <a:latin typeface="Open Sauce Semi-Bold"/>
                <a:ea typeface="Open Sauce Semi-Bold"/>
                <a:cs typeface="Open Sauce Semi-Bold"/>
                <a:sym typeface="Open Sauce Semi-Bold"/>
              </a:rPr>
              <a:t>ONCLUSION</a:t>
            </a:r>
          </a:p>
        </p:txBody>
      </p:sp>
      <p:sp>
        <p:nvSpPr>
          <p:cNvPr name="TextBox 7" id="7"/>
          <p:cNvSpPr txBox="true"/>
          <p:nvPr/>
        </p:nvSpPr>
        <p:spPr>
          <a:xfrm rot="0">
            <a:off x="2484979" y="4727822"/>
            <a:ext cx="14011499" cy="1481456"/>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185079"/>
                </a:solidFill>
                <a:latin typeface="Open Sauce"/>
                <a:ea typeface="Open Sauce"/>
                <a:cs typeface="Open Sauce"/>
                <a:sym typeface="Open Sauce"/>
              </a:rPr>
              <a:t>The HR RAG Assistant successfully automates HR policy retrieval using AI, FAISS, and Retrieval-Augmented Generation, providing fast, accurate, and context-aware responses through a modern chatbot interface.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3193386"/>
            <a:ext cx="10155052" cy="1965964"/>
          </a:xfrm>
          <a:prstGeom prst="rect">
            <a:avLst/>
          </a:prstGeom>
        </p:spPr>
        <p:txBody>
          <a:bodyPr anchor="t" rtlCol="false" tIns="0" lIns="0" bIns="0" rIns="0">
            <a:spAutoFit/>
          </a:bodyPr>
          <a:lstStyle/>
          <a:p>
            <a:pPr algn="l">
              <a:lnSpc>
                <a:spcPts val="15120"/>
              </a:lnSpc>
            </a:pPr>
            <a:r>
              <a:rPr lang="en-US" sz="14000" spc="-826">
                <a:solidFill>
                  <a:srgbClr val="185079"/>
                </a:solidFill>
                <a:latin typeface="Open Sauce"/>
                <a:ea typeface="Open Sauce"/>
                <a:cs typeface="Open Sauce"/>
                <a:sym typeface="Open Sauce"/>
              </a:rPr>
              <a:t>THANK YOU</a:t>
            </a:r>
          </a:p>
        </p:txBody>
      </p:sp>
      <p:sp>
        <p:nvSpPr>
          <p:cNvPr name="Freeform 4" id="4"/>
          <p:cNvSpPr/>
          <p:nvPr/>
        </p:nvSpPr>
        <p:spPr>
          <a:xfrm flipH="false" flipV="false" rot="0">
            <a:off x="5608035" y="-4316939"/>
            <a:ext cx="22188662" cy="18920878"/>
          </a:xfrm>
          <a:custGeom>
            <a:avLst/>
            <a:gdLst/>
            <a:ahLst/>
            <a:cxnLst/>
            <a:rect r="r" b="b" t="t" l="l"/>
            <a:pathLst>
              <a:path h="18920878" w="22188662">
                <a:moveTo>
                  <a:pt x="0" y="0"/>
                </a:moveTo>
                <a:lnTo>
                  <a:pt x="22188662" y="0"/>
                </a:lnTo>
                <a:lnTo>
                  <a:pt x="22188662" y="18920878"/>
                </a:lnTo>
                <a:lnTo>
                  <a:pt x="0" y="18920878"/>
                </a:lnTo>
                <a:lnTo>
                  <a:pt x="0" y="0"/>
                </a:lnTo>
                <a:close/>
              </a:path>
            </a:pathLst>
          </a:custGeom>
          <a:blipFill>
            <a:blip r:embed="rId3"/>
            <a:stretch>
              <a:fillRect l="0" t="0" r="0" b="0"/>
            </a:stretch>
          </a:blipFill>
        </p:spPr>
      </p:sp>
      <p:sp>
        <p:nvSpPr>
          <p:cNvPr name="TextBox 5" id="5"/>
          <p:cNvSpPr txBox="true"/>
          <p:nvPr/>
        </p:nvSpPr>
        <p:spPr>
          <a:xfrm rot="0">
            <a:off x="1028700" y="5001928"/>
            <a:ext cx="13616443" cy="2253611"/>
          </a:xfrm>
          <a:prstGeom prst="rect">
            <a:avLst/>
          </a:prstGeom>
        </p:spPr>
        <p:txBody>
          <a:bodyPr anchor="t" rtlCol="false" tIns="0" lIns="0" bIns="0" rIns="0">
            <a:spAutoFit/>
          </a:bodyPr>
          <a:lstStyle/>
          <a:p>
            <a:pPr algn="l" marL="0" indent="0" lvl="0">
              <a:lnSpc>
                <a:spcPts val="17279"/>
              </a:lnSpc>
              <a:spcBef>
                <a:spcPct val="0"/>
              </a:spcBef>
            </a:pPr>
            <a:r>
              <a:rPr lang="en-US" b="true" sz="15999" spc="-943">
                <a:solidFill>
                  <a:srgbClr val="185079"/>
                </a:solidFill>
                <a:latin typeface="Open Sauce Semi-Bold"/>
                <a:ea typeface="Open Sauce Semi-Bold"/>
                <a:cs typeface="Open Sauce Semi-Bold"/>
                <a:sym typeface="Open Sauce Semi-Bold"/>
              </a:rPr>
              <a:t>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DAHJCxzZC4E</dc:identifier>
  <dcterms:modified xsi:type="dcterms:W3CDTF">2011-08-01T06:04:30Z</dcterms:modified>
  <cp:revision>1</cp:revision>
  <dc:title>Hr Rag  Assistant</dc:title>
</cp:coreProperties>
</file>